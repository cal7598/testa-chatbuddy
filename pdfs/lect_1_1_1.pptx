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50"/>
  </p:notesMasterIdLst>
  <p:sldIdLst>
    <p:sldId id="374" r:id="rId2"/>
    <p:sldId id="342" r:id="rId3"/>
    <p:sldId id="271" r:id="rId4"/>
    <p:sldId id="343" r:id="rId5"/>
    <p:sldId id="344" r:id="rId6"/>
    <p:sldId id="262" r:id="rId7"/>
    <p:sldId id="346" r:id="rId8"/>
    <p:sldId id="272" r:id="rId9"/>
    <p:sldId id="330" r:id="rId10"/>
    <p:sldId id="345" r:id="rId11"/>
    <p:sldId id="349" r:id="rId12"/>
    <p:sldId id="348" r:id="rId13"/>
    <p:sldId id="350" r:id="rId14"/>
    <p:sldId id="351" r:id="rId15"/>
    <p:sldId id="352" r:id="rId16"/>
    <p:sldId id="353" r:id="rId17"/>
    <p:sldId id="354" r:id="rId18"/>
    <p:sldId id="273" r:id="rId19"/>
    <p:sldId id="338" r:id="rId20"/>
    <p:sldId id="275" r:id="rId21"/>
    <p:sldId id="339" r:id="rId22"/>
    <p:sldId id="355" r:id="rId23"/>
    <p:sldId id="356" r:id="rId24"/>
    <p:sldId id="357" r:id="rId25"/>
    <p:sldId id="358" r:id="rId26"/>
    <p:sldId id="359" r:id="rId27"/>
    <p:sldId id="360" r:id="rId28"/>
    <p:sldId id="361" r:id="rId29"/>
    <p:sldId id="362" r:id="rId30"/>
    <p:sldId id="364" r:id="rId31"/>
    <p:sldId id="365" r:id="rId32"/>
    <p:sldId id="366" r:id="rId33"/>
    <p:sldId id="367" r:id="rId34"/>
    <p:sldId id="369" r:id="rId35"/>
    <p:sldId id="370" r:id="rId36"/>
    <p:sldId id="371" r:id="rId37"/>
    <p:sldId id="372" r:id="rId38"/>
    <p:sldId id="279" r:id="rId39"/>
    <p:sldId id="280" r:id="rId40"/>
    <p:sldId id="281" r:id="rId41"/>
    <p:sldId id="282" r:id="rId42"/>
    <p:sldId id="285" r:id="rId43"/>
    <p:sldId id="292" r:id="rId44"/>
    <p:sldId id="293" r:id="rId45"/>
    <p:sldId id="295" r:id="rId46"/>
    <p:sldId id="297" r:id="rId47"/>
    <p:sldId id="333" r:id="rId48"/>
    <p:sldId id="373" r:id="rId4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FFFF00"/>
    <a:srgbClr val="0000FF"/>
    <a:srgbClr val="FFCC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65" autoAdjust="0"/>
    <p:restoredTop sz="85299" autoAdjust="0"/>
  </p:normalViewPr>
  <p:slideViewPr>
    <p:cSldViewPr>
      <p:cViewPr varScale="1">
        <p:scale>
          <a:sx n="64" d="100"/>
          <a:sy n="64" d="100"/>
        </p:scale>
        <p:origin x="150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10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10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0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1F7306C-41F5-4849-9419-B3A3C108BF37}" type="slidenum">
              <a:rPr lang="en-US" altLang="en-US"/>
              <a:pPr/>
              <a:t>‹#›</a:t>
            </a:fld>
            <a:endParaRPr lang="en-US" altLang="en-US"/>
          </a:p>
        </p:txBody>
      </p:sp>
    </p:spTree>
    <p:extLst>
      <p:ext uri="{BB962C8B-B14F-4D97-AF65-F5344CB8AC3E}">
        <p14:creationId xmlns:p14="http://schemas.microsoft.com/office/powerpoint/2010/main" val="152665098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5D4758-A36B-4561-8C7B-B088E2F8E2B8}" type="slidenum">
              <a:rPr lang="en-US" altLang="en-US"/>
              <a:pPr/>
              <a:t>3</a:t>
            </a:fld>
            <a:endParaRPr lang="en-US" altLang="en-US"/>
          </a:p>
        </p:txBody>
      </p:sp>
      <p:sp>
        <p:nvSpPr>
          <p:cNvPr id="439298" name="Rectangle 2"/>
          <p:cNvSpPr>
            <a:spLocks noGrp="1" noRot="1" noChangeAspect="1" noChangeArrowheads="1" noTextEdit="1"/>
          </p:cNvSpPr>
          <p:nvPr>
            <p:ph type="sldImg"/>
          </p:nvPr>
        </p:nvSpPr>
        <p:spPr>
          <a:ln/>
        </p:spPr>
      </p:sp>
      <p:sp>
        <p:nvSpPr>
          <p:cNvPr id="43929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45784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6BBA35-07F8-42F6-ABB3-46344C85B461}" type="slidenum">
              <a:rPr lang="en-US" altLang="en-US"/>
              <a:pPr/>
              <a:t>6</a:t>
            </a:fld>
            <a:endParaRPr lang="en-US" altLang="en-US"/>
          </a:p>
        </p:txBody>
      </p:sp>
      <p:sp>
        <p:nvSpPr>
          <p:cNvPr id="431106" name="Rectangle 2"/>
          <p:cNvSpPr>
            <a:spLocks noGrp="1" noRot="1" noChangeAspect="1" noChangeArrowheads="1" noTextEdit="1"/>
          </p:cNvSpPr>
          <p:nvPr>
            <p:ph type="sldImg"/>
          </p:nvPr>
        </p:nvSpPr>
        <p:spPr>
          <a:ln/>
        </p:spPr>
      </p:sp>
      <p:sp>
        <p:nvSpPr>
          <p:cNvPr id="431107"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190681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6BBA35-07F8-42F6-ABB3-46344C85B461}" type="slidenum">
              <a:rPr lang="en-US" altLang="en-US"/>
              <a:pPr/>
              <a:t>7</a:t>
            </a:fld>
            <a:endParaRPr lang="en-US" altLang="en-US"/>
          </a:p>
        </p:txBody>
      </p:sp>
      <p:sp>
        <p:nvSpPr>
          <p:cNvPr id="431106" name="Rectangle 2"/>
          <p:cNvSpPr>
            <a:spLocks noGrp="1" noRot="1" noChangeAspect="1" noChangeArrowheads="1" noTextEdit="1"/>
          </p:cNvSpPr>
          <p:nvPr>
            <p:ph type="sldImg"/>
          </p:nvPr>
        </p:nvSpPr>
        <p:spPr>
          <a:ln/>
        </p:spPr>
      </p:sp>
      <p:sp>
        <p:nvSpPr>
          <p:cNvPr id="431107"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061045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A6C58A-A172-4BBE-AD2F-80C1AFFEDCB6}" type="slidenum">
              <a:rPr lang="en-US" altLang="en-US"/>
              <a:pPr/>
              <a:t>8</a:t>
            </a:fld>
            <a:endParaRPr lang="en-US" altLang="en-US"/>
          </a:p>
        </p:txBody>
      </p:sp>
      <p:sp>
        <p:nvSpPr>
          <p:cNvPr id="440322" name="Rectangle 2"/>
          <p:cNvSpPr>
            <a:spLocks noGrp="1" noRot="1" noChangeAspect="1" noChangeArrowheads="1" noTextEdit="1"/>
          </p:cNvSpPr>
          <p:nvPr>
            <p:ph type="sldImg"/>
          </p:nvPr>
        </p:nvSpPr>
        <p:spPr>
          <a:ln/>
        </p:spPr>
      </p:sp>
      <p:sp>
        <p:nvSpPr>
          <p:cNvPr id="44032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95230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F7306C-41F5-4849-9419-B3A3C108BF37}" type="slidenum">
              <a:rPr lang="en-US" altLang="en-US" smtClean="0"/>
              <a:pPr/>
              <a:t>10</a:t>
            </a:fld>
            <a:endParaRPr lang="en-US" altLang="en-US"/>
          </a:p>
        </p:txBody>
      </p:sp>
    </p:spTree>
    <p:extLst>
      <p:ext uri="{BB962C8B-B14F-4D97-AF65-F5344CB8AC3E}">
        <p14:creationId xmlns:p14="http://schemas.microsoft.com/office/powerpoint/2010/main" val="1261473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defTabSz="922338" fontAlgn="base">
              <a:spcBef>
                <a:spcPct val="0"/>
              </a:spcBef>
              <a:spcAft>
                <a:spcPct val="0"/>
              </a:spcAft>
            </a:pPr>
            <a:fld id="{A759AFF8-75BA-43FF-8021-0B4D19883C15}" type="slidenum">
              <a:rPr lang="ar-SA" altLang="en-US" smtClean="0">
                <a:latin typeface="Tahoma" pitchFamily="34" charset="0"/>
                <a:ea typeface="宋体"/>
                <a:cs typeface="宋体"/>
              </a:rPr>
              <a:pPr defTabSz="922338" fontAlgn="base">
                <a:spcBef>
                  <a:spcPct val="0"/>
                </a:spcBef>
                <a:spcAft>
                  <a:spcPct val="0"/>
                </a:spcAft>
              </a:pPr>
              <a:t>15</a:t>
            </a:fld>
            <a:endParaRPr lang="en-US" altLang="zh-CN" dirty="0" smtClean="0">
              <a:latin typeface="Tahoma" pitchFamily="34" charset="0"/>
              <a:cs typeface="宋体"/>
            </a:endParaRPr>
          </a:p>
        </p:txBody>
      </p:sp>
      <p:sp>
        <p:nvSpPr>
          <p:cNvPr id="409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extLst>
      <p:ext uri="{BB962C8B-B14F-4D97-AF65-F5344CB8AC3E}">
        <p14:creationId xmlns:p14="http://schemas.microsoft.com/office/powerpoint/2010/main" val="167153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D275F5-4218-4557-9499-F388A600B8C5}" type="slidenum">
              <a:rPr lang="en-US" altLang="en-US"/>
              <a:pPr/>
              <a:t>18</a:t>
            </a:fld>
            <a:endParaRPr lang="en-US" altLang="en-US"/>
          </a:p>
        </p:txBody>
      </p:sp>
      <p:sp>
        <p:nvSpPr>
          <p:cNvPr id="441346" name="Rectangle 2"/>
          <p:cNvSpPr>
            <a:spLocks noGrp="1" noRot="1" noChangeAspect="1" noChangeArrowheads="1" noTextEdit="1"/>
          </p:cNvSpPr>
          <p:nvPr>
            <p:ph type="sldImg"/>
          </p:nvPr>
        </p:nvSpPr>
        <p:spPr>
          <a:ln/>
        </p:spPr>
      </p:sp>
      <p:sp>
        <p:nvSpPr>
          <p:cNvPr id="441347" name="Rectangle 3"/>
          <p:cNvSpPr>
            <a:spLocks noGrp="1" noChangeArrowheads="1"/>
          </p:cNvSpPr>
          <p:nvPr>
            <p:ph type="body" idx="1"/>
          </p:nvPr>
        </p:nvSpPr>
        <p:spPr/>
        <p:txBody>
          <a:bodyPr/>
          <a:lstStyle/>
          <a:p>
            <a:r>
              <a:rPr lang="en-US" altLang="en-US" sz="1000" b="1"/>
              <a:t>Critical Characteristics Of Information</a:t>
            </a:r>
          </a:p>
          <a:p>
            <a:r>
              <a:rPr lang="en-US" altLang="en-US" sz="1000"/>
              <a:t>The value of information comes from the characteristics it possesses. </a:t>
            </a:r>
          </a:p>
          <a:p>
            <a:r>
              <a:rPr lang="en-US" altLang="en-US" sz="1000"/>
              <a:t>Availability - enables users who need to access information to do so without interference or obstruction and in the required format. The information is said to be available to an authorized user when and where needed and in the correct format.  </a:t>
            </a:r>
          </a:p>
          <a:p>
            <a:r>
              <a:rPr lang="en-US" altLang="en-US" sz="1000"/>
              <a:t>Accuracy- free from mistake or error and having the value that the end-user expects. If information contains a value different from the user’s expectations due to the intentional or unintentional modification of its content, it is no longer accurate.</a:t>
            </a:r>
          </a:p>
          <a:p>
            <a:r>
              <a:rPr lang="en-US" altLang="en-US" sz="1000"/>
              <a:t>Authenticity - the quality or state of being genuine or original, rather than a reproduction or fabrication.  Information is authentic when it is the information that was originally created, placed, stored, or transferred.  </a:t>
            </a:r>
          </a:p>
          <a:p>
            <a:r>
              <a:rPr lang="en-US" altLang="en-US" sz="1000"/>
              <a:t>Confidentiality - the quality or state of preventing disclosure or exposure to unauthorized individuals or systems.  </a:t>
            </a:r>
          </a:p>
          <a:p>
            <a:r>
              <a:rPr lang="en-US" altLang="en-US" sz="1000"/>
              <a:t>Integrity - the quality or state of being whole, complete, and uncorrupted.  The integrity of information is threatened when the information is exposed to corruption, damage, destruction, or other disruption of its authentic state. </a:t>
            </a:r>
          </a:p>
          <a:p>
            <a:r>
              <a:rPr lang="en-US" altLang="en-US" sz="1000"/>
              <a:t>Utility - the quality or state of having value for some purpose or end. Information has value when it serves a particular purpose.  This means that if information is available, but not in a format meaningful to the end-user, it is not useful.</a:t>
            </a:r>
          </a:p>
          <a:p>
            <a:r>
              <a:rPr lang="en-US" altLang="en-US" sz="1000"/>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p>
        </p:txBody>
      </p:sp>
    </p:spTree>
    <p:extLst>
      <p:ext uri="{BB962C8B-B14F-4D97-AF65-F5344CB8AC3E}">
        <p14:creationId xmlns:p14="http://schemas.microsoft.com/office/powerpoint/2010/main" val="3063493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EB96FD-16E4-441E-AB3D-FCE1B75295CC}" type="slidenum">
              <a:rPr lang="en-US" altLang="en-US"/>
              <a:pPr/>
              <a:t>20</a:t>
            </a:fld>
            <a:endParaRPr lang="en-US" altLang="en-US"/>
          </a:p>
        </p:txBody>
      </p:sp>
      <p:sp>
        <p:nvSpPr>
          <p:cNvPr id="442370" name="Rectangle 2"/>
          <p:cNvSpPr>
            <a:spLocks noGrp="1" noRot="1" noChangeAspect="1" noChangeArrowheads="1" noTextEdit="1"/>
          </p:cNvSpPr>
          <p:nvPr>
            <p:ph type="sldImg"/>
          </p:nvPr>
        </p:nvSpPr>
        <p:spPr>
          <a:ln/>
        </p:spPr>
      </p:sp>
      <p:sp>
        <p:nvSpPr>
          <p:cNvPr id="442371"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086737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632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09550" indent="-209550" eaLnBrk="1" hangingPunct="1">
              <a:lnSpc>
                <a:spcPct val="80000"/>
              </a:lnSpc>
              <a:spcBef>
                <a:spcPct val="0"/>
              </a:spcBef>
            </a:pPr>
            <a:endParaRPr lang="en-US" dirty="0" smtClean="0"/>
          </a:p>
        </p:txBody>
      </p:sp>
    </p:spTree>
    <p:extLst>
      <p:ext uri="{BB962C8B-B14F-4D97-AF65-F5344CB8AC3E}">
        <p14:creationId xmlns:p14="http://schemas.microsoft.com/office/powerpoint/2010/main" val="2951905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09550" indent="-209550" eaLnBrk="1" hangingPunct="1">
              <a:spcBef>
                <a:spcPct val="0"/>
              </a:spcBef>
            </a:pPr>
            <a:r>
              <a:rPr lang="en-US" dirty="0" smtClean="0"/>
              <a:t>Unauthorized access using networks is increasing, but people within an organization commit many of the data destruction and leakage. Building security is usually the main concern, but information management within an office is less strict. Therefore, it is often easy for insiders to gain access without permission to company information. Examples of threats are:</a:t>
            </a:r>
          </a:p>
          <a:p>
            <a:pPr marL="209550" indent="-209550" eaLnBrk="1" hangingPunct="1">
              <a:spcBef>
                <a:spcPct val="0"/>
              </a:spcBef>
              <a:buFontTx/>
              <a:buAutoNum type="arabicParenR"/>
            </a:pPr>
            <a:r>
              <a:rPr lang="en-US" dirty="0" smtClean="0"/>
              <a:t>Theft of printed documents, disks (floppy, CD, hard disk), and/or copying them.</a:t>
            </a:r>
          </a:p>
          <a:p>
            <a:pPr marL="209550" indent="-209550" eaLnBrk="1" hangingPunct="1">
              <a:spcBef>
                <a:spcPct val="0"/>
              </a:spcBef>
              <a:buFontTx/>
              <a:buAutoNum type="arabicParenR"/>
            </a:pPr>
            <a:r>
              <a:rPr lang="en-US" dirty="0" smtClean="0"/>
              <a:t>Theft of hardware (computer, peripheral devices).</a:t>
            </a:r>
          </a:p>
          <a:p>
            <a:pPr marL="209550" indent="-209550" eaLnBrk="1" hangingPunct="1">
              <a:spcBef>
                <a:spcPct val="0"/>
              </a:spcBef>
              <a:buFontTx/>
              <a:buAutoNum type="arabicParenR"/>
            </a:pPr>
            <a:r>
              <a:rPr lang="en-US" dirty="0" smtClean="0"/>
              <a:t>Theft of documents discarded in a trash box (Scavenging).</a:t>
            </a:r>
          </a:p>
          <a:p>
            <a:pPr marL="209550" indent="-209550" eaLnBrk="1" hangingPunct="1">
              <a:spcBef>
                <a:spcPct val="0"/>
              </a:spcBef>
              <a:buFontTx/>
              <a:buAutoNum type="arabicParenR"/>
            </a:pPr>
            <a:endParaRPr lang="en-US" dirty="0" smtClean="0"/>
          </a:p>
          <a:p>
            <a:pPr marL="209550" indent="-209550" eaLnBrk="1" hangingPunct="1">
              <a:spcBef>
                <a:spcPct val="0"/>
              </a:spcBef>
            </a:pPr>
            <a:r>
              <a:rPr lang="en-US" dirty="0" smtClean="0"/>
              <a:t>	Important printed documentation should be kept in a locked place, and in some cases, the number of copies should also be managed. When discarding old but important documents, instead of throw them out in a trashcan, always shred them using a shredder. In the case of (2), some notebook PCs have a built-in loop for a cable and lock to prevent theft.</a:t>
            </a:r>
          </a:p>
          <a:p>
            <a:pPr marL="209550" indent="-209550" eaLnBrk="1" hangingPunct="1">
              <a:spcBef>
                <a:spcPct val="0"/>
              </a:spcBef>
            </a:pPr>
            <a:r>
              <a:rPr lang="en-US" dirty="0" smtClean="0"/>
              <a:t>	Vulnerabilities in these cases may be:</a:t>
            </a:r>
          </a:p>
          <a:p>
            <a:pPr marL="209550" indent="-209550" eaLnBrk="1" hangingPunct="1">
              <a:spcBef>
                <a:spcPct val="0"/>
              </a:spcBef>
            </a:pPr>
            <a:r>
              <a:rPr lang="en-US" dirty="0" smtClean="0"/>
              <a:t>	1) Sensitive documents/disks are not stored in locked cabinet.</a:t>
            </a:r>
          </a:p>
          <a:p>
            <a:pPr marL="209550" indent="-209550" eaLnBrk="1" hangingPunct="1">
              <a:spcBef>
                <a:spcPct val="0"/>
              </a:spcBef>
            </a:pPr>
            <a:r>
              <a:rPr lang="en-US" dirty="0" smtClean="0"/>
              <a:t>	2) Computers are not locked to desks. Computer’s hard disk is not locked.</a:t>
            </a:r>
          </a:p>
          <a:p>
            <a:pPr marL="209550" indent="-209550" eaLnBrk="1" hangingPunct="1">
              <a:spcBef>
                <a:spcPct val="0"/>
              </a:spcBef>
            </a:pPr>
            <a:r>
              <a:rPr lang="en-US" dirty="0" smtClean="0"/>
              <a:t>	3) Sensitive documents are not shredded properly. </a:t>
            </a:r>
          </a:p>
        </p:txBody>
      </p:sp>
    </p:spTree>
    <p:extLst>
      <p:ext uri="{BB962C8B-B14F-4D97-AF65-F5344CB8AC3E}">
        <p14:creationId xmlns:p14="http://schemas.microsoft.com/office/powerpoint/2010/main" val="1879719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1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09550" indent="-209550" eaLnBrk="1" hangingPunct="1">
              <a:lnSpc>
                <a:spcPct val="70000"/>
              </a:lnSpc>
              <a:spcBef>
                <a:spcPct val="0"/>
              </a:spcBef>
            </a:pPr>
            <a:endParaRPr lang="en-US" sz="900" dirty="0" smtClean="0"/>
          </a:p>
        </p:txBody>
      </p:sp>
    </p:spTree>
    <p:extLst>
      <p:ext uri="{BB962C8B-B14F-4D97-AF65-F5344CB8AC3E}">
        <p14:creationId xmlns:p14="http://schemas.microsoft.com/office/powerpoint/2010/main" val="2691477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451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09550" indent="-209550" eaLnBrk="1" hangingPunct="1">
              <a:lnSpc>
                <a:spcPct val="70000"/>
              </a:lnSpc>
              <a:spcBef>
                <a:spcPct val="0"/>
              </a:spcBef>
            </a:pPr>
            <a:endParaRPr lang="en-US" sz="900" dirty="0" smtClean="0"/>
          </a:p>
        </p:txBody>
      </p:sp>
    </p:spTree>
    <p:extLst>
      <p:ext uri="{BB962C8B-B14F-4D97-AF65-F5344CB8AC3E}">
        <p14:creationId xmlns:p14="http://schemas.microsoft.com/office/powerpoint/2010/main" val="3344472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E2B9AE-ED76-4A6D-A222-0B3152E91B0E}" type="slidenum">
              <a:rPr lang="en-US" altLang="en-US"/>
              <a:pPr/>
              <a:t>38</a:t>
            </a:fld>
            <a:endParaRPr lang="en-US" altLang="en-US"/>
          </a:p>
        </p:txBody>
      </p:sp>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1108822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A6983-D39A-46B3-97EF-830BD7E2188E}" type="slidenum">
              <a:rPr lang="en-US" altLang="en-US"/>
              <a:pPr/>
              <a:t>39</a:t>
            </a:fld>
            <a:endParaRPr lang="en-US" alt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68315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F8B430-A081-4C19-B49A-B2B00820D9CF}" type="slidenum">
              <a:rPr lang="en-US" altLang="en-US"/>
              <a:pPr/>
              <a:t>40</a:t>
            </a:fld>
            <a:endParaRPr lang="en-US" altLang="en-US"/>
          </a:p>
        </p:txBody>
      </p:sp>
      <p:sp>
        <p:nvSpPr>
          <p:cNvPr id="446466" name="Rectangle 2"/>
          <p:cNvSpPr>
            <a:spLocks noGrp="1" noRot="1" noChangeAspect="1" noChangeArrowheads="1" noTextEdit="1"/>
          </p:cNvSpPr>
          <p:nvPr>
            <p:ph type="sldImg"/>
          </p:nvPr>
        </p:nvSpPr>
        <p:spPr>
          <a:ln/>
        </p:spPr>
      </p:sp>
      <p:sp>
        <p:nvSpPr>
          <p:cNvPr id="446467"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613765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8480EC-A077-41FF-9AE2-464ABCB690B8}" type="slidenum">
              <a:rPr lang="en-US" altLang="en-US"/>
              <a:pPr/>
              <a:t>41</a:t>
            </a:fld>
            <a:endParaRPr lang="en-US" altLang="en-US"/>
          </a:p>
        </p:txBody>
      </p:sp>
      <p:sp>
        <p:nvSpPr>
          <p:cNvPr id="447490" name="Rectangle 2"/>
          <p:cNvSpPr>
            <a:spLocks noGrp="1" noRot="1" noChangeAspect="1" noChangeArrowheads="1" noTextEdit="1"/>
          </p:cNvSpPr>
          <p:nvPr>
            <p:ph type="sldImg"/>
          </p:nvPr>
        </p:nvSpPr>
        <p:spPr>
          <a:ln/>
        </p:spPr>
      </p:sp>
      <p:sp>
        <p:nvSpPr>
          <p:cNvPr id="447491"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642955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F4BD7D-1889-4E2A-900C-DC4F2608C079}" type="slidenum">
              <a:rPr lang="en-US" altLang="en-US"/>
              <a:pPr/>
              <a:t>42</a:t>
            </a:fld>
            <a:endParaRPr lang="en-US" altLang="en-US"/>
          </a:p>
        </p:txBody>
      </p:sp>
      <p:sp>
        <p:nvSpPr>
          <p:cNvPr id="482306" name="Rectangle 2"/>
          <p:cNvSpPr>
            <a:spLocks noGrp="1" noRot="1" noChangeAspect="1" noChangeArrowheads="1" noTextEdit="1"/>
          </p:cNvSpPr>
          <p:nvPr>
            <p:ph type="sldImg"/>
          </p:nvPr>
        </p:nvSpPr>
        <p:spPr>
          <a:ln/>
        </p:spPr>
      </p:sp>
      <p:sp>
        <p:nvSpPr>
          <p:cNvPr id="482307"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76337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D3E611-D189-401D-A104-1C532FCD8504}" type="slidenum">
              <a:rPr lang="en-US" altLang="en-US"/>
              <a:pPr/>
              <a:t>43</a:t>
            </a:fld>
            <a:endParaRPr lang="en-US" altLang="en-US"/>
          </a:p>
        </p:txBody>
      </p:sp>
      <p:sp>
        <p:nvSpPr>
          <p:cNvPr id="456706" name="Rectangle 2"/>
          <p:cNvSpPr>
            <a:spLocks noGrp="1" noRot="1" noChangeAspect="1" noChangeArrowheads="1" noTextEdit="1"/>
          </p:cNvSpPr>
          <p:nvPr>
            <p:ph type="sldImg"/>
          </p:nvPr>
        </p:nvSpPr>
        <p:spPr>
          <a:ln/>
        </p:spPr>
      </p:sp>
      <p:sp>
        <p:nvSpPr>
          <p:cNvPr id="456707"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2703004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D753B3-7DF3-40B0-9774-62932D817B73}" type="slidenum">
              <a:rPr lang="en-US" altLang="en-US"/>
              <a:pPr/>
              <a:t>44</a:t>
            </a:fld>
            <a:endParaRPr lang="en-US" altLang="en-US"/>
          </a:p>
        </p:txBody>
      </p:sp>
      <p:sp>
        <p:nvSpPr>
          <p:cNvPr id="457730" name="Rectangle 2"/>
          <p:cNvSpPr>
            <a:spLocks noGrp="1" noRot="1" noChangeAspect="1" noChangeArrowheads="1" noTextEdit="1"/>
          </p:cNvSpPr>
          <p:nvPr>
            <p:ph type="sldImg"/>
          </p:nvPr>
        </p:nvSpPr>
        <p:spPr>
          <a:ln/>
        </p:spPr>
      </p:sp>
      <p:sp>
        <p:nvSpPr>
          <p:cNvPr id="457731"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4412325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3358C3-420D-4E72-A609-94AFB8E9D19F}" type="slidenum">
              <a:rPr lang="en-US" altLang="en-US"/>
              <a:pPr/>
              <a:t>45</a:t>
            </a:fld>
            <a:endParaRPr lang="en-US" altLang="en-US"/>
          </a:p>
        </p:txBody>
      </p:sp>
      <p:sp>
        <p:nvSpPr>
          <p:cNvPr id="459778" name="Rectangle 2"/>
          <p:cNvSpPr>
            <a:spLocks noGrp="1" noRot="1" noChangeAspect="1" noChangeArrowheads="1" noTextEdit="1"/>
          </p:cNvSpPr>
          <p:nvPr>
            <p:ph type="sldImg"/>
          </p:nvPr>
        </p:nvSpPr>
        <p:spPr>
          <a:ln/>
        </p:spPr>
      </p:sp>
      <p:sp>
        <p:nvSpPr>
          <p:cNvPr id="45977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96228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FABF34-508E-4A2A-8F10-D862EA5540E8}" type="slidenum">
              <a:rPr lang="en-US" altLang="en-US"/>
              <a:pPr/>
              <a:t>46</a:t>
            </a:fld>
            <a:endParaRPr lang="en-US" altLang="en-US"/>
          </a:p>
        </p:txBody>
      </p:sp>
      <p:sp>
        <p:nvSpPr>
          <p:cNvPr id="461826" name="Rectangle 2"/>
          <p:cNvSpPr>
            <a:spLocks noGrp="1" noRot="1" noChangeAspect="1" noChangeArrowheads="1" noTextEdit="1"/>
          </p:cNvSpPr>
          <p:nvPr>
            <p:ph type="sldImg"/>
          </p:nvPr>
        </p:nvSpPr>
        <p:spPr>
          <a:ln/>
        </p:spPr>
      </p:sp>
      <p:sp>
        <p:nvSpPr>
          <p:cNvPr id="461827" name="Rectangle 3"/>
          <p:cNvSpPr>
            <a:spLocks noGrp="1" noChangeArrowheads="1"/>
          </p:cNvSpPr>
          <p:nvPr>
            <p:ph type="body" idx="1"/>
          </p:nvPr>
        </p:nvSpPr>
        <p:spPr/>
        <p:txBody>
          <a:bodyPr/>
          <a:lstStyle/>
          <a:p>
            <a:endParaRPr lang="en-US" altLang="en-US" sz="1000" dirty="0"/>
          </a:p>
        </p:txBody>
      </p:sp>
    </p:spTree>
    <p:extLst>
      <p:ext uri="{BB962C8B-B14F-4D97-AF65-F5344CB8AC3E}">
        <p14:creationId xmlns:p14="http://schemas.microsoft.com/office/powerpoint/2010/main" val="30369888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D237FE-8AFA-47D4-AD42-A281B8426E88}" type="slidenum">
              <a:rPr lang="en-US" altLang="en-US"/>
              <a:pPr/>
              <a:t>47</a:t>
            </a:fld>
            <a:endParaRPr lang="en-US" altLang="en-US"/>
          </a:p>
        </p:txBody>
      </p:sp>
      <p:sp>
        <p:nvSpPr>
          <p:cNvPr id="495618" name="Rectangle 2"/>
          <p:cNvSpPr>
            <a:spLocks noGrp="1" noRot="1" noChangeAspect="1" noChangeArrowheads="1" noTextEdit="1"/>
          </p:cNvSpPr>
          <p:nvPr>
            <p:ph type="sldImg"/>
          </p:nvPr>
        </p:nvSpPr>
        <p:spPr>
          <a:ln/>
        </p:spPr>
      </p:sp>
      <p:sp>
        <p:nvSpPr>
          <p:cNvPr id="4956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8071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5302" name="Rectangle 6"/>
          <p:cNvSpPr>
            <a:spLocks noGrp="1" noChangeArrowheads="1"/>
          </p:cNvSpPr>
          <p:nvPr>
            <p:ph type="ctrTitle" sz="quarter"/>
          </p:nvPr>
        </p:nvSpPr>
        <p:spPr>
          <a:xfrm>
            <a:off x="1447800" y="1295400"/>
            <a:ext cx="6934200" cy="2116138"/>
          </a:xfrm>
        </p:spPr>
        <p:txBody>
          <a:bodyPr/>
          <a:lstStyle>
            <a:lvl1pPr algn="ctr">
              <a:defRPr/>
            </a:lvl1pPr>
          </a:lstStyle>
          <a:p>
            <a:pPr lvl="0"/>
            <a:r>
              <a:rPr lang="en-US" altLang="en-US" noProof="0" smtClean="0"/>
              <a:t>Click to edit Master title style</a:t>
            </a:r>
          </a:p>
        </p:txBody>
      </p:sp>
      <p:sp>
        <p:nvSpPr>
          <p:cNvPr id="55303" name="Rectangle 7"/>
          <p:cNvSpPr>
            <a:spLocks noGrp="1" noChangeArrowheads="1"/>
          </p:cNvSpPr>
          <p:nvPr>
            <p:ph type="subTitle" sz="quarter" idx="1"/>
          </p:nvPr>
        </p:nvSpPr>
        <p:spPr>
          <a:xfrm>
            <a:off x="1600200" y="3429000"/>
            <a:ext cx="6400800" cy="1752600"/>
          </a:xfrm>
        </p:spPr>
        <p:txBody>
          <a:bodyPr/>
          <a:lstStyle>
            <a:lvl1pPr marL="0" indent="0" algn="ctr">
              <a:buFont typeface="Wingdings" panose="05000000000000000000" pitchFamily="2" charset="2"/>
              <a:buNone/>
              <a:defRPr/>
            </a:lvl1pPr>
          </a:lstStyle>
          <a:p>
            <a:pPr lvl="0"/>
            <a:r>
              <a:rPr lang="en-US" altLang="en-US" noProof="0" smtClean="0"/>
              <a:t>Click to edit Master subtitle style</a:t>
            </a:r>
          </a:p>
        </p:txBody>
      </p:sp>
      <p:sp>
        <p:nvSpPr>
          <p:cNvPr id="55304" name="Rectangle 8"/>
          <p:cNvSpPr>
            <a:spLocks noGrp="1" noChangeArrowheads="1"/>
          </p:cNvSpPr>
          <p:nvPr>
            <p:ph type="dt" sz="quarter" idx="2"/>
          </p:nvPr>
        </p:nvSpPr>
        <p:spPr>
          <a:xfrm>
            <a:off x="1828800" y="6400800"/>
            <a:ext cx="1905000" cy="457200"/>
          </a:xfrm>
        </p:spPr>
        <p:txBody>
          <a:bodyPr/>
          <a:lstStyle>
            <a:lvl1pPr>
              <a:defRPr>
                <a:latin typeface="Times New Roman" panose="02020603050405020304" pitchFamily="18" charset="0"/>
              </a:defRPr>
            </a:lvl1pPr>
          </a:lstStyle>
          <a:p>
            <a:endParaRPr lang="en-US" altLang="en-US"/>
          </a:p>
        </p:txBody>
      </p:sp>
      <p:sp>
        <p:nvSpPr>
          <p:cNvPr id="55305" name="Rectangle 9"/>
          <p:cNvSpPr>
            <a:spLocks noGrp="1" noChangeArrowheads="1"/>
          </p:cNvSpPr>
          <p:nvPr>
            <p:ph type="ftr" sz="quarter" idx="3"/>
          </p:nvPr>
        </p:nvSpPr>
        <p:spPr>
          <a:xfrm>
            <a:off x="3962400" y="6400800"/>
            <a:ext cx="2895600" cy="457200"/>
          </a:xfrm>
        </p:spPr>
        <p:txBody>
          <a:bodyPr/>
          <a:lstStyle>
            <a:lvl1pPr algn="ctr">
              <a:defRPr>
                <a:solidFill>
                  <a:schemeClr val="bg1"/>
                </a:solidFill>
                <a:latin typeface="Times New Roman" panose="02020603050405020304" pitchFamily="18" charset="0"/>
              </a:defRPr>
            </a:lvl1pPr>
          </a:lstStyle>
          <a:p>
            <a:r>
              <a:rPr lang="en-US" altLang="en-US"/>
              <a:t>Principles of Information Security, 2nd Edition</a:t>
            </a:r>
          </a:p>
        </p:txBody>
      </p:sp>
      <p:sp>
        <p:nvSpPr>
          <p:cNvPr id="55306" name="Rectangle 10"/>
          <p:cNvSpPr>
            <a:spLocks noGrp="1" noChangeArrowheads="1"/>
          </p:cNvSpPr>
          <p:nvPr>
            <p:ph type="sldNum" sz="quarter" idx="4"/>
          </p:nvPr>
        </p:nvSpPr>
        <p:spPr/>
        <p:txBody>
          <a:bodyPr/>
          <a:lstStyle>
            <a:lvl1pPr>
              <a:defRPr>
                <a:solidFill>
                  <a:schemeClr val="bg1"/>
                </a:solidFill>
                <a:latin typeface="Times New Roman" panose="02020603050405020304" pitchFamily="18" charset="0"/>
              </a:defRPr>
            </a:lvl1pPr>
          </a:lstStyle>
          <a:p>
            <a:fld id="{1DA95D69-72F2-4A05-AE53-8C11BD2DE12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Principles of Information Security, 2nd Edition</a:t>
            </a:r>
          </a:p>
        </p:txBody>
      </p:sp>
      <p:sp>
        <p:nvSpPr>
          <p:cNvPr id="6" name="Slide Number Placeholder 5"/>
          <p:cNvSpPr>
            <a:spLocks noGrp="1"/>
          </p:cNvSpPr>
          <p:nvPr>
            <p:ph type="sldNum" sz="quarter" idx="12"/>
          </p:nvPr>
        </p:nvSpPr>
        <p:spPr/>
        <p:txBody>
          <a:bodyPr/>
          <a:lstStyle>
            <a:lvl1pPr>
              <a:defRPr/>
            </a:lvl1pPr>
          </a:lstStyle>
          <a:p>
            <a:fld id="{44F12187-B2A4-4E32-BCAD-65DD1E4C2CCD}" type="slidenum">
              <a:rPr lang="en-US" altLang="en-US"/>
              <a:pPr/>
              <a:t>‹#›</a:t>
            </a:fld>
            <a:endParaRPr lang="en-US" altLang="en-US"/>
          </a:p>
        </p:txBody>
      </p:sp>
    </p:spTree>
    <p:extLst>
      <p:ext uri="{BB962C8B-B14F-4D97-AF65-F5344CB8AC3E}">
        <p14:creationId xmlns:p14="http://schemas.microsoft.com/office/powerpoint/2010/main" val="256189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Principles of Information Security, 2nd Edition</a:t>
            </a:r>
          </a:p>
        </p:txBody>
      </p:sp>
      <p:sp>
        <p:nvSpPr>
          <p:cNvPr id="6" name="Slide Number Placeholder 5"/>
          <p:cNvSpPr>
            <a:spLocks noGrp="1"/>
          </p:cNvSpPr>
          <p:nvPr>
            <p:ph type="sldNum" sz="quarter" idx="12"/>
          </p:nvPr>
        </p:nvSpPr>
        <p:spPr/>
        <p:txBody>
          <a:bodyPr/>
          <a:lstStyle>
            <a:lvl1pPr>
              <a:defRPr/>
            </a:lvl1pPr>
          </a:lstStyle>
          <a:p>
            <a:fld id="{8D8F40BD-950B-41B2-A853-B6FCD975C5E8}" type="slidenum">
              <a:rPr lang="en-US" altLang="en-US"/>
              <a:pPr/>
              <a:t>‹#›</a:t>
            </a:fld>
            <a:endParaRPr lang="en-US" altLang="en-US"/>
          </a:p>
        </p:txBody>
      </p:sp>
    </p:spTree>
    <p:extLst>
      <p:ext uri="{BB962C8B-B14F-4D97-AF65-F5344CB8AC3E}">
        <p14:creationId xmlns:p14="http://schemas.microsoft.com/office/powerpoint/2010/main" val="424291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24000"/>
            <a:ext cx="40005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524000"/>
            <a:ext cx="40005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Principles of Information Security, 2nd Edition</a:t>
            </a:r>
          </a:p>
        </p:txBody>
      </p:sp>
      <p:sp>
        <p:nvSpPr>
          <p:cNvPr id="7" name="Slide Number Placeholder 6"/>
          <p:cNvSpPr>
            <a:spLocks noGrp="1"/>
          </p:cNvSpPr>
          <p:nvPr>
            <p:ph type="sldNum" sz="quarter" idx="12"/>
          </p:nvPr>
        </p:nvSpPr>
        <p:spPr/>
        <p:txBody>
          <a:bodyPr/>
          <a:lstStyle>
            <a:lvl1pPr>
              <a:defRPr/>
            </a:lvl1pPr>
          </a:lstStyle>
          <a:p>
            <a:fld id="{D1D2C7EF-B2BE-4D87-9308-2A88EF44FCEC}" type="slidenum">
              <a:rPr lang="en-US" altLang="en-US"/>
              <a:pPr/>
              <a:t>‹#›</a:t>
            </a:fld>
            <a:endParaRPr lang="en-US" altLang="en-US"/>
          </a:p>
        </p:txBody>
      </p:sp>
    </p:spTree>
    <p:extLst>
      <p:ext uri="{BB962C8B-B14F-4D97-AF65-F5344CB8AC3E}">
        <p14:creationId xmlns:p14="http://schemas.microsoft.com/office/powerpoint/2010/main" val="2295963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r>
              <a:rPr lang="en-US" altLang="en-US"/>
              <a:t>Principles of Information Security, 2nd Edition</a:t>
            </a:r>
          </a:p>
        </p:txBody>
      </p:sp>
      <p:sp>
        <p:nvSpPr>
          <p:cNvPr id="9" name="Slide Number Placeholder 8"/>
          <p:cNvSpPr>
            <a:spLocks noGrp="1"/>
          </p:cNvSpPr>
          <p:nvPr>
            <p:ph type="sldNum" sz="quarter" idx="12"/>
          </p:nvPr>
        </p:nvSpPr>
        <p:spPr/>
        <p:txBody>
          <a:bodyPr/>
          <a:lstStyle>
            <a:lvl1pPr>
              <a:defRPr/>
            </a:lvl1pPr>
          </a:lstStyle>
          <a:p>
            <a:fld id="{E4EF6BC5-0BDB-4C3C-BD71-C75B102390EC}" type="slidenum">
              <a:rPr lang="en-US" altLang="en-US"/>
              <a:pPr/>
              <a:t>‹#›</a:t>
            </a:fld>
            <a:endParaRPr lang="en-US" altLang="en-US"/>
          </a:p>
        </p:txBody>
      </p:sp>
    </p:spTree>
    <p:extLst>
      <p:ext uri="{BB962C8B-B14F-4D97-AF65-F5344CB8AC3E}">
        <p14:creationId xmlns:p14="http://schemas.microsoft.com/office/powerpoint/2010/main" val="386566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r>
              <a:rPr lang="en-US" altLang="en-US"/>
              <a:t>Principles of Information Security, 2nd Edition</a:t>
            </a:r>
          </a:p>
        </p:txBody>
      </p:sp>
      <p:sp>
        <p:nvSpPr>
          <p:cNvPr id="5" name="Slide Number Placeholder 4"/>
          <p:cNvSpPr>
            <a:spLocks noGrp="1"/>
          </p:cNvSpPr>
          <p:nvPr>
            <p:ph type="sldNum" sz="quarter" idx="12"/>
          </p:nvPr>
        </p:nvSpPr>
        <p:spPr/>
        <p:txBody>
          <a:bodyPr/>
          <a:lstStyle>
            <a:lvl1pPr>
              <a:defRPr/>
            </a:lvl1pPr>
          </a:lstStyle>
          <a:p>
            <a:fld id="{975961D4-960A-4696-B568-29F260D63713}" type="slidenum">
              <a:rPr lang="en-US" altLang="en-US"/>
              <a:pPr/>
              <a:t>‹#›</a:t>
            </a:fld>
            <a:endParaRPr lang="en-US" altLang="en-US"/>
          </a:p>
        </p:txBody>
      </p:sp>
    </p:spTree>
    <p:extLst>
      <p:ext uri="{BB962C8B-B14F-4D97-AF65-F5344CB8AC3E}">
        <p14:creationId xmlns:p14="http://schemas.microsoft.com/office/powerpoint/2010/main" val="1143090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r>
              <a:rPr lang="en-US" altLang="en-US"/>
              <a:t>Principles of Information Security, 2nd Edition</a:t>
            </a:r>
          </a:p>
        </p:txBody>
      </p:sp>
      <p:sp>
        <p:nvSpPr>
          <p:cNvPr id="4" name="Slide Number Placeholder 3"/>
          <p:cNvSpPr>
            <a:spLocks noGrp="1"/>
          </p:cNvSpPr>
          <p:nvPr>
            <p:ph type="sldNum" sz="quarter" idx="12"/>
          </p:nvPr>
        </p:nvSpPr>
        <p:spPr/>
        <p:txBody>
          <a:bodyPr/>
          <a:lstStyle>
            <a:lvl1pPr>
              <a:defRPr/>
            </a:lvl1pPr>
          </a:lstStyle>
          <a:p>
            <a:fld id="{4E7D6CB5-9F7B-41BC-9818-200E263C1FA3}" type="slidenum">
              <a:rPr lang="en-US" altLang="en-US"/>
              <a:pPr/>
              <a:t>‹#›</a:t>
            </a:fld>
            <a:endParaRPr lang="en-US" altLang="en-US"/>
          </a:p>
        </p:txBody>
      </p:sp>
    </p:spTree>
    <p:extLst>
      <p:ext uri="{BB962C8B-B14F-4D97-AF65-F5344CB8AC3E}">
        <p14:creationId xmlns:p14="http://schemas.microsoft.com/office/powerpoint/2010/main" val="3750952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Principles of Information Security, 2nd Edition</a:t>
            </a:r>
          </a:p>
        </p:txBody>
      </p:sp>
      <p:sp>
        <p:nvSpPr>
          <p:cNvPr id="7" name="Slide Number Placeholder 6"/>
          <p:cNvSpPr>
            <a:spLocks noGrp="1"/>
          </p:cNvSpPr>
          <p:nvPr>
            <p:ph type="sldNum" sz="quarter" idx="12"/>
          </p:nvPr>
        </p:nvSpPr>
        <p:spPr/>
        <p:txBody>
          <a:bodyPr/>
          <a:lstStyle>
            <a:lvl1pPr>
              <a:defRPr/>
            </a:lvl1pPr>
          </a:lstStyle>
          <a:p>
            <a:fld id="{481C31A7-5648-4D45-BABD-40A8B5AAF22D}" type="slidenum">
              <a:rPr lang="en-US" altLang="en-US"/>
              <a:pPr/>
              <a:t>‹#›</a:t>
            </a:fld>
            <a:endParaRPr lang="en-US" altLang="en-US"/>
          </a:p>
        </p:txBody>
      </p:sp>
    </p:spTree>
    <p:extLst>
      <p:ext uri="{BB962C8B-B14F-4D97-AF65-F5344CB8AC3E}">
        <p14:creationId xmlns:p14="http://schemas.microsoft.com/office/powerpoint/2010/main" val="155591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Principles of Information Security, 2nd Edition</a:t>
            </a:r>
          </a:p>
        </p:txBody>
      </p:sp>
      <p:sp>
        <p:nvSpPr>
          <p:cNvPr id="7" name="Slide Number Placeholder 6"/>
          <p:cNvSpPr>
            <a:spLocks noGrp="1"/>
          </p:cNvSpPr>
          <p:nvPr>
            <p:ph type="sldNum" sz="quarter" idx="12"/>
          </p:nvPr>
        </p:nvSpPr>
        <p:spPr/>
        <p:txBody>
          <a:bodyPr/>
          <a:lstStyle>
            <a:lvl1pPr>
              <a:defRPr/>
            </a:lvl1pPr>
          </a:lstStyle>
          <a:p>
            <a:fld id="{1371D5DB-EC7F-406D-8433-9DB15F8FB18D}" type="slidenum">
              <a:rPr lang="en-US" altLang="en-US"/>
              <a:pPr/>
              <a:t>‹#›</a:t>
            </a:fld>
            <a:endParaRPr lang="en-US" altLang="en-US"/>
          </a:p>
        </p:txBody>
      </p:sp>
    </p:spTree>
    <p:extLst>
      <p:ext uri="{BB962C8B-B14F-4D97-AF65-F5344CB8AC3E}">
        <p14:creationId xmlns:p14="http://schemas.microsoft.com/office/powerpoint/2010/main" val="3923616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Principles of Information Security, 2nd Edition</a:t>
            </a:r>
          </a:p>
        </p:txBody>
      </p:sp>
      <p:sp>
        <p:nvSpPr>
          <p:cNvPr id="6" name="Slide Number Placeholder 5"/>
          <p:cNvSpPr>
            <a:spLocks noGrp="1"/>
          </p:cNvSpPr>
          <p:nvPr>
            <p:ph type="sldNum" sz="quarter" idx="12"/>
          </p:nvPr>
        </p:nvSpPr>
        <p:spPr/>
        <p:txBody>
          <a:bodyPr/>
          <a:lstStyle>
            <a:lvl1pPr>
              <a:defRPr/>
            </a:lvl1pPr>
          </a:lstStyle>
          <a:p>
            <a:fld id="{28C42BCD-7A09-4443-8692-CFCBBE8CCEF1}" type="slidenum">
              <a:rPr lang="en-US" altLang="en-US"/>
              <a:pPr/>
              <a:t>‹#›</a:t>
            </a:fld>
            <a:endParaRPr lang="en-US" altLang="en-US"/>
          </a:p>
        </p:txBody>
      </p:sp>
    </p:spTree>
    <p:extLst>
      <p:ext uri="{BB962C8B-B14F-4D97-AF65-F5344CB8AC3E}">
        <p14:creationId xmlns:p14="http://schemas.microsoft.com/office/powerpoint/2010/main" val="3966479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04800"/>
            <a:ext cx="2038350" cy="6019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04800"/>
            <a:ext cx="5962650" cy="6019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Principles of Information Security, 2nd Edition</a:t>
            </a:r>
          </a:p>
        </p:txBody>
      </p:sp>
      <p:sp>
        <p:nvSpPr>
          <p:cNvPr id="6" name="Slide Number Placeholder 5"/>
          <p:cNvSpPr>
            <a:spLocks noGrp="1"/>
          </p:cNvSpPr>
          <p:nvPr>
            <p:ph type="sldNum" sz="quarter" idx="12"/>
          </p:nvPr>
        </p:nvSpPr>
        <p:spPr/>
        <p:txBody>
          <a:bodyPr/>
          <a:lstStyle>
            <a:lvl1pPr>
              <a:defRPr/>
            </a:lvl1pPr>
          </a:lstStyle>
          <a:p>
            <a:fld id="{5539783F-9C54-4CA4-BB89-926F8FE10FD6}" type="slidenum">
              <a:rPr lang="en-US" altLang="en-US"/>
              <a:pPr/>
              <a:t>‹#›</a:t>
            </a:fld>
            <a:endParaRPr lang="en-US" altLang="en-US"/>
          </a:p>
        </p:txBody>
      </p:sp>
    </p:spTree>
    <p:extLst>
      <p:ext uri="{BB962C8B-B14F-4D97-AF65-F5344CB8AC3E}">
        <p14:creationId xmlns:p14="http://schemas.microsoft.com/office/powerpoint/2010/main" val="402616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5438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524000"/>
            <a:ext cx="40005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524000"/>
            <a:ext cx="40005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705600" y="6400800"/>
            <a:ext cx="4572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457200" y="6400800"/>
            <a:ext cx="6096000" cy="457200"/>
          </a:xfrm>
        </p:spPr>
        <p:txBody>
          <a:bodyPr/>
          <a:lstStyle>
            <a:lvl1pPr>
              <a:defRPr/>
            </a:lvl1pPr>
          </a:lstStyle>
          <a:p>
            <a:r>
              <a:rPr lang="en-US" altLang="en-US"/>
              <a:t>Principles of Information Security, 2nd Edition</a:t>
            </a:r>
          </a:p>
        </p:txBody>
      </p:sp>
      <p:sp>
        <p:nvSpPr>
          <p:cNvPr id="7" name="Slide Number Placeholder 6"/>
          <p:cNvSpPr>
            <a:spLocks noGrp="1"/>
          </p:cNvSpPr>
          <p:nvPr>
            <p:ph type="sldNum" sz="quarter" idx="12"/>
          </p:nvPr>
        </p:nvSpPr>
        <p:spPr>
          <a:xfrm>
            <a:off x="7239000" y="6400800"/>
            <a:ext cx="1905000" cy="457200"/>
          </a:xfrm>
        </p:spPr>
        <p:txBody>
          <a:bodyPr/>
          <a:lstStyle>
            <a:lvl1pPr>
              <a:defRPr/>
            </a:lvl1pPr>
          </a:lstStyle>
          <a:p>
            <a:fld id="{374B30FD-7914-49B9-9A0B-34C6B83CF974}" type="slidenum">
              <a:rPr lang="en-US" altLang="en-US"/>
              <a:pPr/>
              <a:t>‹#›</a:t>
            </a:fld>
            <a:endParaRPr lang="en-US" altLang="en-US"/>
          </a:p>
        </p:txBody>
      </p:sp>
    </p:spTree>
    <p:extLst>
      <p:ext uri="{BB962C8B-B14F-4D97-AF65-F5344CB8AC3E}">
        <p14:creationId xmlns:p14="http://schemas.microsoft.com/office/powerpoint/2010/main" val="3251119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8" name="Rectangle 6"/>
          <p:cNvSpPr>
            <a:spLocks noGrp="1" noChangeArrowheads="1"/>
          </p:cNvSpPr>
          <p:nvPr>
            <p:ph type="title"/>
          </p:nvPr>
        </p:nvSpPr>
        <p:spPr bwMode="auto">
          <a:xfrm>
            <a:off x="685800" y="304800"/>
            <a:ext cx="7543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4279" name="Rectangle 7"/>
          <p:cNvSpPr>
            <a:spLocks noGrp="1" noChangeArrowheads="1"/>
          </p:cNvSpPr>
          <p:nvPr>
            <p:ph type="body" idx="1"/>
          </p:nvPr>
        </p:nvSpPr>
        <p:spPr bwMode="auto">
          <a:xfrm>
            <a:off x="457200" y="1524000"/>
            <a:ext cx="8153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2"/>
            <a:r>
              <a:rPr lang="en-US" altLang="en-US" smtClean="0"/>
              <a:t>Fourth level</a:t>
            </a:r>
          </a:p>
          <a:p>
            <a:pPr lvl="3"/>
            <a:r>
              <a:rPr lang="en-US" altLang="en-US" smtClean="0"/>
              <a:t>Fifth level</a:t>
            </a:r>
          </a:p>
        </p:txBody>
      </p:sp>
      <p:sp>
        <p:nvSpPr>
          <p:cNvPr id="54280" name="Rectangle 8"/>
          <p:cNvSpPr>
            <a:spLocks noGrp="1" noChangeArrowheads="1"/>
          </p:cNvSpPr>
          <p:nvPr>
            <p:ph type="dt" sz="half" idx="2"/>
          </p:nvPr>
        </p:nvSpPr>
        <p:spPr bwMode="auto">
          <a:xfrm>
            <a:off x="6705600" y="64008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solidFill>
                  <a:schemeClr val="bg1"/>
                </a:solidFill>
                <a:latin typeface="Arial" panose="020B0604020202020204" pitchFamily="34" charset="0"/>
              </a:defRPr>
            </a:lvl1pPr>
          </a:lstStyle>
          <a:p>
            <a:endParaRPr lang="en-US" altLang="en-US"/>
          </a:p>
        </p:txBody>
      </p:sp>
      <p:sp>
        <p:nvSpPr>
          <p:cNvPr id="54281" name="Rectangle 9"/>
          <p:cNvSpPr>
            <a:spLocks noGrp="1" noChangeArrowheads="1"/>
          </p:cNvSpPr>
          <p:nvPr>
            <p:ph type="ftr" sz="quarter" idx="3"/>
          </p:nvPr>
        </p:nvSpPr>
        <p:spPr bwMode="auto">
          <a:xfrm>
            <a:off x="457200" y="6400800"/>
            <a:ext cx="609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solidFill>
                  <a:srgbClr val="003366"/>
                </a:solidFill>
                <a:latin typeface="Arial" panose="020B0604020202020204" pitchFamily="34" charset="0"/>
              </a:defRPr>
            </a:lvl1pPr>
          </a:lstStyle>
          <a:p>
            <a:r>
              <a:rPr lang="en-US" altLang="en-US"/>
              <a:t>Principles of Information Security, 2nd Edition</a:t>
            </a:r>
          </a:p>
        </p:txBody>
      </p:sp>
      <p:sp>
        <p:nvSpPr>
          <p:cNvPr id="54282" name="Rectangle 10"/>
          <p:cNvSpPr>
            <a:spLocks noGrp="1" noChangeArrowheads="1"/>
          </p:cNvSpPr>
          <p:nvPr>
            <p:ph type="sldNum" sz="quarter" idx="4"/>
          </p:nvPr>
        </p:nvSpPr>
        <p:spPr bwMode="auto">
          <a:xfrm>
            <a:off x="72390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solidFill>
                  <a:srgbClr val="003366"/>
                </a:solidFill>
                <a:latin typeface="Arial" panose="020B0604020202020204" pitchFamily="34" charset="0"/>
              </a:defRPr>
            </a:lvl1pPr>
          </a:lstStyle>
          <a:p>
            <a:fld id="{BBE12F80-1D22-4E7A-B3DF-2D53F01627A5}" type="slidenum">
              <a:rPr lang="en-US" altLang="en-US"/>
              <a:pPr/>
              <a:t>‹#›</a:t>
            </a:fld>
            <a:endParaRPr lang="en-US" altLang="en-US"/>
          </a:p>
        </p:txBody>
      </p:sp>
      <p:pic>
        <p:nvPicPr>
          <p:cNvPr id="54284" name="Picture 12"/>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48736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dt="0"/>
  <p:txStyles>
    <p:titleStyle>
      <a:lvl1pPr algn="l" rtl="0" fontAlgn="base">
        <a:spcBef>
          <a:spcPct val="0"/>
        </a:spcBef>
        <a:spcAft>
          <a:spcPct val="0"/>
        </a:spcAft>
        <a:defRPr sz="4400" kern="1200">
          <a:solidFill>
            <a:srgbClr val="003366"/>
          </a:solidFill>
          <a:latin typeface="+mj-lt"/>
          <a:ea typeface="+mj-ea"/>
          <a:cs typeface="+mj-cs"/>
        </a:defRPr>
      </a:lvl1pPr>
      <a:lvl2pPr algn="l" rtl="0" fontAlgn="base">
        <a:spcBef>
          <a:spcPct val="0"/>
        </a:spcBef>
        <a:spcAft>
          <a:spcPct val="0"/>
        </a:spcAft>
        <a:defRPr sz="4400">
          <a:solidFill>
            <a:srgbClr val="003366"/>
          </a:solidFill>
          <a:latin typeface="Arial Narrow" panose="020B0606020202030204" pitchFamily="34" charset="0"/>
        </a:defRPr>
      </a:lvl2pPr>
      <a:lvl3pPr algn="l" rtl="0" fontAlgn="base">
        <a:spcBef>
          <a:spcPct val="0"/>
        </a:spcBef>
        <a:spcAft>
          <a:spcPct val="0"/>
        </a:spcAft>
        <a:defRPr sz="4400">
          <a:solidFill>
            <a:srgbClr val="003366"/>
          </a:solidFill>
          <a:latin typeface="Arial Narrow" panose="020B0606020202030204" pitchFamily="34" charset="0"/>
        </a:defRPr>
      </a:lvl3pPr>
      <a:lvl4pPr algn="l" rtl="0" fontAlgn="base">
        <a:spcBef>
          <a:spcPct val="0"/>
        </a:spcBef>
        <a:spcAft>
          <a:spcPct val="0"/>
        </a:spcAft>
        <a:defRPr sz="4400">
          <a:solidFill>
            <a:srgbClr val="003366"/>
          </a:solidFill>
          <a:latin typeface="Arial Narrow" panose="020B0606020202030204" pitchFamily="34" charset="0"/>
        </a:defRPr>
      </a:lvl4pPr>
      <a:lvl5pPr algn="l" rtl="0" fontAlgn="base">
        <a:spcBef>
          <a:spcPct val="0"/>
        </a:spcBef>
        <a:spcAft>
          <a:spcPct val="0"/>
        </a:spcAft>
        <a:defRPr sz="4400">
          <a:solidFill>
            <a:srgbClr val="003366"/>
          </a:solidFill>
          <a:latin typeface="Arial Narrow" panose="020B0606020202030204" pitchFamily="34" charset="0"/>
        </a:defRPr>
      </a:lvl5pPr>
      <a:lvl6pPr marL="457200" algn="l" rtl="0" fontAlgn="base">
        <a:spcBef>
          <a:spcPct val="0"/>
        </a:spcBef>
        <a:spcAft>
          <a:spcPct val="0"/>
        </a:spcAft>
        <a:defRPr sz="4400">
          <a:solidFill>
            <a:srgbClr val="003366"/>
          </a:solidFill>
          <a:latin typeface="Arial Narrow" panose="020B0606020202030204" pitchFamily="34" charset="0"/>
        </a:defRPr>
      </a:lvl6pPr>
      <a:lvl7pPr marL="914400" algn="l" rtl="0" fontAlgn="base">
        <a:spcBef>
          <a:spcPct val="0"/>
        </a:spcBef>
        <a:spcAft>
          <a:spcPct val="0"/>
        </a:spcAft>
        <a:defRPr sz="4400">
          <a:solidFill>
            <a:srgbClr val="003366"/>
          </a:solidFill>
          <a:latin typeface="Arial Narrow" panose="020B0606020202030204" pitchFamily="34" charset="0"/>
        </a:defRPr>
      </a:lvl7pPr>
      <a:lvl8pPr marL="1371600" algn="l" rtl="0" fontAlgn="base">
        <a:spcBef>
          <a:spcPct val="0"/>
        </a:spcBef>
        <a:spcAft>
          <a:spcPct val="0"/>
        </a:spcAft>
        <a:defRPr sz="4400">
          <a:solidFill>
            <a:srgbClr val="003366"/>
          </a:solidFill>
          <a:latin typeface="Arial Narrow" panose="020B0606020202030204" pitchFamily="34" charset="0"/>
        </a:defRPr>
      </a:lvl8pPr>
      <a:lvl9pPr marL="1828800" algn="l" rtl="0" fontAlgn="base">
        <a:spcBef>
          <a:spcPct val="0"/>
        </a:spcBef>
        <a:spcAft>
          <a:spcPct val="0"/>
        </a:spcAft>
        <a:defRPr sz="4400">
          <a:solidFill>
            <a:srgbClr val="003366"/>
          </a:solidFill>
          <a:latin typeface="Arial Narrow" panose="020B0606020202030204" pitchFamily="34" charset="0"/>
        </a:defRPr>
      </a:lvl9pPr>
    </p:titleStyle>
    <p:bodyStyle>
      <a:lvl1pPr marL="342900" indent="-342900" algn="l" rtl="0" fontAlgn="base">
        <a:spcBef>
          <a:spcPct val="20000"/>
        </a:spcBef>
        <a:spcAft>
          <a:spcPct val="0"/>
        </a:spcAft>
        <a:buClr>
          <a:srgbClr val="003366"/>
        </a:buClr>
        <a:buFont typeface="Wingdings" panose="05000000000000000000" pitchFamily="2" charset="2"/>
        <a:buChar char="§"/>
        <a:defRPr sz="3200" kern="1200">
          <a:solidFill>
            <a:schemeClr val="bg1"/>
          </a:solidFill>
          <a:latin typeface="+mn-lt"/>
          <a:ea typeface="+mn-ea"/>
          <a:cs typeface="+mn-cs"/>
        </a:defRPr>
      </a:lvl1pPr>
      <a:lvl2pPr marL="742950" indent="-285750" algn="l" rtl="0" fontAlgn="base">
        <a:spcBef>
          <a:spcPct val="20000"/>
        </a:spcBef>
        <a:spcAft>
          <a:spcPct val="0"/>
        </a:spcAft>
        <a:buClr>
          <a:srgbClr val="003366"/>
        </a:buClr>
        <a:buFont typeface="Wingdings" panose="05000000000000000000" pitchFamily="2" charset="2"/>
        <a:buChar char="§"/>
        <a:defRPr sz="2800" kern="1200">
          <a:solidFill>
            <a:schemeClr val="bg1"/>
          </a:solidFill>
          <a:latin typeface="+mn-lt"/>
          <a:ea typeface="+mn-ea"/>
          <a:cs typeface="+mn-cs"/>
        </a:defRPr>
      </a:lvl2pPr>
      <a:lvl3pPr marL="1143000" indent="-228600" algn="l" rtl="0" fontAlgn="base">
        <a:spcBef>
          <a:spcPct val="20000"/>
        </a:spcBef>
        <a:spcAft>
          <a:spcPct val="0"/>
        </a:spcAft>
        <a:buClr>
          <a:srgbClr val="003366"/>
        </a:buClr>
        <a:buFont typeface="Wingdings" panose="05000000000000000000" pitchFamily="2" charset="2"/>
        <a:buChar char="§"/>
        <a:defRPr sz="2400" kern="1200">
          <a:solidFill>
            <a:schemeClr val="bg1"/>
          </a:solidFill>
          <a:latin typeface="+mn-lt"/>
          <a:ea typeface="+mn-ea"/>
          <a:cs typeface="+mn-cs"/>
        </a:defRPr>
      </a:lvl3pPr>
      <a:lvl4pPr marL="1600200" indent="-228600" algn="l" rtl="0" fontAlgn="base">
        <a:spcBef>
          <a:spcPct val="20000"/>
        </a:spcBef>
        <a:spcAft>
          <a:spcPct val="0"/>
        </a:spcAft>
        <a:buClr>
          <a:srgbClr val="003366"/>
        </a:buClr>
        <a:buFont typeface="Wingdings" panose="05000000000000000000" pitchFamily="2" charset="2"/>
        <a:buChar char="§"/>
        <a:defRPr sz="2000" kern="1200">
          <a:solidFill>
            <a:schemeClr val="bg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images.google.co.uk/imgres?imgurl=http://www.illustrationsof.com/images/clipart/thumbnail2/1043_evil_male_computer_hacker_typing.jpg&amp;imgrefurl=http://www.illustrationsof.com/gallery/clipart/technology.html&amp;h=150&amp;w=142&amp;sz=15&amp;hl=en&amp;start=115&amp;um=1&amp;usg=__L-DN7WJe7NeRA6YX-iTuwVytmyQ=&amp;tbnid=pbdOKMgqNH0WyM:&amp;tbnh=96&amp;tbnw=91&amp;prev=/images?q=computer+evil+picture&amp;start=108&amp;ndsp=18&amp;um=1&amp;hl=en&amp;sa=N" TargetMode="External"/><Relationship Id="rId2" Type="http://schemas.openxmlformats.org/officeDocument/2006/relationships/image" Target="../media/image11.wmf"/><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wmf"/><Relationship Id="rId4" Type="http://schemas.openxmlformats.org/officeDocument/2006/relationships/image" Target="../media/image14.wmf"/></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gi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hyperlink" Target="http://images.google.co.uk/imgres?imgurl=http://www.co.washington.or.us/cgi/neighbor/graphics/graf0206/burglar3.gif&amp;imgrefurl=http://www.co.washington.or.us/cgi/neighbor/watch.pl&amp;h=128&amp;w=130&amp;sz=4&amp;hl=en&amp;start=2&amp;um=1&amp;usg=__d9qkx9TgWYPQ9WW4QB93_CCWgUQ=&amp;tbnid=Lrzuhn2hBi26tM:&amp;tbnh=90&amp;tbnw=91&amp;prev=/images?q=computer+burglar+image&amp;ndsp=18&amp;um=1&amp;hl=en&amp;sa=N" TargetMode="External"/><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4200" y="937056"/>
            <a:ext cx="7315200" cy="908553"/>
          </a:xfrm>
          <a:noFill/>
        </p:spPr>
        <p:txBody>
          <a:bodyPr>
            <a:noAutofit/>
          </a:bodyPr>
          <a:lstStyle/>
          <a:p>
            <a:r>
              <a:rPr lang="en-US" sz="3600" b="1" dirty="0" smtClean="0">
                <a:solidFill>
                  <a:schemeClr val="bg1"/>
                </a:solidFill>
                <a:latin typeface="38"/>
              </a:rPr>
              <a:t>INFT 413: ADVANCED INFORMATION SECURITY</a:t>
            </a:r>
            <a:endParaRPr lang="en-US" sz="3600" b="1" dirty="0">
              <a:solidFill>
                <a:schemeClr val="bg1"/>
              </a:solidFill>
              <a:latin typeface="38"/>
            </a:endParaRPr>
          </a:p>
        </p:txBody>
      </p:sp>
      <p:sp>
        <p:nvSpPr>
          <p:cNvPr id="5" name="Subtitle 2"/>
          <p:cNvSpPr txBox="1">
            <a:spLocks/>
          </p:cNvSpPr>
          <p:nvPr/>
        </p:nvSpPr>
        <p:spPr>
          <a:xfrm>
            <a:off x="948229" y="4538382"/>
            <a:ext cx="7271135" cy="607677"/>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500" dirty="0">
              <a:solidFill>
                <a:schemeClr val="bg1"/>
              </a:solidFill>
              <a:latin typeface="38"/>
            </a:endParaRPr>
          </a:p>
          <a:p>
            <a:r>
              <a:rPr lang="en-US" sz="2200" dirty="0">
                <a:solidFill>
                  <a:schemeClr val="bg1"/>
                </a:solidFill>
                <a:latin typeface="Times New Roman" panose="02020603050405020304" pitchFamily="18" charset="0"/>
                <a:cs typeface="Times New Roman" panose="02020603050405020304" pitchFamily="18" charset="0"/>
              </a:rPr>
              <a:t>Department of Computer Science and Informatics</a:t>
            </a:r>
          </a:p>
        </p:txBody>
      </p:sp>
      <p:sp>
        <p:nvSpPr>
          <p:cNvPr id="6" name="Subtitle 2"/>
          <p:cNvSpPr txBox="1">
            <a:spLocks/>
          </p:cNvSpPr>
          <p:nvPr/>
        </p:nvSpPr>
        <p:spPr>
          <a:xfrm>
            <a:off x="2799890" y="5412190"/>
            <a:ext cx="3003821" cy="378725"/>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dirty="0" smtClean="0">
                <a:solidFill>
                  <a:schemeClr val="bg1"/>
                </a:solidFill>
                <a:latin typeface="38"/>
              </a:rPr>
              <a:t>2023</a:t>
            </a:r>
            <a:endParaRPr lang="en-US" sz="1200" dirty="0">
              <a:solidFill>
                <a:schemeClr val="bg1"/>
              </a:solidFill>
              <a:latin typeface="38"/>
            </a:endParaRPr>
          </a:p>
        </p:txBody>
      </p:sp>
      <p:sp>
        <p:nvSpPr>
          <p:cNvPr id="7" name="Subtitle 2"/>
          <p:cNvSpPr txBox="1">
            <a:spLocks/>
          </p:cNvSpPr>
          <p:nvPr/>
        </p:nvSpPr>
        <p:spPr>
          <a:xfrm>
            <a:off x="1209638" y="2743200"/>
            <a:ext cx="6131858" cy="198120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800" dirty="0" smtClean="0">
                <a:solidFill>
                  <a:schemeClr val="bg1"/>
                </a:solidFill>
                <a:latin typeface="38"/>
              </a:rPr>
              <a:t>JACOB MENSAH</a:t>
            </a:r>
            <a:endParaRPr lang="en-US" sz="3800" dirty="0">
              <a:solidFill>
                <a:schemeClr val="bg1"/>
              </a:solidFill>
              <a:latin typeface="38"/>
            </a:endParaRPr>
          </a:p>
        </p:txBody>
      </p:sp>
    </p:spTree>
    <p:extLst>
      <p:ext uri="{BB962C8B-B14F-4D97-AF65-F5344CB8AC3E}">
        <p14:creationId xmlns:p14="http://schemas.microsoft.com/office/powerpoint/2010/main" val="18353648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2971800"/>
            <a:ext cx="4191000" cy="990600"/>
          </a:xfrm>
        </p:spPr>
        <p:txBody>
          <a:bodyPr/>
          <a:lstStyle/>
          <a:p>
            <a:pPr algn="ctr"/>
            <a:r>
              <a:rPr lang="en-US" sz="4000" b="1" dirty="0" smtClean="0">
                <a:solidFill>
                  <a:schemeClr val="bg1"/>
                </a:solidFill>
                <a:latin typeface="Times New Roman" panose="02020603050405020304" pitchFamily="18" charset="0"/>
                <a:cs typeface="Times New Roman" pitchFamily="18" charset="0"/>
              </a:rPr>
              <a:t>Lecture One </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74B30FD-7914-49B9-9A0B-34C6B83CF974}" type="slidenum">
              <a:rPr lang="en-US" altLang="en-US" smtClean="0"/>
              <a:pPr/>
              <a:t>2</a:t>
            </a:fld>
            <a:endParaRPr lang="en-US" altLang="en-US"/>
          </a:p>
        </p:txBody>
      </p:sp>
      <p:sp>
        <p:nvSpPr>
          <p:cNvPr id="7" name="Google Shape;144;p16"/>
          <p:cNvSpPr txBox="1"/>
          <p:nvPr/>
        </p:nvSpPr>
        <p:spPr>
          <a:xfrm>
            <a:off x="0" y="671133"/>
            <a:ext cx="4628400" cy="5091600"/>
          </a:xfrm>
          <a:prstGeom prst="rect">
            <a:avLst/>
          </a:prstGeom>
          <a:noFill/>
          <a:ln>
            <a:noFill/>
          </a:ln>
        </p:spPr>
        <p:txBody>
          <a:bodyPr spcFirstLastPara="1" wrap="square" lIns="121900" tIns="121900" rIns="121900" bIns="121900" anchor="ctr" anchorCtr="0">
            <a:noAutofit/>
          </a:bodyPr>
          <a:lstStyle/>
          <a:p>
            <a:pPr algn="ctr"/>
            <a:r>
              <a:rPr lang="en" sz="26666" dirty="0">
                <a:solidFill>
                  <a:schemeClr val="accent6">
                    <a:lumMod val="60000"/>
                    <a:lumOff val="40000"/>
                  </a:schemeClr>
                </a:solidFill>
                <a:latin typeface="Roboto Slab"/>
                <a:ea typeface="Roboto Slab"/>
                <a:cs typeface="Roboto Slab"/>
                <a:sym typeface="Roboto Slab"/>
              </a:rPr>
              <a:t>1</a:t>
            </a:r>
            <a:endParaRPr sz="26666" dirty="0">
              <a:solidFill>
                <a:schemeClr val="accent6">
                  <a:lumMod val="60000"/>
                  <a:lumOff val="40000"/>
                </a:schemeClr>
              </a:solidFill>
              <a:latin typeface="Roboto Slab"/>
              <a:ea typeface="Roboto Slab"/>
              <a:cs typeface="Roboto Slab"/>
              <a:sym typeface="Roboto Slab"/>
            </a:endParaRPr>
          </a:p>
        </p:txBody>
      </p:sp>
    </p:spTree>
    <p:extLst>
      <p:ext uri="{BB962C8B-B14F-4D97-AF65-F5344CB8AC3E}">
        <p14:creationId xmlns:p14="http://schemas.microsoft.com/office/powerpoint/2010/main" val="729120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E30AE9F-F7D3-4120-B161-5BB6D3F882F7}" type="slidenum">
              <a:rPr lang="en-US" altLang="en-US"/>
              <a:pPr/>
              <a:t>3</a:t>
            </a:fld>
            <a:endParaRPr lang="en-US" altLang="en-US"/>
          </a:p>
        </p:txBody>
      </p:sp>
      <p:sp>
        <p:nvSpPr>
          <p:cNvPr id="350216" name="Rectangle 8"/>
          <p:cNvSpPr>
            <a:spLocks noGrp="1" noChangeArrowheads="1"/>
          </p:cNvSpPr>
          <p:nvPr>
            <p:ph type="title"/>
          </p:nvPr>
        </p:nvSpPr>
        <p:spPr/>
        <p:txBody>
          <a:bodyPr/>
          <a:lstStyle/>
          <a:p>
            <a:r>
              <a:rPr lang="en-US" altLang="en-US" sz="3600" dirty="0" smtClean="0"/>
              <a:t>Security</a:t>
            </a:r>
            <a:endParaRPr lang="en-US" altLang="en-US" sz="3600" dirty="0"/>
          </a:p>
        </p:txBody>
      </p:sp>
      <p:sp>
        <p:nvSpPr>
          <p:cNvPr id="350217" name="Rectangle 9"/>
          <p:cNvSpPr>
            <a:spLocks noGrp="1" noChangeArrowheads="1"/>
          </p:cNvSpPr>
          <p:nvPr>
            <p:ph type="body" idx="1"/>
          </p:nvPr>
        </p:nvSpPr>
        <p:spPr>
          <a:xfrm>
            <a:off x="685800" y="1524000"/>
            <a:ext cx="7924800" cy="4800600"/>
          </a:xfrm>
        </p:spPr>
        <p:txBody>
          <a:bodyPr/>
          <a:lstStyle/>
          <a:p>
            <a:r>
              <a:rPr lang="en-US" altLang="en-US" sz="2800"/>
              <a:t>“The quality or state of being secure—to be free from danger”  </a:t>
            </a:r>
          </a:p>
          <a:p>
            <a:r>
              <a:rPr lang="en-US" altLang="en-US" sz="2800"/>
              <a:t>A successful organization should have multiple layers of security in place: </a:t>
            </a:r>
          </a:p>
          <a:p>
            <a:pPr lvl="1"/>
            <a:r>
              <a:rPr lang="en-US" altLang="en-US" sz="2600"/>
              <a:t>Physical security</a:t>
            </a:r>
          </a:p>
          <a:p>
            <a:pPr lvl="1"/>
            <a:r>
              <a:rPr lang="en-US" altLang="en-US" sz="2600"/>
              <a:t>Personal security </a:t>
            </a:r>
          </a:p>
          <a:p>
            <a:pPr lvl="1"/>
            <a:r>
              <a:rPr lang="en-US" altLang="en-US" sz="2600"/>
              <a:t>Operations security </a:t>
            </a:r>
          </a:p>
          <a:p>
            <a:pPr lvl="1"/>
            <a:r>
              <a:rPr lang="en-US" altLang="en-US" sz="2600"/>
              <a:t>Communications security </a:t>
            </a:r>
          </a:p>
          <a:p>
            <a:pPr lvl="1"/>
            <a:r>
              <a:rPr lang="en-US" altLang="en-US" sz="2600"/>
              <a:t>Network security</a:t>
            </a:r>
          </a:p>
          <a:p>
            <a:pPr lvl="1"/>
            <a:r>
              <a:rPr lang="en-US" altLang="en-US" sz="2600"/>
              <a:t>Information 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Security</a:t>
            </a:r>
            <a:endParaRPr lang="en-US" dirty="0"/>
          </a:p>
        </p:txBody>
      </p:sp>
      <p:sp>
        <p:nvSpPr>
          <p:cNvPr id="3" name="Content Placeholder 2"/>
          <p:cNvSpPr>
            <a:spLocks noGrp="1"/>
          </p:cNvSpPr>
          <p:nvPr>
            <p:ph idx="1"/>
          </p:nvPr>
        </p:nvSpPr>
        <p:spPr/>
        <p:txBody>
          <a:bodyPr/>
          <a:lstStyle/>
          <a:p>
            <a:pPr algn="just"/>
            <a:r>
              <a:rPr lang="en-US" sz="2800" dirty="0">
                <a:latin typeface="Times New Roman" panose="02020603050405020304" pitchFamily="18" charset="0"/>
                <a:cs typeface="Times New Roman" panose="02020603050405020304" pitchFamily="18" charset="0"/>
              </a:rPr>
              <a:t>The goal of a security plan is to find the balance between </a:t>
            </a:r>
            <a:r>
              <a:rPr lang="en-US" sz="2800" b="1" dirty="0">
                <a:solidFill>
                  <a:srgbClr val="FF0000"/>
                </a:solidFill>
                <a:latin typeface="Times New Roman" panose="02020603050405020304" pitchFamily="18" charset="0"/>
                <a:cs typeface="Times New Roman" panose="02020603050405020304" pitchFamily="18" charset="0"/>
              </a:rPr>
              <a:t>protection</a:t>
            </a:r>
            <a:r>
              <a:rPr lang="en-US" sz="2800"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usability</a:t>
            </a:r>
            <a:r>
              <a:rPr lang="en-US" sz="2800" dirty="0">
                <a:latin typeface="Times New Roman" panose="02020603050405020304" pitchFamily="18" charset="0"/>
                <a:cs typeface="Times New Roman" panose="02020603050405020304" pitchFamily="18" charset="0"/>
              </a:rPr>
              <a:t>, and </a:t>
            </a:r>
            <a:r>
              <a:rPr lang="en-US" sz="2800" b="1" dirty="0">
                <a:solidFill>
                  <a:srgbClr val="FF0000"/>
                </a:solidFill>
                <a:latin typeface="Times New Roman" panose="02020603050405020304" pitchFamily="18" charset="0"/>
                <a:cs typeface="Times New Roman" panose="02020603050405020304" pitchFamily="18" charset="0"/>
              </a:rPr>
              <a:t>cost</a:t>
            </a:r>
            <a:r>
              <a:rPr lang="en-US" sz="2800" dirty="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Additionally, when securing an asset, system, or environment, we must also consider how the level of security relates to the value of the item being secured. </a:t>
            </a:r>
          </a:p>
          <a:p>
            <a:pPr algn="just"/>
            <a:endParaRPr lang="en-US" sz="2800" dirty="0"/>
          </a:p>
        </p:txBody>
      </p:sp>
      <p:sp>
        <p:nvSpPr>
          <p:cNvPr id="5" name="Slide Number Placeholder 4"/>
          <p:cNvSpPr>
            <a:spLocks noGrp="1"/>
          </p:cNvSpPr>
          <p:nvPr>
            <p:ph type="sldNum" sz="quarter" idx="12"/>
          </p:nvPr>
        </p:nvSpPr>
        <p:spPr/>
        <p:txBody>
          <a:bodyPr/>
          <a:lstStyle/>
          <a:p>
            <a:fld id="{44F12187-B2A4-4E32-BCAD-65DD1E4C2CCD}" type="slidenum">
              <a:rPr lang="en-US" altLang="en-US" smtClean="0"/>
              <a:pPr/>
              <a:t>4</a:t>
            </a:fld>
            <a:endParaRPr lang="en-US" altLang="en-US"/>
          </a:p>
        </p:txBody>
      </p:sp>
    </p:spTree>
    <p:extLst>
      <p:ext uri="{BB962C8B-B14F-4D97-AF65-F5344CB8AC3E}">
        <p14:creationId xmlns:p14="http://schemas.microsoft.com/office/powerpoint/2010/main" val="2592501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Security</a:t>
            </a:r>
            <a:endParaRPr lang="en-US" dirty="0"/>
          </a:p>
        </p:txBody>
      </p:sp>
      <p:sp>
        <p:nvSpPr>
          <p:cNvPr id="3" name="Content Placeholder 2"/>
          <p:cNvSpPr>
            <a:spLocks noGrp="1"/>
          </p:cNvSpPr>
          <p:nvPr>
            <p:ph idx="1"/>
          </p:nvPr>
        </p:nvSpPr>
        <p:spPr/>
        <p:txBody>
          <a:bodyPr/>
          <a:lstStyle/>
          <a:p>
            <a:pPr algn="just"/>
            <a:r>
              <a:rPr lang="en-US" sz="2800" dirty="0">
                <a:latin typeface="Times New Roman" panose="02020603050405020304" pitchFamily="18" charset="0"/>
                <a:cs typeface="Times New Roman" panose="02020603050405020304" pitchFamily="18" charset="0"/>
              </a:rPr>
              <a:t>When we discuss security issues, it is often helpful to have a model or framework that we can use as a foundation or a baseline. </a:t>
            </a:r>
            <a:endParaRPr lang="en-US" sz="2800" dirty="0" smtClean="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This gives us a consistent set of terminology and concepts that we, as security professionals, can refer to when security issues arise</a:t>
            </a:r>
            <a:r>
              <a:rPr lang="en-US" sz="2800" dirty="0" smtClean="0">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a:p>
            <a:endParaRPr lang="en-US" sz="2800" dirty="0"/>
          </a:p>
        </p:txBody>
      </p:sp>
      <p:sp>
        <p:nvSpPr>
          <p:cNvPr id="5" name="Slide Number Placeholder 4"/>
          <p:cNvSpPr>
            <a:spLocks noGrp="1"/>
          </p:cNvSpPr>
          <p:nvPr>
            <p:ph type="sldNum" sz="quarter" idx="12"/>
          </p:nvPr>
        </p:nvSpPr>
        <p:spPr/>
        <p:txBody>
          <a:bodyPr/>
          <a:lstStyle/>
          <a:p>
            <a:fld id="{44F12187-B2A4-4E32-BCAD-65DD1E4C2CCD}" type="slidenum">
              <a:rPr lang="en-US" altLang="en-US" smtClean="0"/>
              <a:pPr/>
              <a:t>5</a:t>
            </a:fld>
            <a:endParaRPr lang="en-US" altLang="en-US"/>
          </a:p>
        </p:txBody>
      </p:sp>
    </p:spTree>
    <p:extLst>
      <p:ext uri="{BB962C8B-B14F-4D97-AF65-F5344CB8AC3E}">
        <p14:creationId xmlns:p14="http://schemas.microsoft.com/office/powerpoint/2010/main" val="589909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7BE87484-C1F9-47C2-8299-D5A4732887C1}" type="slidenum">
              <a:rPr lang="en-US" altLang="en-US"/>
              <a:pPr/>
              <a:t>6</a:t>
            </a:fld>
            <a:endParaRPr lang="en-US" altLang="en-US"/>
          </a:p>
        </p:txBody>
      </p:sp>
      <p:sp>
        <p:nvSpPr>
          <p:cNvPr id="341002" name="Rectangle 10"/>
          <p:cNvSpPr>
            <a:spLocks noGrp="1" noChangeArrowheads="1"/>
          </p:cNvSpPr>
          <p:nvPr>
            <p:ph type="title"/>
          </p:nvPr>
        </p:nvSpPr>
        <p:spPr>
          <a:xfrm>
            <a:off x="651448" y="217357"/>
            <a:ext cx="7543800" cy="713907"/>
          </a:xfrm>
        </p:spPr>
        <p:txBody>
          <a:bodyPr/>
          <a:lstStyle/>
          <a:p>
            <a:r>
              <a:rPr lang="en-US" altLang="en-US" sz="3600" dirty="0" smtClean="0"/>
              <a:t>Information Security</a:t>
            </a:r>
            <a:endParaRPr lang="en-US" altLang="en-US" sz="3600" dirty="0"/>
          </a:p>
        </p:txBody>
      </p:sp>
      <p:sp>
        <p:nvSpPr>
          <p:cNvPr id="341003" name="Rectangle 11"/>
          <p:cNvSpPr>
            <a:spLocks noGrp="1" noChangeArrowheads="1"/>
          </p:cNvSpPr>
          <p:nvPr>
            <p:ph type="body" sz="half" idx="1"/>
          </p:nvPr>
        </p:nvSpPr>
        <p:spPr>
          <a:xfrm>
            <a:off x="651448" y="1208582"/>
            <a:ext cx="7959152" cy="5372100"/>
          </a:xfrm>
        </p:spPr>
        <p:txBody>
          <a:bodyPr/>
          <a:lstStyle/>
          <a:p>
            <a:pPr algn="just">
              <a:spcBef>
                <a:spcPct val="100000"/>
              </a:spcBef>
            </a:pPr>
            <a:r>
              <a:rPr lang="en-US" altLang="en-US" sz="2800" dirty="0">
                <a:latin typeface="Times New Roman" panose="02020603050405020304" pitchFamily="18" charset="0"/>
                <a:cs typeface="Times New Roman" panose="02020603050405020304" pitchFamily="18" charset="0"/>
              </a:rPr>
              <a:t>Information security: a “well-informed sense of assurance that the information risks and controls are in balance.” —Jim Anderson, </a:t>
            </a:r>
            <a:r>
              <a:rPr lang="en-US" altLang="en-US" sz="2800" dirty="0" err="1">
                <a:latin typeface="Times New Roman" panose="02020603050405020304" pitchFamily="18" charset="0"/>
                <a:cs typeface="Times New Roman" panose="02020603050405020304" pitchFamily="18" charset="0"/>
              </a:rPr>
              <a:t>Inovant</a:t>
            </a:r>
            <a:r>
              <a:rPr lang="en-US" altLang="en-US" sz="2800" dirty="0">
                <a:latin typeface="Times New Roman" panose="02020603050405020304" pitchFamily="18" charset="0"/>
                <a:cs typeface="Times New Roman" panose="02020603050405020304" pitchFamily="18" charset="0"/>
              </a:rPr>
              <a:t> (2002</a:t>
            </a:r>
            <a:r>
              <a:rPr lang="en-US" altLang="en-US" sz="2800" dirty="0" smtClean="0">
                <a:latin typeface="Times New Roman" panose="02020603050405020304" pitchFamily="18" charset="0"/>
                <a:cs typeface="Times New Roman" panose="02020603050405020304" pitchFamily="18" charset="0"/>
              </a:rPr>
              <a:t>).</a:t>
            </a:r>
          </a:p>
          <a:p>
            <a:pPr>
              <a:spcBef>
                <a:spcPct val="100000"/>
              </a:spcBef>
            </a:pPr>
            <a:r>
              <a:rPr lang="en-US" sz="2800" dirty="0" smtClean="0">
                <a:latin typeface="Times New Roman" panose="02020603050405020304" pitchFamily="18" charset="0"/>
                <a:cs typeface="Times New Roman" panose="02020603050405020304" pitchFamily="18" charset="0"/>
              </a:rPr>
              <a:t>Information security is defined as </a:t>
            </a:r>
            <a:r>
              <a:rPr lang="en-US" sz="2800" b="1" i="1" dirty="0" smtClean="0">
                <a:solidFill>
                  <a:srgbClr val="FF0000"/>
                </a:solidFill>
                <a:latin typeface="Times New Roman" panose="02020603050405020304" pitchFamily="18" charset="0"/>
                <a:cs typeface="Times New Roman" panose="02020603050405020304" pitchFamily="18" charset="0"/>
              </a:rPr>
              <a:t>protecting information and information systems from unauthorized access, use, disclosure, disruption, modification, </a:t>
            </a:r>
            <a:r>
              <a:rPr lang="en-US" sz="2800" b="1" i="1" dirty="0" smtClean="0">
                <a:latin typeface="Times New Roman" panose="02020603050405020304" pitchFamily="18" charset="0"/>
                <a:cs typeface="Times New Roman" panose="02020603050405020304" pitchFamily="18" charset="0"/>
              </a:rPr>
              <a:t>or</a:t>
            </a:r>
            <a:r>
              <a:rPr lang="en-US" sz="2800" b="1" i="1" dirty="0" smtClean="0">
                <a:solidFill>
                  <a:srgbClr val="FF0000"/>
                </a:solidFill>
                <a:latin typeface="Times New Roman" panose="02020603050405020304" pitchFamily="18" charset="0"/>
                <a:cs typeface="Times New Roman" panose="02020603050405020304" pitchFamily="18" charset="0"/>
              </a:rPr>
              <a:t> destruction</a:t>
            </a:r>
            <a:r>
              <a:rPr lang="en-US" sz="2800" b="1" i="1" dirty="0" smtClean="0">
                <a:latin typeface="Times New Roman" panose="02020603050405020304" pitchFamily="18" charset="0"/>
                <a:cs typeface="Times New Roman" panose="02020603050405020304" pitchFamily="18" charset="0"/>
              </a:rPr>
              <a:t>. </a:t>
            </a:r>
            <a:endParaRPr lang="en-US" altLang="en-US" sz="2800" dirty="0"/>
          </a:p>
        </p:txBody>
      </p:sp>
      <p:pic>
        <p:nvPicPr>
          <p:cNvPr id="341004" name="Picture 1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0" y="0"/>
            <a:ext cx="487363" cy="6858000"/>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7BE87484-C1F9-47C2-8299-D5A4732887C1}" type="slidenum">
              <a:rPr lang="en-US" altLang="en-US"/>
              <a:pPr/>
              <a:t>7</a:t>
            </a:fld>
            <a:endParaRPr lang="en-US" altLang="en-US"/>
          </a:p>
        </p:txBody>
      </p:sp>
      <p:sp>
        <p:nvSpPr>
          <p:cNvPr id="341002" name="Rectangle 10"/>
          <p:cNvSpPr>
            <a:spLocks noGrp="1" noChangeArrowheads="1"/>
          </p:cNvSpPr>
          <p:nvPr>
            <p:ph type="title"/>
          </p:nvPr>
        </p:nvSpPr>
        <p:spPr>
          <a:xfrm>
            <a:off x="651448" y="217357"/>
            <a:ext cx="7543800" cy="811343"/>
          </a:xfrm>
        </p:spPr>
        <p:txBody>
          <a:bodyPr/>
          <a:lstStyle/>
          <a:p>
            <a:r>
              <a:rPr lang="en-US" altLang="en-US" sz="3800" dirty="0" smtClean="0"/>
              <a:t>Information Security</a:t>
            </a:r>
            <a:endParaRPr lang="en-US" altLang="en-US" sz="3800" dirty="0"/>
          </a:p>
        </p:txBody>
      </p:sp>
      <p:sp>
        <p:nvSpPr>
          <p:cNvPr id="341003" name="Rectangle 11"/>
          <p:cNvSpPr>
            <a:spLocks noGrp="1" noChangeArrowheads="1"/>
          </p:cNvSpPr>
          <p:nvPr>
            <p:ph type="body" sz="half" idx="1"/>
          </p:nvPr>
        </p:nvSpPr>
        <p:spPr>
          <a:xfrm>
            <a:off x="487363" y="1485900"/>
            <a:ext cx="8001000" cy="5372100"/>
          </a:xfrm>
        </p:spPr>
        <p:txBody>
          <a:bodyPr/>
          <a:lstStyle/>
          <a:p>
            <a:pPr marL="285750" lvl="1" algn="just"/>
            <a:r>
              <a:rPr lang="en-US" dirty="0" smtClean="0">
                <a:latin typeface="Times New Roman" pitchFamily="18" charset="0"/>
                <a:cs typeface="Times New Roman" pitchFamily="18" charset="0"/>
              </a:rPr>
              <a:t>The concepts, techniques, technical measures, and administrative measures used to protect information assets from deliberate or inadvertent(unintended) unauthorized acquisition, damage, disclosure, manipulation, modification, loss, or use.</a:t>
            </a:r>
          </a:p>
          <a:p>
            <a:pPr marL="285750" lvl="1" algn="just"/>
            <a:endParaRPr lang="en-US" dirty="0" smtClean="0">
              <a:latin typeface="Times New Roman" pitchFamily="18" charset="0"/>
              <a:cs typeface="Times New Roman" pitchFamily="18" charset="0"/>
            </a:endParaRPr>
          </a:p>
          <a:p>
            <a:pPr marL="285750" lvl="1" algn="just"/>
            <a:r>
              <a:rPr lang="en-US" dirty="0" smtClean="0">
                <a:latin typeface="Times New Roman" pitchFamily="18" charset="0"/>
                <a:cs typeface="Times New Roman" pitchFamily="18" charset="0"/>
              </a:rPr>
              <a:t>Information security means protecting information and information systems from unauthorized access, use, disclosure, disruption (interruption/disorder), modification or destruction (damage).</a:t>
            </a:r>
          </a:p>
          <a:p>
            <a:pPr eaLnBrk="1" hangingPunct="1"/>
            <a:endParaRPr lang="en-US" dirty="0" smtClean="0"/>
          </a:p>
          <a:p>
            <a:pPr algn="just">
              <a:spcBef>
                <a:spcPct val="100000"/>
              </a:spcBef>
            </a:pPr>
            <a:endParaRPr lang="en-US" altLang="en-US" sz="2800" dirty="0"/>
          </a:p>
        </p:txBody>
      </p:sp>
      <p:pic>
        <p:nvPicPr>
          <p:cNvPr id="341004" name="Picture 1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0" y="0"/>
            <a:ext cx="487363" cy="6858000"/>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Tree>
    <p:extLst>
      <p:ext uri="{BB962C8B-B14F-4D97-AF65-F5344CB8AC3E}">
        <p14:creationId xmlns:p14="http://schemas.microsoft.com/office/powerpoint/2010/main" val="28128206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0F58731E-DBE5-4CA3-9499-0C49516CEAF3}" type="slidenum">
              <a:rPr lang="en-US" altLang="en-US"/>
              <a:pPr/>
              <a:t>8</a:t>
            </a:fld>
            <a:endParaRPr lang="en-US" altLang="en-US"/>
          </a:p>
        </p:txBody>
      </p:sp>
      <p:sp>
        <p:nvSpPr>
          <p:cNvPr id="351240" name="Rectangle 8"/>
          <p:cNvSpPr>
            <a:spLocks noGrp="1" noChangeArrowheads="1"/>
          </p:cNvSpPr>
          <p:nvPr>
            <p:ph type="title"/>
          </p:nvPr>
        </p:nvSpPr>
        <p:spPr/>
        <p:txBody>
          <a:bodyPr/>
          <a:lstStyle/>
          <a:p>
            <a:r>
              <a:rPr lang="en-US" altLang="en-US" sz="3600"/>
              <a:t>What is Information Security?</a:t>
            </a:r>
          </a:p>
        </p:txBody>
      </p:sp>
      <p:sp>
        <p:nvSpPr>
          <p:cNvPr id="351241" name="Rectangle 9"/>
          <p:cNvSpPr>
            <a:spLocks noGrp="1" noChangeArrowheads="1"/>
          </p:cNvSpPr>
          <p:nvPr>
            <p:ph type="body" idx="1"/>
          </p:nvPr>
        </p:nvSpPr>
        <p:spPr>
          <a:xfrm>
            <a:off x="609600" y="1524000"/>
            <a:ext cx="8001000" cy="4800600"/>
          </a:xfrm>
        </p:spPr>
        <p:txBody>
          <a:bodyPr/>
          <a:lstStyle/>
          <a:p>
            <a:pPr>
              <a:spcBef>
                <a:spcPct val="40000"/>
              </a:spcBef>
            </a:pPr>
            <a:r>
              <a:rPr lang="en-US" altLang="en-US" sz="2800" u="sng" dirty="0"/>
              <a:t>The protection of information and its critical elements, including systems and hardware that use, store, and transmit that </a:t>
            </a:r>
            <a:r>
              <a:rPr lang="en-US" altLang="en-US" sz="2800" u="sng" dirty="0" smtClean="0"/>
              <a:t>information.</a:t>
            </a:r>
            <a:r>
              <a:rPr lang="en-US" altLang="en-US" sz="2800" dirty="0" smtClean="0"/>
              <a:t> </a:t>
            </a:r>
            <a:endParaRPr lang="en-US" altLang="en-US" sz="2800" dirty="0"/>
          </a:p>
          <a:p>
            <a:pPr>
              <a:spcBef>
                <a:spcPct val="40000"/>
              </a:spcBef>
            </a:pPr>
            <a:r>
              <a:rPr lang="en-US" altLang="en-US" sz="2800" dirty="0"/>
              <a:t>Necessary tools: policy, awareness, training, education, technology</a:t>
            </a:r>
          </a:p>
          <a:p>
            <a:pPr>
              <a:spcBef>
                <a:spcPct val="40000"/>
              </a:spcBef>
            </a:pPr>
            <a:r>
              <a:rPr lang="en-US" altLang="en-US" sz="2800" dirty="0"/>
              <a:t>C.I.A. triangle was standard based on </a:t>
            </a:r>
            <a:r>
              <a:rPr lang="en-US" altLang="en-US" sz="2800" u="sng" dirty="0"/>
              <a:t>confidentiality</a:t>
            </a:r>
            <a:r>
              <a:rPr lang="en-US" altLang="en-US" sz="2800" dirty="0"/>
              <a:t>, </a:t>
            </a:r>
            <a:r>
              <a:rPr lang="en-US" altLang="en-US" sz="2800" u="sng" dirty="0"/>
              <a:t>integrity</a:t>
            </a:r>
            <a:r>
              <a:rPr lang="en-US" altLang="en-US" sz="2800" dirty="0"/>
              <a:t>, and </a:t>
            </a:r>
            <a:r>
              <a:rPr lang="en-US" altLang="en-US" sz="2800" u="sng" dirty="0"/>
              <a:t>availability</a:t>
            </a:r>
          </a:p>
          <a:p>
            <a:pPr>
              <a:spcBef>
                <a:spcPct val="40000"/>
              </a:spcBef>
            </a:pPr>
            <a:r>
              <a:rPr lang="en-US" altLang="en-US" sz="2800" dirty="0"/>
              <a:t>C.I.A. triangle now expanded into list of critical characteristics of information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85426EF-A3BD-43A9-B4C7-E4D33078A9ED}" type="slidenum">
              <a:rPr lang="en-US" altLang="en-US"/>
              <a:pPr/>
              <a:t>9</a:t>
            </a:fld>
            <a:endParaRPr lang="en-US" altLang="en-US"/>
          </a:p>
        </p:txBody>
      </p:sp>
      <p:pic>
        <p:nvPicPr>
          <p:cNvPr id="485380" name="Picture 4" descr="Fig01-0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657225"/>
            <a:ext cx="7620000" cy="5514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488455" cy="994172"/>
          </a:xfrm>
        </p:spPr>
        <p:txBody>
          <a:bodyPr>
            <a:normAutofit/>
          </a:bodyPr>
          <a:lstStyle/>
          <a:p>
            <a:r>
              <a:rPr lang="en-US" sz="3000" b="1" dirty="0">
                <a:latin typeface="Times New Roman" panose="02020603050405020304" pitchFamily="18" charset="0"/>
                <a:cs typeface="Times New Roman" panose="02020603050405020304" pitchFamily="18" charset="0"/>
              </a:rPr>
              <a:t>The confidentiality, integrity, and availability triad </a:t>
            </a:r>
          </a:p>
        </p:txBody>
      </p:sp>
      <p:sp>
        <p:nvSpPr>
          <p:cNvPr id="3" name="Content Placeholder 2"/>
          <p:cNvSpPr>
            <a:spLocks noGrp="1"/>
          </p:cNvSpPr>
          <p:nvPr>
            <p:ph idx="1"/>
          </p:nvPr>
        </p:nvSpPr>
        <p:spPr>
          <a:xfrm>
            <a:off x="609600" y="1990802"/>
            <a:ext cx="4572000" cy="2809798"/>
          </a:xfrm>
        </p:spPr>
        <p:txBody>
          <a:bodyPr>
            <a:normAutofit/>
          </a:bodyPr>
          <a:lstStyle/>
          <a:p>
            <a:pPr algn="just"/>
            <a:r>
              <a:rPr lang="en-US" sz="2800" dirty="0">
                <a:latin typeface="Times New Roman" panose="02020603050405020304" pitchFamily="18" charset="0"/>
                <a:cs typeface="Times New Roman" panose="02020603050405020304" pitchFamily="18" charset="0"/>
              </a:rPr>
              <a:t>Three of the primary concepts in information security are </a:t>
            </a:r>
            <a:r>
              <a:rPr lang="en-US" sz="2800" dirty="0" smtClean="0">
                <a:latin typeface="Times New Roman" panose="02020603050405020304" pitchFamily="18" charset="0"/>
                <a:cs typeface="Times New Roman" panose="02020603050405020304" pitchFamily="18" charset="0"/>
              </a:rPr>
              <a:t>Confidentiality, Integrity, and Availability</a:t>
            </a:r>
          </a:p>
          <a:p>
            <a:pPr algn="just"/>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3"/>
          <a:srcRect l="31053" t="16256" r="35152" b="24792"/>
          <a:stretch/>
        </p:blipFill>
        <p:spPr>
          <a:xfrm>
            <a:off x="5334000" y="2362200"/>
            <a:ext cx="3297892" cy="3065930"/>
          </a:xfrm>
          <a:prstGeom prst="rect">
            <a:avLst/>
          </a:prstGeom>
        </p:spPr>
      </p:pic>
    </p:spTree>
    <p:extLst>
      <p:ext uri="{BB962C8B-B14F-4D97-AF65-F5344CB8AC3E}">
        <p14:creationId xmlns:p14="http://schemas.microsoft.com/office/powerpoint/2010/main" val="35191162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685800" y="304800"/>
            <a:ext cx="7543800" cy="838200"/>
          </a:xfrm>
        </p:spPr>
        <p:txBody>
          <a:bodyPr>
            <a:normAutofit/>
          </a:bodyPr>
          <a:lstStyle/>
          <a:p>
            <a:pPr eaLnBrk="1" fontAlgn="auto" hangingPunct="1">
              <a:spcAft>
                <a:spcPts val="0"/>
              </a:spcAft>
              <a:defRPr/>
            </a:pPr>
            <a:r>
              <a:rPr lang="en-US" sz="3800" b="1" dirty="0" smtClean="0">
                <a:solidFill>
                  <a:schemeClr val="bg1"/>
                </a:solidFill>
                <a:latin typeface="Times New Roman" pitchFamily="18" charset="0"/>
                <a:cs typeface="Times New Roman" pitchFamily="18" charset="0"/>
              </a:rPr>
              <a:t>When is any System Secure?</a:t>
            </a:r>
            <a:endParaRPr lang="en-US" sz="3800" b="1" dirty="0">
              <a:solidFill>
                <a:schemeClr val="bg1"/>
              </a:solidFill>
              <a:latin typeface="Times New Roman" pitchFamily="18" charset="0"/>
              <a:cs typeface="Times New Roman" pitchFamily="18" charset="0"/>
            </a:endParaRPr>
          </a:p>
        </p:txBody>
      </p:sp>
      <p:sp>
        <p:nvSpPr>
          <p:cNvPr id="36867" name="Content Placeholder 2"/>
          <p:cNvSpPr>
            <a:spLocks noGrp="1"/>
          </p:cNvSpPr>
          <p:nvPr>
            <p:ph idx="1"/>
          </p:nvPr>
        </p:nvSpPr>
        <p:spPr/>
        <p:txBody>
          <a:bodyPr>
            <a:normAutofit fontScale="92500" lnSpcReduction="10000"/>
          </a:bodyPr>
          <a:lstStyle/>
          <a:p>
            <a:pPr algn="just" rtl="0" eaLnBrk="1" hangingPunct="1"/>
            <a:r>
              <a:rPr lang="en-US" altLang="zh-CN" b="1" dirty="0" smtClean="0">
                <a:latin typeface="Times New Roman" pitchFamily="18" charset="0"/>
                <a:cs typeface="Times New Roman" pitchFamily="18" charset="0"/>
              </a:rPr>
              <a:t>Confidentiality: </a:t>
            </a:r>
            <a:r>
              <a:rPr lang="en-US" altLang="zh-CN" dirty="0" smtClean="0">
                <a:latin typeface="Times New Roman" pitchFamily="18" charset="0"/>
                <a:cs typeface="Times New Roman" pitchFamily="18" charset="0"/>
              </a:rPr>
              <a:t>computer-related assets are accessed only by authorized parties. Confidentiality is sometimes called secrecy or privacy </a:t>
            </a:r>
          </a:p>
          <a:p>
            <a:pPr lvl="1" algn="just" rtl="0" eaLnBrk="1" hangingPunct="1"/>
            <a:endParaRPr lang="en-US" altLang="zh-CN" dirty="0" smtClean="0">
              <a:latin typeface="Times New Roman" pitchFamily="18" charset="0"/>
              <a:cs typeface="Times New Roman" pitchFamily="18" charset="0"/>
            </a:endParaRPr>
          </a:p>
          <a:p>
            <a:pPr algn="just" rtl="0" eaLnBrk="1" hangingPunct="1"/>
            <a:r>
              <a:rPr lang="en-US" altLang="zh-CN" b="1" dirty="0" smtClean="0">
                <a:latin typeface="Times New Roman" pitchFamily="18" charset="0"/>
                <a:cs typeface="Times New Roman" pitchFamily="18" charset="0"/>
              </a:rPr>
              <a:t>Integrity: </a:t>
            </a:r>
            <a:r>
              <a:rPr lang="en-US" altLang="zh-CN" dirty="0" smtClean="0">
                <a:latin typeface="Times New Roman" pitchFamily="18" charset="0"/>
                <a:cs typeface="Times New Roman" pitchFamily="18" charset="0"/>
              </a:rPr>
              <a:t>assets can be modified only by authorized parties or only in authorized ways </a:t>
            </a:r>
          </a:p>
          <a:p>
            <a:pPr lvl="1" algn="just" rtl="0" eaLnBrk="1" hangingPunct="1"/>
            <a:endParaRPr lang="en-US" altLang="zh-CN" dirty="0" smtClean="0">
              <a:latin typeface="Times New Roman" pitchFamily="18" charset="0"/>
              <a:cs typeface="Times New Roman" pitchFamily="18" charset="0"/>
            </a:endParaRPr>
          </a:p>
          <a:p>
            <a:pPr algn="just" rtl="0" eaLnBrk="1" hangingPunct="1"/>
            <a:r>
              <a:rPr lang="en-US" altLang="zh-CN" b="1" dirty="0" smtClean="0">
                <a:latin typeface="Times New Roman" pitchFamily="18" charset="0"/>
                <a:cs typeface="Times New Roman" pitchFamily="18" charset="0"/>
              </a:rPr>
              <a:t>Availability: </a:t>
            </a:r>
            <a:r>
              <a:rPr lang="en-US" altLang="zh-CN" dirty="0" smtClean="0">
                <a:latin typeface="Times New Roman" pitchFamily="18" charset="0"/>
                <a:cs typeface="Times New Roman" pitchFamily="18" charset="0"/>
              </a:rPr>
              <a:t>assets are accessible to authorized parties at appropriate times </a:t>
            </a:r>
            <a:endParaRPr lang="en-US" dirty="0" smtClean="0">
              <a:latin typeface="Times New Roman" pitchFamily="18" charset="0"/>
              <a:cs typeface="Times New Roman" pitchFamily="18" charset="0"/>
            </a:endParaRPr>
          </a:p>
          <a:p>
            <a:pPr eaLnBrk="1" hangingPunct="1"/>
            <a:endParaRPr lang="en-US" dirty="0" smtClean="0"/>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6F4A32F0-4DC3-4AD1-83AF-6DF4787AE902}" type="slidenum">
              <a:rPr lang="ar-SA">
                <a:solidFill>
                  <a:srgbClr val="CBA523"/>
                </a:solidFill>
                <a:cs typeface="Arial" charset="0"/>
              </a:rPr>
              <a:pPr fontAlgn="base">
                <a:spcBef>
                  <a:spcPct val="0"/>
                </a:spcBef>
                <a:spcAft>
                  <a:spcPct val="0"/>
                </a:spcAft>
                <a:defRPr/>
              </a:pPr>
              <a:t>11</a:t>
            </a:fld>
            <a:endParaRPr lang="en-US" dirty="0">
              <a:solidFill>
                <a:srgbClr val="CBA523"/>
              </a:solidFill>
              <a:cs typeface="Arial" charset="0"/>
            </a:endParaRPr>
          </a:p>
        </p:txBody>
      </p:sp>
    </p:spTree>
    <p:extLst>
      <p:ext uri="{BB962C8B-B14F-4D97-AF65-F5344CB8AC3E}">
        <p14:creationId xmlns:p14="http://schemas.microsoft.com/office/powerpoint/2010/main" val="10462876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85800" y="152400"/>
            <a:ext cx="7543800" cy="1143000"/>
          </a:xfrm>
        </p:spPr>
        <p:txBody>
          <a:bodyPr>
            <a:normAutofit/>
          </a:bodyPr>
          <a:lstStyle/>
          <a:p>
            <a:pPr algn="ctr" eaLnBrk="1" fontAlgn="auto" hangingPunct="1">
              <a:spcAft>
                <a:spcPts val="0"/>
              </a:spcAft>
              <a:defRPr/>
            </a:pPr>
            <a:r>
              <a:rPr lang="en-US" sz="3800" b="1" dirty="0" smtClean="0">
                <a:solidFill>
                  <a:schemeClr val="bg1"/>
                </a:solidFill>
                <a:latin typeface="Times New Roman" pitchFamily="18" charset="0"/>
                <a:cs typeface="Times New Roman" pitchFamily="18" charset="0"/>
              </a:rPr>
              <a:t>When is any System Secure</a:t>
            </a:r>
            <a:endParaRPr lang="en-US" sz="3800" b="1" dirty="0">
              <a:solidFill>
                <a:schemeClr val="bg1"/>
              </a:solidFill>
              <a:latin typeface="Times New Roman" pitchFamily="18" charset="0"/>
              <a:cs typeface="Times New Roman" pitchFamily="18" charset="0"/>
            </a:endParaRPr>
          </a:p>
        </p:txBody>
      </p:sp>
      <p:pic>
        <p:nvPicPr>
          <p:cNvPr id="35843" name="Content Placeholder 3" descr="01fig03"/>
          <p:cNvPicPr>
            <a:picLocks noGrp="1" noChangeAspect="1" noChangeArrowheads="1"/>
          </p:cNvPicPr>
          <p:nvPr>
            <p:ph idx="1"/>
          </p:nvPr>
        </p:nvPicPr>
        <p:blipFill>
          <a:blip r:embed="rId2" cstate="print">
            <a:clrChange>
              <a:clrFrom>
                <a:srgbClr val="FFFFFF"/>
              </a:clrFrom>
              <a:clrTo>
                <a:srgbClr val="FFFFFF">
                  <a:alpha val="0"/>
                </a:srgbClr>
              </a:clrTo>
            </a:clrChange>
          </a:blip>
          <a:stretch>
            <a:fillRect/>
          </a:stretch>
        </p:blipFill>
        <p:spPr>
          <a:xfrm>
            <a:off x="2652712" y="1872456"/>
            <a:ext cx="3838575" cy="3981450"/>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52CD8656-3AD4-4D13-8606-BC2222601841}" type="slidenum">
              <a:rPr lang="ar-SA">
                <a:solidFill>
                  <a:srgbClr val="CBA523"/>
                </a:solidFill>
                <a:cs typeface="Arial" charset="0"/>
              </a:rPr>
              <a:pPr fontAlgn="base">
                <a:spcBef>
                  <a:spcPct val="0"/>
                </a:spcBef>
                <a:spcAft>
                  <a:spcPct val="0"/>
                </a:spcAft>
                <a:defRPr/>
              </a:pPr>
              <a:t>12</a:t>
            </a:fld>
            <a:endParaRPr lang="en-US" dirty="0">
              <a:solidFill>
                <a:srgbClr val="CBA523"/>
              </a:solidFill>
              <a:cs typeface="Arial" charset="0"/>
            </a:endParaRPr>
          </a:p>
        </p:txBody>
      </p:sp>
    </p:spTree>
    <p:extLst>
      <p:ext uri="{BB962C8B-B14F-4D97-AF65-F5344CB8AC3E}">
        <p14:creationId xmlns:p14="http://schemas.microsoft.com/office/powerpoint/2010/main" val="8632198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7"/>
          <p:cNvSpPr>
            <a:spLocks noGrp="1"/>
          </p:cNvSpPr>
          <p:nvPr>
            <p:ph type="title"/>
          </p:nvPr>
        </p:nvSpPr>
        <p:spPr/>
        <p:txBody>
          <a:bodyPr/>
          <a:lstStyle/>
          <a:p>
            <a:pPr eaLnBrk="1" hangingPunct="1"/>
            <a:r>
              <a:rPr lang="en-US" sz="3800" b="1" dirty="0" smtClean="0">
                <a:solidFill>
                  <a:schemeClr val="bg1"/>
                </a:solidFill>
                <a:latin typeface="Times New Roman" pitchFamily="18" charset="0"/>
                <a:cs typeface="Times New Roman" pitchFamily="18" charset="0"/>
              </a:rPr>
              <a:t>Confidentiality</a:t>
            </a:r>
          </a:p>
        </p:txBody>
      </p:sp>
      <p:sp>
        <p:nvSpPr>
          <p:cNvPr id="37891" name="Rectangle 3"/>
          <p:cNvSpPr>
            <a:spLocks noGrp="1" noChangeArrowheads="1"/>
          </p:cNvSpPr>
          <p:nvPr>
            <p:ph idx="1"/>
          </p:nvPr>
        </p:nvSpPr>
        <p:spPr/>
        <p:txBody>
          <a:bodyPr/>
          <a:lstStyle/>
          <a:p>
            <a:pPr algn="just" rtl="0" eaLnBrk="1" hangingPunct="1"/>
            <a:r>
              <a:rPr lang="en-US" dirty="0" smtClean="0">
                <a:latin typeface="Times New Roman" pitchFamily="18" charset="0"/>
                <a:cs typeface="Times New Roman" pitchFamily="18" charset="0"/>
              </a:rPr>
              <a:t>It is not trivial to ensure confidentiality. For example,</a:t>
            </a:r>
          </a:p>
          <a:p>
            <a:pPr lvl="1" algn="just" rtl="0" eaLnBrk="1" hangingPunct="1">
              <a:buFont typeface="Wingdings" pitchFamily="2" charset="2"/>
              <a:buChar char="Ø"/>
            </a:pPr>
            <a:r>
              <a:rPr lang="en-US" dirty="0" smtClean="0">
                <a:latin typeface="Times New Roman" pitchFamily="18" charset="0"/>
                <a:cs typeface="Times New Roman" pitchFamily="18" charset="0"/>
              </a:rPr>
              <a:t>Who determines which people or systems are authorized to access the current system? </a:t>
            </a:r>
          </a:p>
          <a:p>
            <a:pPr lvl="1" algn="just" rtl="0" eaLnBrk="1" hangingPunct="1">
              <a:buFont typeface="Wingdings" pitchFamily="2" charset="2"/>
              <a:buChar char="Ø"/>
            </a:pPr>
            <a:r>
              <a:rPr lang="en-US" dirty="0" smtClean="0">
                <a:latin typeface="Times New Roman" pitchFamily="18" charset="0"/>
                <a:cs typeface="Times New Roman" pitchFamily="18" charset="0"/>
              </a:rPr>
              <a:t>By "accessing" data, do we mean that an authorized party can access a single bit? pieces of data out of context? </a:t>
            </a:r>
          </a:p>
          <a:p>
            <a:pPr lvl="1" algn="just" rtl="0" eaLnBrk="1" hangingPunct="1">
              <a:buFont typeface="Wingdings" pitchFamily="2" charset="2"/>
              <a:buChar char="Ø"/>
            </a:pPr>
            <a:r>
              <a:rPr lang="en-US" dirty="0" smtClean="0">
                <a:latin typeface="Times New Roman" pitchFamily="18" charset="0"/>
                <a:cs typeface="Times New Roman" pitchFamily="18" charset="0"/>
              </a:rPr>
              <a:t>Can someone who is authorized disclose those data to other parties?</a:t>
            </a: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D87F20A3-3D7E-4D92-BCED-32B255064607}" type="slidenum">
              <a:rPr lang="ar-SA">
                <a:solidFill>
                  <a:srgbClr val="CBA523"/>
                </a:solidFill>
                <a:cs typeface="Arial" charset="0"/>
              </a:rPr>
              <a:pPr fontAlgn="base">
                <a:spcBef>
                  <a:spcPct val="0"/>
                </a:spcBef>
                <a:spcAft>
                  <a:spcPct val="0"/>
                </a:spcAft>
                <a:defRPr/>
              </a:pPr>
              <a:t>13</a:t>
            </a:fld>
            <a:endParaRPr lang="en-US" dirty="0">
              <a:solidFill>
                <a:srgbClr val="CBA523"/>
              </a:solidFill>
              <a:cs typeface="Arial" charset="0"/>
            </a:endParaRPr>
          </a:p>
        </p:txBody>
      </p:sp>
    </p:spTree>
    <p:extLst>
      <p:ext uri="{BB962C8B-B14F-4D97-AF65-F5344CB8AC3E}">
        <p14:creationId xmlns:p14="http://schemas.microsoft.com/office/powerpoint/2010/main" val="34515061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7"/>
          <p:cNvSpPr>
            <a:spLocks noGrp="1"/>
          </p:cNvSpPr>
          <p:nvPr>
            <p:ph type="title"/>
          </p:nvPr>
        </p:nvSpPr>
        <p:spPr/>
        <p:txBody>
          <a:bodyPr/>
          <a:lstStyle/>
          <a:p>
            <a:pPr eaLnBrk="1" hangingPunct="1"/>
            <a:r>
              <a:rPr lang="en-US" sz="3800" b="1" dirty="0" smtClean="0">
                <a:solidFill>
                  <a:schemeClr val="bg1"/>
                </a:solidFill>
                <a:latin typeface="Times New Roman" pitchFamily="18" charset="0"/>
                <a:cs typeface="Times New Roman" pitchFamily="18" charset="0"/>
              </a:rPr>
              <a:t>Integrity</a:t>
            </a:r>
          </a:p>
        </p:txBody>
      </p:sp>
      <p:sp>
        <p:nvSpPr>
          <p:cNvPr id="38915" name="Rectangle 3"/>
          <p:cNvSpPr>
            <a:spLocks noGrp="1" noChangeArrowheads="1"/>
          </p:cNvSpPr>
          <p:nvPr>
            <p:ph idx="1"/>
          </p:nvPr>
        </p:nvSpPr>
        <p:spPr/>
        <p:txBody>
          <a:bodyPr>
            <a:normAutofit fontScale="92500" lnSpcReduction="20000"/>
          </a:bodyPr>
          <a:lstStyle/>
          <a:p>
            <a:pPr algn="just" rtl="0" eaLnBrk="1" hangingPunct="1"/>
            <a:r>
              <a:rPr lang="en-US" altLang="zh-CN" dirty="0" smtClean="0">
                <a:latin typeface="Times New Roman" pitchFamily="18" charset="0"/>
                <a:cs typeface="Times New Roman" pitchFamily="18" charset="0"/>
              </a:rPr>
              <a:t>It is much harder to ensure integrity. One reason is that integrity means different things in different context</a:t>
            </a:r>
          </a:p>
          <a:p>
            <a:pPr algn="just" rtl="0" eaLnBrk="1" hangingPunct="1"/>
            <a:r>
              <a:rPr lang="en-US" dirty="0" smtClean="0">
                <a:latin typeface="Times New Roman" pitchFamily="18" charset="0"/>
                <a:cs typeface="Times New Roman" pitchFamily="18" charset="0"/>
              </a:rPr>
              <a:t>For example, if we say that we have preserved the integrity of an item, we may mean that the item is:</a:t>
            </a:r>
          </a:p>
          <a:p>
            <a:pPr lvl="1" algn="just" rtl="0" eaLnBrk="1" hangingPunct="1">
              <a:buFont typeface="Wingdings" pitchFamily="2" charset="2"/>
              <a:buChar char="Ø"/>
            </a:pPr>
            <a:r>
              <a:rPr lang="en-US" dirty="0" smtClean="0">
                <a:latin typeface="Times New Roman" pitchFamily="18" charset="0"/>
                <a:cs typeface="Times New Roman" pitchFamily="18" charset="0"/>
              </a:rPr>
              <a:t>precise</a:t>
            </a:r>
          </a:p>
          <a:p>
            <a:pPr lvl="1" algn="just" rtl="0" eaLnBrk="1" hangingPunct="1">
              <a:buFont typeface="Wingdings" pitchFamily="2" charset="2"/>
              <a:buChar char="Ø"/>
            </a:pPr>
            <a:r>
              <a:rPr lang="en-US" dirty="0" smtClean="0">
                <a:latin typeface="Times New Roman" pitchFamily="18" charset="0"/>
                <a:cs typeface="Times New Roman" pitchFamily="18" charset="0"/>
              </a:rPr>
              <a:t>accurate</a:t>
            </a:r>
          </a:p>
          <a:p>
            <a:pPr lvl="1" algn="just" rtl="0" eaLnBrk="1" hangingPunct="1">
              <a:buFont typeface="Wingdings" pitchFamily="2" charset="2"/>
              <a:buChar char="Ø"/>
            </a:pPr>
            <a:r>
              <a:rPr lang="en-US" dirty="0" smtClean="0">
                <a:latin typeface="Times New Roman" pitchFamily="18" charset="0"/>
                <a:cs typeface="Times New Roman" pitchFamily="18" charset="0"/>
              </a:rPr>
              <a:t>unmodified</a:t>
            </a:r>
          </a:p>
          <a:p>
            <a:pPr lvl="1" algn="just" rtl="0" eaLnBrk="1" hangingPunct="1">
              <a:buFont typeface="Wingdings" pitchFamily="2" charset="2"/>
              <a:buChar char="Ø"/>
            </a:pPr>
            <a:r>
              <a:rPr lang="en-US" dirty="0" smtClean="0">
                <a:latin typeface="Times New Roman" pitchFamily="18" charset="0"/>
                <a:cs typeface="Times New Roman" pitchFamily="18" charset="0"/>
              </a:rPr>
              <a:t>modified only in acceptable ways </a:t>
            </a:r>
          </a:p>
          <a:p>
            <a:pPr lvl="1" algn="just" rtl="0" eaLnBrk="1" hangingPunct="1">
              <a:buFont typeface="Wingdings" pitchFamily="2" charset="2"/>
              <a:buChar char="Ø"/>
            </a:pPr>
            <a:r>
              <a:rPr lang="en-US" dirty="0" smtClean="0">
                <a:latin typeface="Times New Roman" pitchFamily="18" charset="0"/>
                <a:cs typeface="Times New Roman" pitchFamily="18" charset="0"/>
              </a:rPr>
              <a:t>modified only by authorized people and processes</a:t>
            </a:r>
          </a:p>
          <a:p>
            <a:pPr lvl="1" algn="just" rtl="0" eaLnBrk="1" hangingPunct="1">
              <a:buFont typeface="Wingdings" pitchFamily="2" charset="2"/>
              <a:buChar char="Ø"/>
            </a:pPr>
            <a:r>
              <a:rPr lang="en-US" dirty="0" smtClean="0">
                <a:latin typeface="Times New Roman" pitchFamily="18" charset="0"/>
                <a:cs typeface="Times New Roman" pitchFamily="18" charset="0"/>
              </a:rPr>
              <a:t>consistent</a:t>
            </a: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E969A7B4-EE1E-42B2-86D1-A2756A4A257F}" type="slidenum">
              <a:rPr lang="ar-SA">
                <a:solidFill>
                  <a:srgbClr val="CBA523"/>
                </a:solidFill>
                <a:cs typeface="Arial" charset="0"/>
              </a:rPr>
              <a:pPr fontAlgn="base">
                <a:spcBef>
                  <a:spcPct val="0"/>
                </a:spcBef>
                <a:spcAft>
                  <a:spcPct val="0"/>
                </a:spcAft>
                <a:defRPr/>
              </a:pPr>
              <a:t>14</a:t>
            </a:fld>
            <a:endParaRPr lang="en-US" dirty="0">
              <a:solidFill>
                <a:srgbClr val="CBA523"/>
              </a:solidFill>
              <a:cs typeface="Arial" charset="0"/>
            </a:endParaRPr>
          </a:p>
        </p:txBody>
      </p:sp>
    </p:spTree>
    <p:extLst>
      <p:ext uri="{BB962C8B-B14F-4D97-AF65-F5344CB8AC3E}">
        <p14:creationId xmlns:p14="http://schemas.microsoft.com/office/powerpoint/2010/main" val="39249440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7"/>
          <p:cNvSpPr>
            <a:spLocks noGrp="1"/>
          </p:cNvSpPr>
          <p:nvPr>
            <p:ph type="title"/>
          </p:nvPr>
        </p:nvSpPr>
        <p:spPr/>
        <p:txBody>
          <a:bodyPr/>
          <a:lstStyle/>
          <a:p>
            <a:pPr eaLnBrk="1" hangingPunct="1"/>
            <a:r>
              <a:rPr lang="en-US" sz="3800" b="1" dirty="0" smtClean="0">
                <a:solidFill>
                  <a:schemeClr val="bg1"/>
                </a:solidFill>
                <a:latin typeface="Times New Roman" pitchFamily="18" charset="0"/>
                <a:cs typeface="Times New Roman" pitchFamily="18" charset="0"/>
              </a:rPr>
              <a:t>Availability</a:t>
            </a:r>
          </a:p>
        </p:txBody>
      </p:sp>
      <p:sp>
        <p:nvSpPr>
          <p:cNvPr id="18435" name="Rectangle 3"/>
          <p:cNvSpPr>
            <a:spLocks noGrp="1" noChangeArrowheads="1"/>
          </p:cNvSpPr>
          <p:nvPr>
            <p:ph idx="1"/>
          </p:nvPr>
        </p:nvSpPr>
        <p:spPr/>
        <p:txBody>
          <a:bodyPr>
            <a:normAutofit fontScale="85000" lnSpcReduction="20000"/>
          </a:bodyPr>
          <a:lstStyle/>
          <a:p>
            <a:pPr marL="274320" indent="-274320" algn="just" rtl="0" eaLnBrk="1" fontAlgn="auto" hangingPunct="1">
              <a:spcAft>
                <a:spcPts val="0"/>
              </a:spcAft>
              <a:buFont typeface="Wingdings 2"/>
              <a:buChar char=""/>
              <a:defRPr/>
            </a:pPr>
            <a:r>
              <a:rPr lang="en-US" altLang="zh-CN" dirty="0" smtClean="0">
                <a:latin typeface="Times New Roman" pitchFamily="18" charset="0"/>
                <a:cs typeface="Times New Roman" pitchFamily="18" charset="0"/>
              </a:rPr>
              <a:t>Availability applies both to data and to services (i.e., to information and to information processing), and it is similarly complex</a:t>
            </a:r>
          </a:p>
          <a:p>
            <a:pPr marL="274320" indent="-274320" algn="just" rtl="0" eaLnBrk="1" fontAlgn="auto" hangingPunct="1">
              <a:spcAft>
                <a:spcPts val="0"/>
              </a:spcAft>
              <a:buFont typeface="Wingdings 2"/>
              <a:buChar char=""/>
              <a:defRPr/>
            </a:pPr>
            <a:r>
              <a:rPr lang="en-US" dirty="0" smtClean="0">
                <a:latin typeface="Times New Roman" pitchFamily="18" charset="0"/>
                <a:cs typeface="Times New Roman" pitchFamily="18" charset="0"/>
              </a:rPr>
              <a:t>We say a data item, service, or system is available if</a:t>
            </a:r>
          </a:p>
          <a:p>
            <a:pPr marL="548640" lvl="1" indent="-274320" algn="just"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There is a timely response to our request</a:t>
            </a:r>
          </a:p>
          <a:p>
            <a:pPr marL="548640" lvl="1" indent="-274320" algn="just"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There is a fair allocation of resources, so that some requesters are not favored over others</a:t>
            </a:r>
          </a:p>
          <a:p>
            <a:pPr marL="548640" lvl="1" indent="-274320" algn="just"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The service or system involved are fault tolerant - hardware or software faults lead to graceful cessation of service or to work-a rounds rather than to crashes and abrupt loss of information</a:t>
            </a:r>
          </a:p>
          <a:p>
            <a:pPr marL="548640" lvl="1" indent="-274320" algn="just"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The service or system can be used easily and in the way it was intended to be used</a:t>
            </a: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902CD6EA-D6DF-4737-9771-9C027D76DEE5}" type="slidenum">
              <a:rPr lang="ar-SA">
                <a:solidFill>
                  <a:srgbClr val="CBA523"/>
                </a:solidFill>
                <a:cs typeface="Arial" charset="0"/>
              </a:rPr>
              <a:pPr fontAlgn="base">
                <a:spcBef>
                  <a:spcPct val="0"/>
                </a:spcBef>
                <a:spcAft>
                  <a:spcPct val="0"/>
                </a:spcAft>
                <a:defRPr/>
              </a:pPr>
              <a:t>15</a:t>
            </a:fld>
            <a:endParaRPr lang="en-US" dirty="0">
              <a:solidFill>
                <a:srgbClr val="CBA523"/>
              </a:solidFill>
              <a:cs typeface="Arial" charset="0"/>
            </a:endParaRPr>
          </a:p>
        </p:txBody>
      </p:sp>
    </p:spTree>
    <p:extLst>
      <p:ext uri="{BB962C8B-B14F-4D97-AF65-F5344CB8AC3E}">
        <p14:creationId xmlns:p14="http://schemas.microsoft.com/office/powerpoint/2010/main" val="30016844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7"/>
          <p:cNvSpPr>
            <a:spLocks noGrp="1"/>
          </p:cNvSpPr>
          <p:nvPr>
            <p:ph type="title"/>
          </p:nvPr>
        </p:nvSpPr>
        <p:spPr/>
        <p:txBody>
          <a:bodyPr/>
          <a:lstStyle/>
          <a:p>
            <a:pPr eaLnBrk="1" hangingPunct="1"/>
            <a:r>
              <a:rPr lang="en-US" sz="3800" b="1" dirty="0" smtClean="0">
                <a:solidFill>
                  <a:schemeClr val="bg1"/>
                </a:solidFill>
                <a:latin typeface="Times New Roman" pitchFamily="18" charset="0"/>
                <a:cs typeface="Times New Roman" pitchFamily="18" charset="0"/>
              </a:rPr>
              <a:t>Availability</a:t>
            </a:r>
          </a:p>
        </p:txBody>
      </p:sp>
      <p:sp>
        <p:nvSpPr>
          <p:cNvPr id="41987" name="Rectangle 3"/>
          <p:cNvSpPr>
            <a:spLocks noGrp="1" noChangeArrowheads="1"/>
          </p:cNvSpPr>
          <p:nvPr>
            <p:ph idx="1"/>
          </p:nvPr>
        </p:nvSpPr>
        <p:spPr/>
        <p:txBody>
          <a:bodyPr>
            <a:normAutofit fontScale="92500" lnSpcReduction="10000"/>
          </a:bodyPr>
          <a:lstStyle/>
          <a:p>
            <a:pPr algn="just" rtl="0" eaLnBrk="1" hangingPunct="1"/>
            <a:r>
              <a:rPr lang="en-US" altLang="zh-CN" dirty="0" smtClean="0">
                <a:latin typeface="Times New Roman" pitchFamily="18" charset="0"/>
                <a:cs typeface="Times New Roman" pitchFamily="18" charset="0"/>
              </a:rPr>
              <a:t>The security community is just beginning to understand what availability implies and how to ensure it</a:t>
            </a:r>
          </a:p>
          <a:p>
            <a:pPr algn="just" rtl="0" eaLnBrk="1" hangingPunct="1"/>
            <a:r>
              <a:rPr lang="en-US" altLang="zh-CN" dirty="0" smtClean="0">
                <a:latin typeface="Times New Roman" pitchFamily="18" charset="0"/>
                <a:cs typeface="Times New Roman" pitchFamily="18" charset="0"/>
              </a:rPr>
              <a:t>A small, centralized control of access is fundamental to preserving confidentiality and integrity, but it is not clear that a single access control point can enforce availability</a:t>
            </a:r>
          </a:p>
          <a:p>
            <a:pPr algn="just" rtl="0" eaLnBrk="1" hangingPunct="1"/>
            <a:r>
              <a:rPr lang="en-US" altLang="zh-CN" dirty="0" smtClean="0">
                <a:latin typeface="Times New Roman" pitchFamily="18" charset="0"/>
                <a:cs typeface="Times New Roman" pitchFamily="18" charset="0"/>
              </a:rPr>
              <a:t>Much of computer security's past success has focused on confidentiality and integrity; full implementation of </a:t>
            </a:r>
            <a:r>
              <a:rPr lang="en-US" altLang="zh-CN" u="sng" dirty="0" smtClean="0">
                <a:latin typeface="Times New Roman" pitchFamily="18" charset="0"/>
                <a:cs typeface="Times New Roman" pitchFamily="18" charset="0"/>
              </a:rPr>
              <a:t>availability is security's next great challenge </a:t>
            </a:r>
            <a:endParaRPr lang="en-US" u="sng" dirty="0" smtClean="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41414A07-3353-4AC2-8B13-943C6CE7B2CD}" type="slidenum">
              <a:rPr lang="ar-SA">
                <a:solidFill>
                  <a:srgbClr val="CBA523"/>
                </a:solidFill>
                <a:cs typeface="Arial" charset="0"/>
              </a:rPr>
              <a:pPr fontAlgn="base">
                <a:spcBef>
                  <a:spcPct val="0"/>
                </a:spcBef>
                <a:spcAft>
                  <a:spcPct val="0"/>
                </a:spcAft>
                <a:defRPr/>
              </a:pPr>
              <a:t>16</a:t>
            </a:fld>
            <a:endParaRPr lang="en-US" dirty="0">
              <a:solidFill>
                <a:srgbClr val="CBA523"/>
              </a:solidFill>
              <a:cs typeface="Arial" charset="0"/>
            </a:endParaRPr>
          </a:p>
        </p:txBody>
      </p:sp>
    </p:spTree>
    <p:extLst>
      <p:ext uri="{BB962C8B-B14F-4D97-AF65-F5344CB8AC3E}">
        <p14:creationId xmlns:p14="http://schemas.microsoft.com/office/powerpoint/2010/main" val="14948961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eaLnBrk="1" fontAlgn="auto" hangingPunct="1">
              <a:spcAft>
                <a:spcPts val="0"/>
              </a:spcAft>
              <a:defRPr/>
            </a:pPr>
            <a:r>
              <a:rPr lang="en-US" sz="3800" b="1" dirty="0" smtClean="0">
                <a:solidFill>
                  <a:schemeClr val="bg1"/>
                </a:solidFill>
                <a:latin typeface="Times New Roman" pitchFamily="18" charset="0"/>
                <a:cs typeface="Times New Roman" pitchFamily="18" charset="0"/>
              </a:rPr>
              <a:t>Relationship of Security Goals</a:t>
            </a:r>
            <a:endParaRPr lang="en-US" sz="3800" b="1" dirty="0">
              <a:solidFill>
                <a:schemeClr val="bg1"/>
              </a:solidFill>
              <a:latin typeface="Times New Roman" pitchFamily="18" charset="0"/>
              <a:cs typeface="Times New Roman" pitchFamily="18" charset="0"/>
            </a:endParaRPr>
          </a:p>
        </p:txBody>
      </p:sp>
      <p:sp>
        <p:nvSpPr>
          <p:cNvPr id="43011" name="Content Placeholder 2"/>
          <p:cNvSpPr>
            <a:spLocks noGrp="1"/>
          </p:cNvSpPr>
          <p:nvPr>
            <p:ph idx="1"/>
          </p:nvPr>
        </p:nvSpPr>
        <p:spPr/>
        <p:txBody>
          <a:bodyPr>
            <a:normAutofit fontScale="92500" lnSpcReduction="10000"/>
          </a:bodyPr>
          <a:lstStyle/>
          <a:p>
            <a:pPr algn="l" rtl="0" eaLnBrk="1" hangingPunct="1"/>
            <a:r>
              <a:rPr lang="en-US" altLang="zh-CN" dirty="0" smtClean="0">
                <a:latin typeface="Times New Roman" pitchFamily="18" charset="0"/>
                <a:cs typeface="Times New Roman" pitchFamily="18" charset="0"/>
              </a:rPr>
              <a:t>A secure system must meet all three requirements.</a:t>
            </a:r>
          </a:p>
          <a:p>
            <a:pPr algn="l" rtl="0" eaLnBrk="1" hangingPunct="1"/>
            <a:r>
              <a:rPr lang="en-US" altLang="zh-CN" dirty="0" smtClean="0">
                <a:latin typeface="Times New Roman" pitchFamily="18" charset="0"/>
                <a:cs typeface="Times New Roman" pitchFamily="18" charset="0"/>
              </a:rPr>
              <a:t>The challenge is how to find the right balance among the goals, which often conflict:</a:t>
            </a:r>
          </a:p>
          <a:p>
            <a:pPr lvl="1" algn="just" rtl="0" eaLnBrk="1" hangingPunct="1">
              <a:buFont typeface="Wingdings" pitchFamily="2" charset="2"/>
              <a:buChar char="Ø"/>
            </a:pPr>
            <a:r>
              <a:rPr lang="en-US" altLang="zh-CN" dirty="0" smtClean="0">
                <a:latin typeface="Times New Roman" pitchFamily="18" charset="0"/>
                <a:cs typeface="Times New Roman" pitchFamily="18" charset="0"/>
              </a:rPr>
              <a:t>For example, it is easy to preserve a particular object's confidentiality in a secure system simply by preventing everyone from reading that object</a:t>
            </a:r>
          </a:p>
          <a:p>
            <a:pPr lvl="1" algn="just" rtl="0" eaLnBrk="1" hangingPunct="1">
              <a:buFont typeface="Wingdings" pitchFamily="2" charset="2"/>
              <a:buChar char="Ø"/>
            </a:pPr>
            <a:r>
              <a:rPr lang="en-US" altLang="zh-CN" dirty="0" smtClean="0">
                <a:latin typeface="Times New Roman" pitchFamily="18" charset="0"/>
                <a:cs typeface="Times New Roman" pitchFamily="18" charset="0"/>
              </a:rPr>
              <a:t>However, this system is not secure, because it does not meet the requirement of availability for proper access</a:t>
            </a:r>
          </a:p>
          <a:p>
            <a:pPr lvl="1" algn="just" rtl="0" eaLnBrk="1" hangingPunct="1">
              <a:buFont typeface="Wingdings" pitchFamily="2" charset="2"/>
              <a:buChar char="Ø"/>
            </a:pPr>
            <a:r>
              <a:rPr lang="en-US" altLang="zh-CN" dirty="0" smtClean="0">
                <a:latin typeface="Times New Roman" pitchFamily="18" charset="0"/>
                <a:cs typeface="Times New Roman" pitchFamily="18" charset="0"/>
              </a:rPr>
              <a:t>=&gt; There must be a balance between confidentiality and availability</a:t>
            </a:r>
            <a:endParaRPr lang="en-US" dirty="0" smtClean="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5F5DE6DD-ADB6-471E-A555-7A3211A8AEBB}" type="slidenum">
              <a:rPr lang="ar-SA">
                <a:solidFill>
                  <a:srgbClr val="CBA523"/>
                </a:solidFill>
                <a:cs typeface="Arial" charset="0"/>
              </a:rPr>
              <a:pPr fontAlgn="base">
                <a:spcBef>
                  <a:spcPct val="0"/>
                </a:spcBef>
                <a:spcAft>
                  <a:spcPct val="0"/>
                </a:spcAft>
                <a:defRPr/>
              </a:pPr>
              <a:t>17</a:t>
            </a:fld>
            <a:endParaRPr lang="en-US" dirty="0">
              <a:solidFill>
                <a:srgbClr val="CBA523"/>
              </a:solidFill>
              <a:cs typeface="Arial" charset="0"/>
            </a:endParaRPr>
          </a:p>
        </p:txBody>
      </p:sp>
    </p:spTree>
    <p:extLst>
      <p:ext uri="{BB962C8B-B14F-4D97-AF65-F5344CB8AC3E}">
        <p14:creationId xmlns:p14="http://schemas.microsoft.com/office/powerpoint/2010/main" val="27077102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0D62882-E4EF-4D88-893C-701F512FD2B7}" type="slidenum">
              <a:rPr lang="en-US" altLang="en-US"/>
              <a:pPr/>
              <a:t>18</a:t>
            </a:fld>
            <a:endParaRPr lang="en-US" altLang="en-US"/>
          </a:p>
        </p:txBody>
      </p:sp>
      <p:sp>
        <p:nvSpPr>
          <p:cNvPr id="352268" name="Rectangle 12"/>
          <p:cNvSpPr>
            <a:spLocks noGrp="1" noChangeArrowheads="1"/>
          </p:cNvSpPr>
          <p:nvPr>
            <p:ph type="title"/>
          </p:nvPr>
        </p:nvSpPr>
        <p:spPr>
          <a:xfrm>
            <a:off x="685800" y="304800"/>
            <a:ext cx="8229600" cy="838200"/>
          </a:xfrm>
        </p:spPr>
        <p:txBody>
          <a:bodyPr/>
          <a:lstStyle/>
          <a:p>
            <a:r>
              <a:rPr lang="en-US" altLang="en-US" sz="3600"/>
              <a:t>Critical Characteristics of Information</a:t>
            </a:r>
          </a:p>
        </p:txBody>
      </p:sp>
      <p:sp>
        <p:nvSpPr>
          <p:cNvPr id="352269" name="Rectangle 13"/>
          <p:cNvSpPr>
            <a:spLocks noGrp="1" noChangeArrowheads="1"/>
          </p:cNvSpPr>
          <p:nvPr>
            <p:ph type="body" idx="1"/>
          </p:nvPr>
        </p:nvSpPr>
        <p:spPr>
          <a:xfrm>
            <a:off x="685800" y="1219200"/>
            <a:ext cx="8153400" cy="5105400"/>
          </a:xfrm>
        </p:spPr>
        <p:txBody>
          <a:bodyPr/>
          <a:lstStyle/>
          <a:p>
            <a:pPr>
              <a:lnSpc>
                <a:spcPct val="90000"/>
              </a:lnSpc>
              <a:spcBef>
                <a:spcPct val="30000"/>
              </a:spcBef>
            </a:pPr>
            <a:r>
              <a:rPr lang="en-US" altLang="en-US" sz="2800"/>
              <a:t>The value of information comes from the characteristics it possesses: </a:t>
            </a:r>
          </a:p>
          <a:p>
            <a:pPr lvl="1">
              <a:lnSpc>
                <a:spcPct val="90000"/>
              </a:lnSpc>
            </a:pPr>
            <a:r>
              <a:rPr lang="en-US" altLang="en-US" sz="2400"/>
              <a:t>Timeliness</a:t>
            </a:r>
          </a:p>
          <a:p>
            <a:pPr lvl="2">
              <a:lnSpc>
                <a:spcPct val="90000"/>
              </a:lnSpc>
            </a:pPr>
            <a:r>
              <a:rPr lang="en-US" altLang="en-US" sz="2000"/>
              <a:t>No value if it is too late</a:t>
            </a:r>
          </a:p>
          <a:p>
            <a:pPr lvl="1">
              <a:lnSpc>
                <a:spcPct val="90000"/>
              </a:lnSpc>
            </a:pPr>
            <a:r>
              <a:rPr lang="en-US" altLang="en-US" sz="2400"/>
              <a:t>Availability</a:t>
            </a:r>
          </a:p>
          <a:p>
            <a:pPr lvl="2">
              <a:lnSpc>
                <a:spcPct val="90000"/>
              </a:lnSpc>
            </a:pPr>
            <a:r>
              <a:rPr lang="en-US" altLang="en-US" sz="2000"/>
              <a:t>No interference or obstruction</a:t>
            </a:r>
          </a:p>
          <a:p>
            <a:pPr lvl="2">
              <a:lnSpc>
                <a:spcPct val="90000"/>
              </a:lnSpc>
            </a:pPr>
            <a:r>
              <a:rPr lang="en-US" altLang="en-US" sz="2000"/>
              <a:t>Required format</a:t>
            </a:r>
          </a:p>
          <a:p>
            <a:pPr lvl="1">
              <a:lnSpc>
                <a:spcPct val="90000"/>
              </a:lnSpc>
            </a:pPr>
            <a:r>
              <a:rPr lang="en-US" altLang="en-US" sz="2400"/>
              <a:t>Accuracy</a:t>
            </a:r>
          </a:p>
          <a:p>
            <a:pPr lvl="2">
              <a:lnSpc>
                <a:spcPct val="90000"/>
              </a:lnSpc>
            </a:pPr>
            <a:r>
              <a:rPr lang="en-US" altLang="en-US" sz="2000"/>
              <a:t>Free from mistakes</a:t>
            </a:r>
          </a:p>
          <a:p>
            <a:pPr lvl="1">
              <a:lnSpc>
                <a:spcPct val="90000"/>
              </a:lnSpc>
            </a:pPr>
            <a:r>
              <a:rPr lang="en-US" altLang="en-US" sz="2400"/>
              <a:t>Authenticity</a:t>
            </a:r>
          </a:p>
          <a:p>
            <a:pPr lvl="2">
              <a:lnSpc>
                <a:spcPct val="90000"/>
              </a:lnSpc>
            </a:pPr>
            <a:r>
              <a:rPr lang="en-US" altLang="en-US" sz="2000"/>
              <a:t>Quality or state of being genuine, i.e., sender of an email</a:t>
            </a:r>
          </a:p>
          <a:p>
            <a:pPr lvl="1">
              <a:lnSpc>
                <a:spcPct val="90000"/>
              </a:lnSpc>
            </a:pPr>
            <a:r>
              <a:rPr lang="en-US" altLang="en-US" sz="2400"/>
              <a:t>Confidentiality</a:t>
            </a:r>
          </a:p>
          <a:p>
            <a:pPr lvl="2">
              <a:lnSpc>
                <a:spcPct val="90000"/>
              </a:lnSpc>
            </a:pPr>
            <a:r>
              <a:rPr lang="en-US" altLang="en-US" sz="2000"/>
              <a:t>Disclosure or exposure to unauthorized individuals or system is prevented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6982FDA-13CD-44AA-9805-530F7A96187D}" type="slidenum">
              <a:rPr lang="en-US" altLang="en-US"/>
              <a:pPr/>
              <a:t>19</a:t>
            </a:fld>
            <a:endParaRPr lang="en-US" altLang="en-US"/>
          </a:p>
        </p:txBody>
      </p:sp>
      <p:sp>
        <p:nvSpPr>
          <p:cNvPr id="510978" name="Rectangle 2"/>
          <p:cNvSpPr>
            <a:spLocks noGrp="1" noChangeArrowheads="1"/>
          </p:cNvSpPr>
          <p:nvPr>
            <p:ph type="title"/>
          </p:nvPr>
        </p:nvSpPr>
        <p:spPr/>
        <p:txBody>
          <a:bodyPr/>
          <a:lstStyle/>
          <a:p>
            <a:r>
              <a:rPr lang="en-US" altLang="en-US" sz="4000"/>
              <a:t>Critical Characteristics of Information</a:t>
            </a:r>
          </a:p>
        </p:txBody>
      </p:sp>
      <p:sp>
        <p:nvSpPr>
          <p:cNvPr id="510979" name="Rectangle 3"/>
          <p:cNvSpPr>
            <a:spLocks noGrp="1" noChangeArrowheads="1"/>
          </p:cNvSpPr>
          <p:nvPr>
            <p:ph type="body" idx="1"/>
          </p:nvPr>
        </p:nvSpPr>
        <p:spPr>
          <a:xfrm>
            <a:off x="457200" y="1219200"/>
            <a:ext cx="8153400" cy="5105400"/>
          </a:xfrm>
        </p:spPr>
        <p:txBody>
          <a:bodyPr/>
          <a:lstStyle/>
          <a:p>
            <a:r>
              <a:rPr lang="en-US" altLang="en-US" sz="2800"/>
              <a:t>Integrity</a:t>
            </a:r>
          </a:p>
          <a:p>
            <a:pPr lvl="1"/>
            <a:r>
              <a:rPr lang="en-US" altLang="en-US" sz="2400"/>
              <a:t>Whole, completed, uncorrupted</a:t>
            </a:r>
          </a:p>
          <a:p>
            <a:pPr lvl="1"/>
            <a:r>
              <a:rPr lang="en-US" altLang="en-US" sz="2400"/>
              <a:t>Cornerstone</a:t>
            </a:r>
          </a:p>
          <a:p>
            <a:pPr lvl="1"/>
            <a:r>
              <a:rPr lang="en-US" altLang="en-US" sz="2400"/>
              <a:t>Size of the file, hash values, error-correcting codes, retransmission</a:t>
            </a:r>
          </a:p>
          <a:p>
            <a:r>
              <a:rPr lang="en-US" altLang="en-US" sz="2800"/>
              <a:t>Utility</a:t>
            </a:r>
          </a:p>
          <a:p>
            <a:pPr lvl="1"/>
            <a:r>
              <a:rPr lang="en-US" altLang="en-US" sz="2400"/>
              <a:t>Having value for some purpose</a:t>
            </a:r>
          </a:p>
          <a:p>
            <a:r>
              <a:rPr lang="en-US" altLang="en-US" sz="2800"/>
              <a:t>Possession</a:t>
            </a:r>
          </a:p>
          <a:p>
            <a:pPr lvl="1"/>
            <a:r>
              <a:rPr lang="en-US" altLang="en-US" sz="2400"/>
              <a:t>Ownership</a:t>
            </a:r>
          </a:p>
          <a:p>
            <a:pPr lvl="1"/>
            <a:r>
              <a:rPr lang="en-US" altLang="en-US" sz="2400"/>
              <a:t>Breach of confidentiality results in the breach of possession, not the reverse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54D9BBD-8518-4AFE-AA5A-54124E914CC1}" type="slidenum">
              <a:rPr lang="en-US" altLang="en-US"/>
              <a:pPr/>
              <a:t>20</a:t>
            </a:fld>
            <a:endParaRPr lang="en-US" altLang="en-US"/>
          </a:p>
        </p:txBody>
      </p:sp>
      <p:sp>
        <p:nvSpPr>
          <p:cNvPr id="354314" name="Rectangle 10"/>
          <p:cNvSpPr>
            <a:spLocks noGrp="1" noChangeArrowheads="1"/>
          </p:cNvSpPr>
          <p:nvPr>
            <p:ph type="title"/>
          </p:nvPr>
        </p:nvSpPr>
        <p:spPr>
          <a:xfrm>
            <a:off x="685800" y="304800"/>
            <a:ext cx="8229600" cy="838200"/>
          </a:xfrm>
        </p:spPr>
        <p:txBody>
          <a:bodyPr/>
          <a:lstStyle/>
          <a:p>
            <a:r>
              <a:rPr lang="en-US" altLang="en-US" sz="3600"/>
              <a:t>Components of an Information System</a:t>
            </a:r>
          </a:p>
        </p:txBody>
      </p:sp>
      <p:sp>
        <p:nvSpPr>
          <p:cNvPr id="354315" name="Rectangle 11"/>
          <p:cNvSpPr>
            <a:spLocks noGrp="1" noChangeArrowheads="1"/>
          </p:cNvSpPr>
          <p:nvPr>
            <p:ph type="body" idx="1"/>
          </p:nvPr>
        </p:nvSpPr>
        <p:spPr>
          <a:xfrm>
            <a:off x="685800" y="1524000"/>
            <a:ext cx="7924800" cy="4800600"/>
          </a:xfrm>
        </p:spPr>
        <p:txBody>
          <a:bodyPr/>
          <a:lstStyle/>
          <a:p>
            <a:pPr>
              <a:lnSpc>
                <a:spcPct val="90000"/>
              </a:lnSpc>
              <a:spcBef>
                <a:spcPct val="100000"/>
              </a:spcBef>
            </a:pPr>
            <a:r>
              <a:rPr lang="en-US" altLang="en-US" sz="2400"/>
              <a:t>Information System (IS) is entire set of software, hardware, data, people, procedures, and networks necessary to use information as a resource in the organization</a:t>
            </a:r>
          </a:p>
          <a:p>
            <a:pPr>
              <a:lnSpc>
                <a:spcPct val="90000"/>
              </a:lnSpc>
            </a:pPr>
            <a:r>
              <a:rPr lang="en-US" altLang="en-US" sz="2400"/>
              <a:t>Software</a:t>
            </a:r>
          </a:p>
          <a:p>
            <a:pPr lvl="1">
              <a:lnSpc>
                <a:spcPct val="90000"/>
              </a:lnSpc>
            </a:pPr>
            <a:r>
              <a:rPr lang="en-US" altLang="en-US" sz="2000"/>
              <a:t>Perhaps most difficult to secure</a:t>
            </a:r>
          </a:p>
          <a:p>
            <a:pPr lvl="1">
              <a:lnSpc>
                <a:spcPct val="90000"/>
              </a:lnSpc>
            </a:pPr>
            <a:r>
              <a:rPr lang="en-US" altLang="en-US" sz="2000"/>
              <a:t>Easy target</a:t>
            </a:r>
          </a:p>
          <a:p>
            <a:pPr lvl="1">
              <a:lnSpc>
                <a:spcPct val="90000"/>
              </a:lnSpc>
            </a:pPr>
            <a:r>
              <a:rPr lang="en-US" altLang="en-US" sz="2000"/>
              <a:t>Exploitation substantial portion of attacks on information</a:t>
            </a:r>
          </a:p>
          <a:p>
            <a:pPr>
              <a:lnSpc>
                <a:spcPct val="90000"/>
              </a:lnSpc>
            </a:pPr>
            <a:r>
              <a:rPr lang="en-US" altLang="en-US" sz="2400"/>
              <a:t>Hardware</a:t>
            </a:r>
          </a:p>
          <a:p>
            <a:pPr lvl="1">
              <a:lnSpc>
                <a:spcPct val="90000"/>
              </a:lnSpc>
            </a:pPr>
            <a:r>
              <a:rPr lang="en-US" altLang="en-US" sz="2000"/>
              <a:t>Physical security policies </a:t>
            </a:r>
          </a:p>
          <a:p>
            <a:pPr lvl="1">
              <a:lnSpc>
                <a:spcPct val="90000"/>
              </a:lnSpc>
            </a:pPr>
            <a:r>
              <a:rPr lang="en-US" altLang="en-US" sz="2000"/>
              <a:t>Securing physical location important</a:t>
            </a:r>
          </a:p>
          <a:p>
            <a:pPr lvl="1">
              <a:lnSpc>
                <a:spcPct val="90000"/>
              </a:lnSpc>
            </a:pPr>
            <a:r>
              <a:rPr lang="en-US" altLang="en-US" sz="2000"/>
              <a:t>Laptops</a:t>
            </a:r>
          </a:p>
          <a:p>
            <a:pPr lvl="1">
              <a:lnSpc>
                <a:spcPct val="90000"/>
              </a:lnSpc>
            </a:pPr>
            <a:r>
              <a:rPr lang="en-US" altLang="en-US" sz="2000"/>
              <a:t>Flash memory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8ECE0A3-A11D-4F95-89C1-AE44A87C36DA}" type="slidenum">
              <a:rPr lang="en-US" altLang="en-US"/>
              <a:pPr/>
              <a:t>21</a:t>
            </a:fld>
            <a:endParaRPr lang="en-US" altLang="en-US"/>
          </a:p>
        </p:txBody>
      </p:sp>
      <p:sp>
        <p:nvSpPr>
          <p:cNvPr id="512002" name="Rectangle 2"/>
          <p:cNvSpPr>
            <a:spLocks noGrp="1" noChangeArrowheads="1"/>
          </p:cNvSpPr>
          <p:nvPr>
            <p:ph type="title"/>
          </p:nvPr>
        </p:nvSpPr>
        <p:spPr/>
        <p:txBody>
          <a:bodyPr/>
          <a:lstStyle/>
          <a:p>
            <a:r>
              <a:rPr lang="en-US" altLang="en-US" sz="4000"/>
              <a:t>Components of an Information System</a:t>
            </a:r>
          </a:p>
        </p:txBody>
      </p:sp>
      <p:sp>
        <p:nvSpPr>
          <p:cNvPr id="512003" name="Rectangle 3"/>
          <p:cNvSpPr>
            <a:spLocks noGrp="1" noChangeArrowheads="1"/>
          </p:cNvSpPr>
          <p:nvPr>
            <p:ph type="body" idx="1"/>
          </p:nvPr>
        </p:nvSpPr>
        <p:spPr/>
        <p:txBody>
          <a:bodyPr/>
          <a:lstStyle/>
          <a:p>
            <a:pPr>
              <a:lnSpc>
                <a:spcPct val="90000"/>
              </a:lnSpc>
            </a:pPr>
            <a:r>
              <a:rPr lang="en-US" altLang="en-US" sz="2800"/>
              <a:t>Data</a:t>
            </a:r>
          </a:p>
          <a:p>
            <a:pPr lvl="1">
              <a:lnSpc>
                <a:spcPct val="90000"/>
              </a:lnSpc>
            </a:pPr>
            <a:r>
              <a:rPr lang="en-US" altLang="en-US" sz="2400"/>
              <a:t>Often most valuable asset</a:t>
            </a:r>
          </a:p>
          <a:p>
            <a:pPr lvl="1">
              <a:lnSpc>
                <a:spcPct val="90000"/>
              </a:lnSpc>
            </a:pPr>
            <a:r>
              <a:rPr lang="en-US" altLang="en-US" sz="2400"/>
              <a:t>Main target of intentional attacks</a:t>
            </a:r>
          </a:p>
          <a:p>
            <a:pPr>
              <a:lnSpc>
                <a:spcPct val="90000"/>
              </a:lnSpc>
            </a:pPr>
            <a:r>
              <a:rPr lang="en-US" altLang="en-US" sz="2800"/>
              <a:t>People</a:t>
            </a:r>
          </a:p>
          <a:p>
            <a:pPr lvl="1">
              <a:lnSpc>
                <a:spcPct val="90000"/>
              </a:lnSpc>
            </a:pPr>
            <a:r>
              <a:rPr lang="en-US" altLang="en-US" sz="2400"/>
              <a:t>Weakest link</a:t>
            </a:r>
          </a:p>
          <a:p>
            <a:pPr lvl="1">
              <a:lnSpc>
                <a:spcPct val="90000"/>
              </a:lnSpc>
            </a:pPr>
            <a:r>
              <a:rPr lang="en-US" altLang="en-US" sz="2400"/>
              <a:t>Social engineering</a:t>
            </a:r>
          </a:p>
          <a:p>
            <a:pPr lvl="1">
              <a:lnSpc>
                <a:spcPct val="90000"/>
              </a:lnSpc>
            </a:pPr>
            <a:r>
              <a:rPr lang="en-US" altLang="en-US" sz="2400"/>
              <a:t>Must be well trained and informed</a:t>
            </a:r>
          </a:p>
          <a:p>
            <a:pPr>
              <a:lnSpc>
                <a:spcPct val="90000"/>
              </a:lnSpc>
            </a:pPr>
            <a:r>
              <a:rPr lang="en-US" altLang="en-US" sz="2800"/>
              <a:t>Procedures</a:t>
            </a:r>
          </a:p>
          <a:p>
            <a:pPr lvl="1">
              <a:lnSpc>
                <a:spcPct val="90000"/>
              </a:lnSpc>
            </a:pPr>
            <a:r>
              <a:rPr lang="en-US" altLang="en-US" sz="2400"/>
              <a:t>Threat to integrity of data</a:t>
            </a:r>
          </a:p>
          <a:p>
            <a:pPr>
              <a:lnSpc>
                <a:spcPct val="90000"/>
              </a:lnSpc>
            </a:pPr>
            <a:r>
              <a:rPr lang="en-US" altLang="en-US" sz="2800"/>
              <a:t>Networks</a:t>
            </a:r>
          </a:p>
          <a:p>
            <a:pPr lvl="1">
              <a:lnSpc>
                <a:spcPct val="90000"/>
              </a:lnSpc>
            </a:pPr>
            <a:r>
              <a:rPr lang="en-US" altLang="en-US" sz="2400"/>
              <a:t>Locks and keys won’t work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6"/>
          <p:cNvSpPr>
            <a:spLocks noGrp="1"/>
          </p:cNvSpPr>
          <p:nvPr>
            <p:ph type="title"/>
          </p:nvPr>
        </p:nvSpPr>
        <p:spPr>
          <a:xfrm>
            <a:off x="685800" y="304800"/>
            <a:ext cx="7924800" cy="838200"/>
          </a:xfrm>
        </p:spPr>
        <p:txBody>
          <a:bodyPr>
            <a:noAutofit/>
          </a:bodyPr>
          <a:lstStyle/>
          <a:p>
            <a:pPr eaLnBrk="1" hangingPunct="1"/>
            <a:r>
              <a:rPr lang="en-US" sz="3800" b="1" dirty="0" smtClean="0">
                <a:solidFill>
                  <a:schemeClr val="bg1"/>
                </a:solidFill>
                <a:latin typeface="Times New Roman" pitchFamily="18" charset="0"/>
                <a:cs typeface="Times New Roman" pitchFamily="18" charset="0"/>
              </a:rPr>
              <a:t>Threats, Vulnerabilities and Controls</a:t>
            </a:r>
          </a:p>
        </p:txBody>
      </p:sp>
      <p:sp>
        <p:nvSpPr>
          <p:cNvPr id="46083" name="Content Placeholder 2"/>
          <p:cNvSpPr>
            <a:spLocks noGrp="1"/>
          </p:cNvSpPr>
          <p:nvPr>
            <p:ph idx="1"/>
          </p:nvPr>
        </p:nvSpPr>
        <p:spPr/>
        <p:txBody>
          <a:bodyPr>
            <a:normAutofit fontScale="92500"/>
          </a:bodyPr>
          <a:lstStyle/>
          <a:p>
            <a:pPr algn="just" rtl="0" eaLnBrk="1" hangingPunct="1">
              <a:buFont typeface="Wingdings" pitchFamily="2" charset="2"/>
              <a:buChar char="Ø"/>
            </a:pPr>
            <a:r>
              <a:rPr lang="en-US" b="1" dirty="0" smtClean="0">
                <a:latin typeface="Times New Roman" pitchFamily="18" charset="0"/>
                <a:cs typeface="Times New Roman" pitchFamily="18" charset="0"/>
              </a:rPr>
              <a:t>Threats:</a:t>
            </a:r>
            <a:r>
              <a:rPr lang="en-US" dirty="0" smtClean="0">
                <a:latin typeface="Times New Roman" pitchFamily="18" charset="0"/>
                <a:cs typeface="Times New Roman" pitchFamily="18" charset="0"/>
              </a:rPr>
              <a:t> Something that can potentially cause damage to information assets.</a:t>
            </a:r>
          </a:p>
          <a:p>
            <a:pPr algn="just" rtl="0" eaLnBrk="1" hangingPunct="1">
              <a:buFont typeface="Wingdings" pitchFamily="2" charset="2"/>
              <a:buChar char="Ø"/>
            </a:pPr>
            <a:endParaRPr lang="en-US" b="1" dirty="0" smtClean="0">
              <a:latin typeface="Times New Roman" pitchFamily="18" charset="0"/>
              <a:cs typeface="Times New Roman" pitchFamily="18" charset="0"/>
            </a:endParaRPr>
          </a:p>
          <a:p>
            <a:pPr algn="just" rtl="0" eaLnBrk="1" hangingPunct="1">
              <a:buFont typeface="Wingdings" pitchFamily="2" charset="2"/>
              <a:buChar char="Ø"/>
            </a:pPr>
            <a:r>
              <a:rPr lang="en-US" b="1" dirty="0" smtClean="0">
                <a:latin typeface="Times New Roman" pitchFamily="18" charset="0"/>
                <a:cs typeface="Times New Roman" pitchFamily="18" charset="0"/>
              </a:rPr>
              <a:t>Vulnerabilities:</a:t>
            </a:r>
            <a:r>
              <a:rPr lang="en-US" dirty="0" smtClean="0">
                <a:latin typeface="Times New Roman" pitchFamily="18" charset="0"/>
                <a:cs typeface="Times New Roman" pitchFamily="18" charset="0"/>
              </a:rPr>
              <a:t> A weakness in the organization, computer system, or network that can be exploited by threat.</a:t>
            </a:r>
          </a:p>
          <a:p>
            <a:pPr algn="just" rtl="0" eaLnBrk="1" hangingPunct="1">
              <a:buFont typeface="Wingdings" pitchFamily="2" charset="2"/>
              <a:buChar char="Ø"/>
            </a:pPr>
            <a:endParaRPr lang="en-US" b="1" dirty="0" smtClean="0">
              <a:latin typeface="Times New Roman" pitchFamily="18" charset="0"/>
              <a:cs typeface="Times New Roman" pitchFamily="18" charset="0"/>
            </a:endParaRPr>
          </a:p>
          <a:p>
            <a:pPr algn="just" rtl="0" eaLnBrk="1" hangingPunct="1">
              <a:buFont typeface="Wingdings" pitchFamily="2" charset="2"/>
              <a:buChar char="Ø"/>
            </a:pPr>
            <a:r>
              <a:rPr lang="en-US" b="1" dirty="0" smtClean="0">
                <a:latin typeface="Times New Roman" pitchFamily="18" charset="0"/>
                <a:cs typeface="Times New Roman" pitchFamily="18" charset="0"/>
              </a:rPr>
              <a:t>Control:</a:t>
            </a:r>
            <a:r>
              <a:rPr lang="en-US" dirty="0" smtClean="0">
                <a:latin typeface="Times New Roman" pitchFamily="18" charset="0"/>
                <a:cs typeface="Times New Roman" pitchFamily="18" charset="0"/>
              </a:rPr>
              <a:t> an action, device, procedure, or technique that remove or reduce a vulnerabilities.</a:t>
            </a: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6048DF0A-0183-4CBD-8DE0-FB60C4D99EA7}" type="slidenum">
              <a:rPr lang="ar-SA">
                <a:solidFill>
                  <a:srgbClr val="CBA523"/>
                </a:solidFill>
                <a:cs typeface="Arial" charset="0"/>
              </a:rPr>
              <a:pPr fontAlgn="base">
                <a:spcBef>
                  <a:spcPct val="0"/>
                </a:spcBef>
                <a:spcAft>
                  <a:spcPct val="0"/>
                </a:spcAft>
                <a:defRPr/>
              </a:pPr>
              <a:t>22</a:t>
            </a:fld>
            <a:endParaRPr lang="en-US" dirty="0">
              <a:solidFill>
                <a:srgbClr val="CBA523"/>
              </a:solidFill>
              <a:cs typeface="Arial" charset="0"/>
            </a:endParaRPr>
          </a:p>
        </p:txBody>
      </p:sp>
    </p:spTree>
    <p:extLst>
      <p:ext uri="{BB962C8B-B14F-4D97-AF65-F5344CB8AC3E}">
        <p14:creationId xmlns:p14="http://schemas.microsoft.com/office/powerpoint/2010/main" val="39248690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1"/>
          <p:cNvSpPr>
            <a:spLocks noGrp="1"/>
          </p:cNvSpPr>
          <p:nvPr>
            <p:ph type="title"/>
          </p:nvPr>
        </p:nvSpPr>
        <p:spPr>
          <a:xfrm>
            <a:off x="685800" y="304800"/>
            <a:ext cx="7848600" cy="838200"/>
          </a:xfrm>
        </p:spPr>
        <p:txBody>
          <a:bodyPr>
            <a:noAutofit/>
          </a:bodyPr>
          <a:lstStyle/>
          <a:p>
            <a:pPr eaLnBrk="1" hangingPunct="1"/>
            <a:r>
              <a:rPr lang="en-US" sz="3800" b="1" dirty="0" smtClean="0">
                <a:solidFill>
                  <a:schemeClr val="bg1"/>
                </a:solidFill>
                <a:latin typeface="Times New Roman" pitchFamily="18" charset="0"/>
                <a:cs typeface="Times New Roman" pitchFamily="18" charset="0"/>
              </a:rPr>
              <a:t>Threats, Vulnerabilities and Controls</a:t>
            </a:r>
          </a:p>
        </p:txBody>
      </p:sp>
      <p:pic>
        <p:nvPicPr>
          <p:cNvPr id="47107" name="Picture 4"/>
          <p:cNvPicPr>
            <a:picLocks noGrp="1" noChangeAspect="1" noChangeArrowheads="1"/>
          </p:cNvPicPr>
          <p:nvPr>
            <p:ph idx="1"/>
          </p:nvPr>
        </p:nvPicPr>
        <p:blipFill>
          <a:blip r:embed="rId2" cstate="print">
            <a:clrChange>
              <a:clrFrom>
                <a:srgbClr val="FFFFFF"/>
              </a:clrFrom>
              <a:clrTo>
                <a:srgbClr val="FFFFFF">
                  <a:alpha val="0"/>
                </a:srgbClr>
              </a:clrTo>
            </a:clrChange>
          </a:blip>
          <a:srcRect b="13071"/>
          <a:stretch>
            <a:fillRect/>
          </a:stretch>
        </p:blipFill>
        <p:spPr>
          <a:xfrm>
            <a:off x="1905000" y="1981200"/>
            <a:ext cx="5145088" cy="3352800"/>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AC81A00F-CC73-4106-B1CC-7C377BFC98C3}" type="slidenum">
              <a:rPr lang="ar-SA">
                <a:solidFill>
                  <a:srgbClr val="CBA523"/>
                </a:solidFill>
                <a:cs typeface="Arial" charset="0"/>
              </a:rPr>
              <a:pPr fontAlgn="base">
                <a:spcBef>
                  <a:spcPct val="0"/>
                </a:spcBef>
                <a:spcAft>
                  <a:spcPct val="0"/>
                </a:spcAft>
                <a:defRPr/>
              </a:pPr>
              <a:t>23</a:t>
            </a:fld>
            <a:endParaRPr lang="en-US" dirty="0">
              <a:solidFill>
                <a:srgbClr val="CBA523"/>
              </a:solidFill>
              <a:cs typeface="Arial" charset="0"/>
            </a:endParaRPr>
          </a:p>
        </p:txBody>
      </p:sp>
      <p:sp>
        <p:nvSpPr>
          <p:cNvPr id="47108" name="TextBox 4"/>
          <p:cNvSpPr txBox="1">
            <a:spLocks noChangeArrowheads="1"/>
          </p:cNvSpPr>
          <p:nvPr/>
        </p:nvSpPr>
        <p:spPr bwMode="auto">
          <a:xfrm>
            <a:off x="1600200" y="5543550"/>
            <a:ext cx="5486400" cy="400050"/>
          </a:xfrm>
          <a:prstGeom prst="rect">
            <a:avLst/>
          </a:prstGeom>
          <a:noFill/>
          <a:ln w="9525">
            <a:noFill/>
            <a:miter lim="800000"/>
            <a:headEnd/>
            <a:tailEnd/>
          </a:ln>
        </p:spPr>
        <p:txBody>
          <a:bodyPr>
            <a:spAutoFit/>
          </a:bodyPr>
          <a:lstStyle/>
          <a:p>
            <a:pPr algn="l" rtl="0"/>
            <a:r>
              <a:rPr lang="en-US" sz="2000" dirty="0">
                <a:latin typeface="Times New Roman" pitchFamily="18" charset="0"/>
                <a:cs typeface="Times New Roman" pitchFamily="18" charset="0"/>
              </a:rPr>
              <a:t>A threat is blocked by control of a vulnerability </a:t>
            </a:r>
          </a:p>
        </p:txBody>
      </p:sp>
    </p:spTree>
    <p:extLst>
      <p:ext uri="{BB962C8B-B14F-4D97-AF65-F5344CB8AC3E}">
        <p14:creationId xmlns:p14="http://schemas.microsoft.com/office/powerpoint/2010/main" val="5767334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4"/>
          <p:cNvSpPr>
            <a:spLocks noGrp="1"/>
          </p:cNvSpPr>
          <p:nvPr>
            <p:ph type="title"/>
          </p:nvPr>
        </p:nvSpPr>
        <p:spPr/>
        <p:txBody>
          <a:bodyPr/>
          <a:lstStyle/>
          <a:p>
            <a:pPr eaLnBrk="1" hangingPunct="1"/>
            <a:r>
              <a:rPr lang="en-US" sz="3800" b="1" dirty="0" smtClean="0">
                <a:solidFill>
                  <a:schemeClr val="bg1"/>
                </a:solidFill>
                <a:latin typeface="Times New Roman" pitchFamily="18" charset="0"/>
                <a:cs typeface="Times New Roman" pitchFamily="18" charset="0"/>
              </a:rPr>
              <a:t>Threats</a:t>
            </a:r>
          </a:p>
        </p:txBody>
      </p:sp>
      <p:sp>
        <p:nvSpPr>
          <p:cNvPr id="48131" name="Content Placeholder 2"/>
          <p:cNvSpPr>
            <a:spLocks noGrp="1"/>
          </p:cNvSpPr>
          <p:nvPr>
            <p:ph idx="1"/>
          </p:nvPr>
        </p:nvSpPr>
        <p:spPr/>
        <p:txBody>
          <a:bodyPr/>
          <a:lstStyle/>
          <a:p>
            <a:pPr algn="just" rtl="0" eaLnBrk="1" hangingPunct="1"/>
            <a:r>
              <a:rPr lang="en-US" u="sng" dirty="0" smtClean="0">
                <a:latin typeface="Times New Roman" pitchFamily="18" charset="0"/>
                <a:cs typeface="Times New Roman" pitchFamily="18" charset="0"/>
              </a:rPr>
              <a:t>Definition:</a:t>
            </a:r>
            <a:r>
              <a:rPr lang="en-US" dirty="0" smtClean="0">
                <a:latin typeface="Times New Roman" pitchFamily="18" charset="0"/>
                <a:cs typeface="Times New Roman" pitchFamily="18" charset="0"/>
              </a:rPr>
              <a:t> Something that can potentially cause damage to information assets.</a:t>
            </a:r>
          </a:p>
          <a:p>
            <a:pPr algn="just" rtl="0" eaLnBrk="1" hangingPunct="1"/>
            <a:r>
              <a:rPr lang="en-US" dirty="0" smtClean="0">
                <a:latin typeface="Times New Roman" pitchFamily="18" charset="0"/>
                <a:cs typeface="Times New Roman" pitchFamily="18" charset="0"/>
              </a:rPr>
              <a:t>A malicious attacker must have three things:</a:t>
            </a:r>
          </a:p>
          <a:p>
            <a:pPr lvl="1" algn="just" rtl="0" eaLnBrk="1" hangingPunct="1">
              <a:buFont typeface="Wingdings" pitchFamily="2" charset="2"/>
              <a:buChar char="Ø"/>
            </a:pPr>
            <a:r>
              <a:rPr lang="en-US" dirty="0" smtClean="0">
                <a:latin typeface="Times New Roman" pitchFamily="18" charset="0"/>
                <a:cs typeface="Times New Roman" pitchFamily="18" charset="0"/>
              </a:rPr>
              <a:t>Method: the skills, knowledge, tools, and other things with which to be able to pull off  the attack.</a:t>
            </a:r>
          </a:p>
          <a:p>
            <a:pPr lvl="1" algn="just" rtl="0" eaLnBrk="1" hangingPunct="1">
              <a:buFont typeface="Wingdings" pitchFamily="2" charset="2"/>
              <a:buChar char="Ø"/>
            </a:pPr>
            <a:r>
              <a:rPr lang="en-US" dirty="0" smtClean="0">
                <a:latin typeface="Times New Roman" pitchFamily="18" charset="0"/>
                <a:cs typeface="Times New Roman" pitchFamily="18" charset="0"/>
              </a:rPr>
              <a:t>Opportunity: the time and the access to accomplish the attack.</a:t>
            </a:r>
          </a:p>
          <a:p>
            <a:pPr lvl="1" algn="just" rtl="0" eaLnBrk="1" hangingPunct="1">
              <a:buFont typeface="Wingdings" pitchFamily="2" charset="2"/>
              <a:buChar char="Ø"/>
            </a:pPr>
            <a:r>
              <a:rPr lang="en-US" dirty="0" smtClean="0">
                <a:latin typeface="Times New Roman" pitchFamily="18" charset="0"/>
                <a:cs typeface="Times New Roman" pitchFamily="18" charset="0"/>
              </a:rPr>
              <a:t>Motive: a reason to want  to perform this attack against this system.</a:t>
            </a: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5FD8B3D5-E9BC-4E26-AC28-F49C954BB920}" type="slidenum">
              <a:rPr lang="ar-SA">
                <a:solidFill>
                  <a:srgbClr val="CBA523"/>
                </a:solidFill>
                <a:cs typeface="Arial" charset="0"/>
              </a:rPr>
              <a:pPr fontAlgn="base">
                <a:spcBef>
                  <a:spcPct val="0"/>
                </a:spcBef>
                <a:spcAft>
                  <a:spcPct val="0"/>
                </a:spcAft>
                <a:defRPr/>
              </a:pPr>
              <a:t>24</a:t>
            </a:fld>
            <a:endParaRPr lang="en-US" dirty="0">
              <a:solidFill>
                <a:srgbClr val="CBA523"/>
              </a:solidFill>
              <a:cs typeface="Arial" charset="0"/>
            </a:endParaRPr>
          </a:p>
        </p:txBody>
      </p:sp>
    </p:spTree>
    <p:extLst>
      <p:ext uri="{BB962C8B-B14F-4D97-AF65-F5344CB8AC3E}">
        <p14:creationId xmlns:p14="http://schemas.microsoft.com/office/powerpoint/2010/main" val="21830622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1625" y="228600"/>
            <a:ext cx="8534400" cy="1219200"/>
          </a:xfrm>
        </p:spPr>
        <p:txBody>
          <a:bodyPr>
            <a:noAutofit/>
          </a:bodyPr>
          <a:lstStyle/>
          <a:p>
            <a:pPr algn="ctr" eaLnBrk="1" fontAlgn="auto" hangingPunct="1">
              <a:spcAft>
                <a:spcPts val="0"/>
              </a:spcAft>
              <a:defRPr/>
            </a:pPr>
            <a:r>
              <a:rPr lang="en-US" sz="3800" b="1" dirty="0" smtClean="0">
                <a:solidFill>
                  <a:schemeClr val="bg1"/>
                </a:solidFill>
                <a:latin typeface="Times New Roman" pitchFamily="18" charset="0"/>
                <a:cs typeface="Times New Roman" pitchFamily="18" charset="0"/>
              </a:rPr>
              <a:t>Threats:</a:t>
            </a:r>
            <a:br>
              <a:rPr lang="en-US" sz="3800" b="1" dirty="0" smtClean="0">
                <a:solidFill>
                  <a:schemeClr val="bg1"/>
                </a:solidFill>
                <a:latin typeface="Times New Roman" pitchFamily="18" charset="0"/>
                <a:cs typeface="Times New Roman" pitchFamily="18" charset="0"/>
              </a:rPr>
            </a:br>
            <a:r>
              <a:rPr lang="en-US" sz="3800" b="1" dirty="0" smtClean="0">
                <a:solidFill>
                  <a:schemeClr val="bg1"/>
                </a:solidFill>
                <a:latin typeface="Times New Roman" pitchFamily="18" charset="0"/>
                <a:cs typeface="Times New Roman" pitchFamily="18" charset="0"/>
              </a:rPr>
              <a:t>Types</a:t>
            </a:r>
            <a:endParaRPr lang="en-US" sz="3800" b="1" dirty="0">
              <a:solidFill>
                <a:schemeClr val="bg1"/>
              </a:solidFill>
              <a:latin typeface="Times New Roman" pitchFamily="18" charset="0"/>
              <a:cs typeface="Times New Roman" pitchFamily="18" charset="0"/>
            </a:endParaRPr>
          </a:p>
        </p:txBody>
      </p:sp>
      <p:sp>
        <p:nvSpPr>
          <p:cNvPr id="3" name="Content Placeholder 2"/>
          <p:cNvSpPr>
            <a:spLocks noGrp="1"/>
          </p:cNvSpPr>
          <p:nvPr>
            <p:ph sz="half" idx="1"/>
          </p:nvPr>
        </p:nvSpPr>
        <p:spPr/>
        <p:txBody>
          <a:bodyPr>
            <a:normAutofit fontScale="92500" lnSpcReduction="10000"/>
          </a:bodyPr>
          <a:lstStyle/>
          <a:p>
            <a:pPr marL="288925" indent="-288925" algn="l" rtl="0" eaLnBrk="1" fontAlgn="auto" hangingPunct="1">
              <a:spcAft>
                <a:spcPts val="0"/>
              </a:spcAft>
              <a:buFont typeface="+mj-lt"/>
              <a:buAutoNum type="arabicPeriod"/>
              <a:defRPr/>
            </a:pPr>
            <a:r>
              <a:rPr lang="en-US" u="sng" dirty="0" smtClean="0">
                <a:latin typeface="Times New Roman" pitchFamily="18" charset="0"/>
                <a:cs typeface="Times New Roman" pitchFamily="18" charset="0"/>
              </a:rPr>
              <a:t>Interception:</a:t>
            </a: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some unauthorized party has gained access to an asset, the outside party can be a person, a program, or computing system.</a:t>
            </a:r>
          </a:p>
          <a:p>
            <a:pPr marL="548640" lvl="1" indent="-274320" algn="just" rtl="0" eaLnBrk="1" fontAlgn="auto" hangingPunct="1">
              <a:spcAft>
                <a:spcPts val="0"/>
              </a:spcAft>
              <a:buFont typeface="Wingdings" pitchFamily="2" charset="2"/>
              <a:buChar char="Ø"/>
              <a:defRPr/>
            </a:pPr>
            <a:r>
              <a:rPr lang="en-US" altLang="zh-CN" dirty="0" smtClean="0">
                <a:latin typeface="Times New Roman" pitchFamily="18" charset="0"/>
                <a:cs typeface="Times New Roman" pitchFamily="18" charset="0"/>
              </a:rPr>
              <a:t>Example: illicit copying of program or data files, or wiretapping to obtain data in a network </a:t>
            </a:r>
          </a:p>
          <a:p>
            <a:pPr marL="274320" indent="-274320" algn="l" rtl="0" eaLnBrk="1" fontAlgn="auto" hangingPunct="1">
              <a:spcAft>
                <a:spcPts val="0"/>
              </a:spcAft>
              <a:buFont typeface="Wingdings 2"/>
              <a:buNone/>
              <a:defRPr/>
            </a:pPr>
            <a:endParaRPr lang="en-US" dirty="0" smtClean="0"/>
          </a:p>
        </p:txBody>
      </p:sp>
      <p:pic>
        <p:nvPicPr>
          <p:cNvPr id="49156" name="Picture 2"/>
          <p:cNvPicPr>
            <a:picLocks noGrp="1" noChangeAspect="1" noChangeArrowheads="1"/>
          </p:cNvPicPr>
          <p:nvPr>
            <p:ph sz="half" idx="2"/>
          </p:nvPr>
        </p:nvPicPr>
        <p:blipFill>
          <a:blip r:embed="rId2" cstate="print">
            <a:clrChange>
              <a:clrFrom>
                <a:srgbClr val="FFFFFF"/>
              </a:clrFrom>
              <a:clrTo>
                <a:srgbClr val="FFFFFF">
                  <a:alpha val="0"/>
                </a:srgbClr>
              </a:clrTo>
            </a:clrChange>
          </a:blip>
          <a:srcRect/>
          <a:stretch>
            <a:fillRect/>
          </a:stretch>
        </p:blipFill>
        <p:spPr>
          <a:xfrm>
            <a:off x="4918075" y="2362200"/>
            <a:ext cx="3803650" cy="2243138"/>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5180C66C-BD6B-493F-AEF8-7BBB40D965B0}" type="slidenum">
              <a:rPr lang="ar-SA">
                <a:solidFill>
                  <a:srgbClr val="CBA523"/>
                </a:solidFill>
                <a:cs typeface="Arial" charset="0"/>
              </a:rPr>
              <a:pPr fontAlgn="base">
                <a:spcBef>
                  <a:spcPct val="0"/>
                </a:spcBef>
                <a:spcAft>
                  <a:spcPct val="0"/>
                </a:spcAft>
                <a:defRPr/>
              </a:pPr>
              <a:t>25</a:t>
            </a:fld>
            <a:endParaRPr lang="en-US" dirty="0">
              <a:solidFill>
                <a:srgbClr val="CBA523"/>
              </a:solidFill>
              <a:cs typeface="Arial" charset="0"/>
            </a:endParaRPr>
          </a:p>
        </p:txBody>
      </p:sp>
      <p:sp>
        <p:nvSpPr>
          <p:cNvPr id="7" name="Text Box 20"/>
          <p:cNvSpPr txBox="1">
            <a:spLocks noChangeArrowheads="1"/>
          </p:cNvSpPr>
          <p:nvPr/>
        </p:nvSpPr>
        <p:spPr bwMode="auto">
          <a:xfrm>
            <a:off x="4724400" y="5410200"/>
            <a:ext cx="4114800" cy="430213"/>
          </a:xfrm>
          <a:prstGeom prst="rect">
            <a:avLst/>
          </a:prstGeom>
          <a:extLst>
            <a:ext uri="{909E8E84-426E-40dd-AFC4-6F175D3DCCD1}"/>
            <a:ext uri="{91240B29-F687-4f45-9708-019B960494DF}"/>
            <a:ext uri="{AF507438-7753-43e0-B8FC-AC1667EBCBE1}"/>
          </a:extLst>
        </p:spPr>
        <p:txBody>
          <a:bodyPr>
            <a:spAutoFit/>
          </a:bodyPr>
          <a:lstStyle/>
          <a:p>
            <a:pPr algn="ctr" rtl="0" fontAlgn="auto">
              <a:spcBef>
                <a:spcPts val="0"/>
              </a:spcBef>
              <a:spcAft>
                <a:spcPts val="0"/>
              </a:spcAft>
              <a:defRPr/>
            </a:pPr>
            <a:r>
              <a:rPr lang="en-US" sz="2200" b="1" dirty="0">
                <a:solidFill>
                  <a:schemeClr val="accent2">
                    <a:lumMod val="50000"/>
                  </a:schemeClr>
                </a:solidFill>
                <a:latin typeface="Times New Roman" pitchFamily="18" charset="0"/>
                <a:cs typeface="Times New Roman" pitchFamily="18" charset="0"/>
              </a:rPr>
              <a:t>~ an attack on confidentiality</a:t>
            </a:r>
          </a:p>
        </p:txBody>
      </p:sp>
    </p:spTree>
    <p:extLst>
      <p:ext uri="{BB962C8B-B14F-4D97-AF65-F5344CB8AC3E}">
        <p14:creationId xmlns:p14="http://schemas.microsoft.com/office/powerpoint/2010/main" val="65646212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5"/>
          <p:cNvSpPr>
            <a:spLocks noGrp="1"/>
          </p:cNvSpPr>
          <p:nvPr>
            <p:ph type="title"/>
          </p:nvPr>
        </p:nvSpPr>
        <p:spPr>
          <a:xfrm>
            <a:off x="301625" y="228600"/>
            <a:ext cx="8534400" cy="1371600"/>
          </a:xfrm>
        </p:spPr>
        <p:txBody>
          <a:bodyPr>
            <a:normAutofit/>
          </a:bodyPr>
          <a:lstStyle/>
          <a:p>
            <a:pPr algn="ctr" eaLnBrk="1" fontAlgn="auto" hangingPunct="1">
              <a:spcAft>
                <a:spcPts val="0"/>
              </a:spcAft>
              <a:defRPr/>
            </a:pPr>
            <a:r>
              <a:rPr lang="en-US" sz="3800" b="1" dirty="0" smtClean="0">
                <a:solidFill>
                  <a:schemeClr val="bg1"/>
                </a:solidFill>
                <a:latin typeface="Times New Roman" pitchFamily="18" charset="0"/>
                <a:cs typeface="Times New Roman" pitchFamily="18" charset="0"/>
              </a:rPr>
              <a:t>Threats:</a:t>
            </a:r>
            <a:br>
              <a:rPr lang="en-US" sz="3800" b="1" dirty="0" smtClean="0">
                <a:solidFill>
                  <a:schemeClr val="bg1"/>
                </a:solidFill>
                <a:latin typeface="Times New Roman" pitchFamily="18" charset="0"/>
                <a:cs typeface="Times New Roman" pitchFamily="18" charset="0"/>
              </a:rPr>
            </a:br>
            <a:r>
              <a:rPr lang="en-US" sz="3800" b="1" dirty="0" smtClean="0">
                <a:solidFill>
                  <a:schemeClr val="bg1"/>
                </a:solidFill>
                <a:latin typeface="Times New Roman" pitchFamily="18" charset="0"/>
                <a:cs typeface="Times New Roman" pitchFamily="18" charset="0"/>
              </a:rPr>
              <a:t>Types</a:t>
            </a:r>
            <a:endParaRPr lang="en-US" sz="3800" b="1" dirty="0">
              <a:solidFill>
                <a:schemeClr val="bg1"/>
              </a:solidFill>
              <a:latin typeface="Times New Roman" pitchFamily="18" charset="0"/>
              <a:cs typeface="Times New Roman" pitchFamily="18" charset="0"/>
            </a:endParaRPr>
          </a:p>
        </p:txBody>
      </p:sp>
      <p:sp>
        <p:nvSpPr>
          <p:cNvPr id="3" name="Content Placeholder 2"/>
          <p:cNvSpPr>
            <a:spLocks noGrp="1"/>
          </p:cNvSpPr>
          <p:nvPr>
            <p:ph sz="half" idx="1"/>
          </p:nvPr>
        </p:nvSpPr>
        <p:spPr/>
        <p:txBody>
          <a:bodyPr>
            <a:normAutofit/>
          </a:bodyPr>
          <a:lstStyle/>
          <a:p>
            <a:pPr marL="288925" indent="-288925" algn="l" rtl="0" eaLnBrk="1" fontAlgn="auto" hangingPunct="1">
              <a:spcAft>
                <a:spcPts val="0"/>
              </a:spcAft>
              <a:buFont typeface="+mj-lt"/>
              <a:buAutoNum type="arabicPeriod" startAt="2"/>
              <a:defRPr/>
            </a:pPr>
            <a:r>
              <a:rPr lang="en-US" sz="2600" u="sng" dirty="0" smtClean="0">
                <a:latin typeface="Times New Roman" pitchFamily="18" charset="0"/>
              </a:rPr>
              <a:t>Interruption:</a:t>
            </a:r>
            <a:r>
              <a:rPr lang="en-US" sz="2600" dirty="0" smtClean="0">
                <a:latin typeface="Times New Roman" pitchFamily="18" charset="0"/>
              </a:rPr>
              <a:t> an asset of the system becomes lost, unavailable, or unusable.</a:t>
            </a:r>
          </a:p>
          <a:p>
            <a:pPr marL="548640" lvl="1" indent="-274320" algn="l" rtl="0" eaLnBrk="1" fontAlgn="auto" hangingPunct="1">
              <a:spcAft>
                <a:spcPts val="0"/>
              </a:spcAft>
              <a:buFont typeface="Wingdings" pitchFamily="2" charset="2"/>
              <a:buChar char="Ø"/>
              <a:defRPr/>
            </a:pPr>
            <a:r>
              <a:rPr lang="en-US" altLang="zh-CN" sz="2300" dirty="0" smtClean="0">
                <a:latin typeface="Times New Roman" pitchFamily="18" charset="0"/>
              </a:rPr>
              <a:t>Example: malicious destruction of a hardware device, erasure of a program or data file, denial of service attacks</a:t>
            </a:r>
            <a:endParaRPr lang="en-US" sz="2300" dirty="0" smtClean="0">
              <a:latin typeface="Times New Roman" pitchFamily="18" charset="0"/>
            </a:endParaRPr>
          </a:p>
          <a:p>
            <a:pPr marL="274320" indent="-274320" algn="just" rtl="0" eaLnBrk="1" fontAlgn="auto" hangingPunct="1">
              <a:spcAft>
                <a:spcPts val="0"/>
              </a:spcAft>
              <a:buFont typeface="Wingdings 2"/>
              <a:buChar char=""/>
              <a:defRPr/>
            </a:pPr>
            <a:endParaRPr lang="en-US" sz="2600" b="1" dirty="0" smtClean="0">
              <a:latin typeface="Times New Roman" pitchFamily="18" charset="0"/>
            </a:endParaRPr>
          </a:p>
        </p:txBody>
      </p:sp>
      <p:pic>
        <p:nvPicPr>
          <p:cNvPr id="50179" name="Picture 2"/>
          <p:cNvPicPr>
            <a:picLocks noGrp="1" noChangeAspect="1" noChangeArrowheads="1"/>
          </p:cNvPicPr>
          <p:nvPr>
            <p:ph sz="half" idx="2"/>
          </p:nvPr>
        </p:nvPicPr>
        <p:blipFill>
          <a:blip r:embed="rId2" cstate="print">
            <a:clrChange>
              <a:clrFrom>
                <a:srgbClr val="FFFFFF"/>
              </a:clrFrom>
              <a:clrTo>
                <a:srgbClr val="FFFFFF">
                  <a:alpha val="0"/>
                </a:srgbClr>
              </a:clrTo>
            </a:clrChange>
          </a:blip>
          <a:srcRect/>
          <a:stretch>
            <a:fillRect/>
          </a:stretch>
        </p:blipFill>
        <p:spPr>
          <a:xfrm>
            <a:off x="5029200" y="2286000"/>
            <a:ext cx="3444875" cy="2395538"/>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EAE4D896-181B-4D5E-B92B-852FCBAD5586}" type="slidenum">
              <a:rPr lang="ar-SA">
                <a:solidFill>
                  <a:srgbClr val="CBA523"/>
                </a:solidFill>
                <a:cs typeface="Arial" charset="0"/>
              </a:rPr>
              <a:pPr fontAlgn="base">
                <a:spcBef>
                  <a:spcPct val="0"/>
                </a:spcBef>
                <a:spcAft>
                  <a:spcPct val="0"/>
                </a:spcAft>
                <a:defRPr/>
              </a:pPr>
              <a:t>26</a:t>
            </a:fld>
            <a:endParaRPr lang="en-US" dirty="0">
              <a:solidFill>
                <a:srgbClr val="CBA523"/>
              </a:solidFill>
              <a:cs typeface="Arial" charset="0"/>
            </a:endParaRPr>
          </a:p>
        </p:txBody>
      </p:sp>
      <p:sp>
        <p:nvSpPr>
          <p:cNvPr id="7" name="Rectangle 6"/>
          <p:cNvSpPr/>
          <p:nvPr/>
        </p:nvSpPr>
        <p:spPr>
          <a:xfrm>
            <a:off x="5181600" y="5410200"/>
            <a:ext cx="3348038" cy="430213"/>
          </a:xfrm>
          <a:prstGeom prst="rect">
            <a:avLst/>
          </a:prstGeom>
        </p:spPr>
        <p:txBody>
          <a:bodyPr wrap="none">
            <a:spAutoFit/>
          </a:bodyPr>
          <a:lstStyle/>
          <a:p>
            <a:pPr algn="ctr" rtl="0" fontAlgn="auto">
              <a:spcBef>
                <a:spcPts val="0"/>
              </a:spcBef>
              <a:spcAft>
                <a:spcPts val="0"/>
              </a:spcAft>
              <a:defRPr/>
            </a:pPr>
            <a:r>
              <a:rPr lang="en-US" sz="2200" dirty="0">
                <a:solidFill>
                  <a:schemeClr val="accent2">
                    <a:lumMod val="50000"/>
                  </a:schemeClr>
                </a:solidFill>
                <a:latin typeface="Arial" pitchFamily="34" charset="0"/>
                <a:cs typeface="+mn-cs"/>
              </a:rPr>
              <a:t>~ an attack on availability</a:t>
            </a:r>
          </a:p>
        </p:txBody>
      </p:sp>
    </p:spTree>
    <p:extLst>
      <p:ext uri="{BB962C8B-B14F-4D97-AF65-F5344CB8AC3E}">
        <p14:creationId xmlns:p14="http://schemas.microsoft.com/office/powerpoint/2010/main" val="801148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p:cNvSpPr>
            <a:spLocks noGrp="1"/>
          </p:cNvSpPr>
          <p:nvPr>
            <p:ph type="title"/>
          </p:nvPr>
        </p:nvSpPr>
        <p:spPr>
          <a:xfrm>
            <a:off x="301625" y="228600"/>
            <a:ext cx="8534400" cy="1143000"/>
          </a:xfrm>
        </p:spPr>
        <p:txBody>
          <a:bodyPr>
            <a:noAutofit/>
          </a:bodyPr>
          <a:lstStyle/>
          <a:p>
            <a:pPr algn="ctr" eaLnBrk="1" fontAlgn="auto" hangingPunct="1">
              <a:spcAft>
                <a:spcPts val="0"/>
              </a:spcAft>
              <a:defRPr/>
            </a:pPr>
            <a:r>
              <a:rPr lang="en-US" sz="3800" b="1" dirty="0" smtClean="0">
                <a:solidFill>
                  <a:schemeClr val="bg1"/>
                </a:solidFill>
                <a:latin typeface="Times New Roman" pitchFamily="18" charset="0"/>
                <a:cs typeface="Times New Roman" pitchFamily="18" charset="0"/>
              </a:rPr>
              <a:t>Threats:</a:t>
            </a:r>
            <a:br>
              <a:rPr lang="en-US" sz="3800" b="1" dirty="0" smtClean="0">
                <a:solidFill>
                  <a:schemeClr val="bg1"/>
                </a:solidFill>
                <a:latin typeface="Times New Roman" pitchFamily="18" charset="0"/>
                <a:cs typeface="Times New Roman" pitchFamily="18" charset="0"/>
              </a:rPr>
            </a:br>
            <a:r>
              <a:rPr lang="en-US" sz="3800" b="1" dirty="0" smtClean="0">
                <a:solidFill>
                  <a:schemeClr val="bg1"/>
                </a:solidFill>
                <a:latin typeface="Times New Roman" pitchFamily="18" charset="0"/>
                <a:cs typeface="Times New Roman" pitchFamily="18" charset="0"/>
              </a:rPr>
              <a:t>Types</a:t>
            </a:r>
            <a:endParaRPr lang="en-US" sz="3800" b="1" dirty="0">
              <a:solidFill>
                <a:schemeClr val="bg1"/>
              </a:solidFill>
              <a:latin typeface="Times New Roman" pitchFamily="18" charset="0"/>
              <a:cs typeface="Times New Roman" pitchFamily="18" charset="0"/>
            </a:endParaRPr>
          </a:p>
        </p:txBody>
      </p:sp>
      <p:sp>
        <p:nvSpPr>
          <p:cNvPr id="3" name="Content Placeholder 2"/>
          <p:cNvSpPr>
            <a:spLocks noGrp="1"/>
          </p:cNvSpPr>
          <p:nvPr>
            <p:ph sz="half" idx="1"/>
          </p:nvPr>
        </p:nvSpPr>
        <p:spPr/>
        <p:txBody>
          <a:bodyPr>
            <a:normAutofit/>
          </a:bodyPr>
          <a:lstStyle/>
          <a:p>
            <a:pPr marL="288925" indent="-288925" algn="l" rtl="0" eaLnBrk="1" fontAlgn="auto" hangingPunct="1">
              <a:spcAft>
                <a:spcPts val="0"/>
              </a:spcAft>
              <a:buFont typeface="+mj-lt"/>
              <a:buAutoNum type="arabicPeriod" startAt="3"/>
              <a:defRPr/>
            </a:pPr>
            <a:r>
              <a:rPr lang="en-US" sz="2600" u="sng" dirty="0" smtClean="0">
                <a:latin typeface="Times New Roman" pitchFamily="18" charset="0"/>
                <a:cs typeface="Times New Roman" pitchFamily="18" charset="0"/>
              </a:rPr>
              <a:t>Modification:</a:t>
            </a:r>
            <a:r>
              <a:rPr lang="en-US" sz="2600" dirty="0" smtClean="0">
                <a:latin typeface="Times New Roman" pitchFamily="18" charset="0"/>
                <a:cs typeface="Times New Roman" pitchFamily="18" charset="0"/>
              </a:rPr>
              <a:t> alteration the values in a database, or programs to perform additional computation, or modify data being transmitted electronically.</a:t>
            </a:r>
          </a:p>
          <a:p>
            <a:pPr marL="548640" lvl="1" indent="-274320" algn="l" rtl="0" eaLnBrk="1" fontAlgn="auto" hangingPunct="1">
              <a:spcAft>
                <a:spcPts val="0"/>
              </a:spcAft>
              <a:buFont typeface="Wingdings" pitchFamily="2" charset="2"/>
              <a:buChar char="Ø"/>
              <a:defRPr/>
            </a:pPr>
            <a:r>
              <a:rPr lang="en-US" altLang="zh-CN" sz="2300" dirty="0" smtClean="0">
                <a:latin typeface="Times New Roman" pitchFamily="18" charset="0"/>
                <a:cs typeface="Times New Roman" pitchFamily="18" charset="0"/>
              </a:rPr>
              <a:t>Example: someone might change the values in a database, alter a program so that it performs an additional computation</a:t>
            </a:r>
          </a:p>
          <a:p>
            <a:pPr marL="274320" indent="-274320" algn="just" rtl="0" eaLnBrk="1" fontAlgn="auto" hangingPunct="1">
              <a:spcAft>
                <a:spcPts val="0"/>
              </a:spcAft>
              <a:buFont typeface="Wingdings 2"/>
              <a:buChar char=""/>
              <a:defRPr/>
            </a:pPr>
            <a:endParaRPr lang="en-US" sz="2600" dirty="0" smtClean="0">
              <a:latin typeface="Times New Roman" pitchFamily="18" charset="0"/>
            </a:endParaRPr>
          </a:p>
          <a:p>
            <a:pPr marL="274320" indent="-274320" algn="just" rtl="0" eaLnBrk="1" fontAlgn="auto" hangingPunct="1">
              <a:spcAft>
                <a:spcPts val="0"/>
              </a:spcAft>
              <a:buFont typeface="Wingdings 2"/>
              <a:buNone/>
              <a:defRPr/>
            </a:pPr>
            <a:endParaRPr lang="en-US" sz="2600" dirty="0">
              <a:latin typeface="Times New Roman" pitchFamily="18" charset="0"/>
            </a:endParaRPr>
          </a:p>
        </p:txBody>
      </p:sp>
      <p:pic>
        <p:nvPicPr>
          <p:cNvPr id="51203" name="Picture 4"/>
          <p:cNvPicPr>
            <a:picLocks noGrp="1" noChangeAspect="1" noChangeArrowheads="1"/>
          </p:cNvPicPr>
          <p:nvPr>
            <p:ph sz="half" idx="2"/>
          </p:nvPr>
        </p:nvPicPr>
        <p:blipFill>
          <a:blip r:embed="rId2" cstate="print">
            <a:clrChange>
              <a:clrFrom>
                <a:srgbClr val="FFFFFF"/>
              </a:clrFrom>
              <a:clrTo>
                <a:srgbClr val="FFFFFF">
                  <a:alpha val="0"/>
                </a:srgbClr>
              </a:clrTo>
            </a:clrChange>
          </a:blip>
          <a:srcRect/>
          <a:stretch>
            <a:fillRect/>
          </a:stretch>
        </p:blipFill>
        <p:spPr>
          <a:xfrm>
            <a:off x="5162550" y="2133600"/>
            <a:ext cx="3314700" cy="2633663"/>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E92F05E5-150E-4208-8D46-ED7E8428A2C6}" type="slidenum">
              <a:rPr lang="ar-SA">
                <a:solidFill>
                  <a:srgbClr val="CBA523"/>
                </a:solidFill>
                <a:cs typeface="Arial" charset="0"/>
              </a:rPr>
              <a:pPr fontAlgn="base">
                <a:spcBef>
                  <a:spcPct val="0"/>
                </a:spcBef>
                <a:spcAft>
                  <a:spcPct val="0"/>
                </a:spcAft>
                <a:defRPr/>
              </a:pPr>
              <a:t>27</a:t>
            </a:fld>
            <a:endParaRPr lang="en-US" dirty="0">
              <a:solidFill>
                <a:srgbClr val="CBA523"/>
              </a:solidFill>
              <a:cs typeface="Arial" charset="0"/>
            </a:endParaRPr>
          </a:p>
        </p:txBody>
      </p:sp>
      <p:sp>
        <p:nvSpPr>
          <p:cNvPr id="7" name="Rectangle 6"/>
          <p:cNvSpPr/>
          <p:nvPr/>
        </p:nvSpPr>
        <p:spPr>
          <a:xfrm>
            <a:off x="5271712" y="5334000"/>
            <a:ext cx="2999539" cy="430887"/>
          </a:xfrm>
          <a:prstGeom prst="rect">
            <a:avLst/>
          </a:prstGeom>
        </p:spPr>
        <p:txBody>
          <a:bodyPr wrap="none">
            <a:spAutoFit/>
          </a:bodyPr>
          <a:lstStyle/>
          <a:p>
            <a:pPr algn="ctr" rtl="0" fontAlgn="auto">
              <a:spcBef>
                <a:spcPts val="0"/>
              </a:spcBef>
              <a:spcAft>
                <a:spcPts val="0"/>
              </a:spcAft>
              <a:defRPr/>
            </a:pPr>
            <a:r>
              <a:rPr lang="en-US" sz="2200" b="1" dirty="0">
                <a:solidFill>
                  <a:schemeClr val="accent2">
                    <a:lumMod val="50000"/>
                  </a:schemeClr>
                </a:solidFill>
                <a:latin typeface="Times New Roman" pitchFamily="18" charset="0"/>
                <a:cs typeface="Times New Roman" pitchFamily="18" charset="0"/>
              </a:rPr>
              <a:t>~ an attack on integrity</a:t>
            </a:r>
          </a:p>
        </p:txBody>
      </p:sp>
    </p:spTree>
    <p:extLst>
      <p:ext uri="{BB962C8B-B14F-4D97-AF65-F5344CB8AC3E}">
        <p14:creationId xmlns:p14="http://schemas.microsoft.com/office/powerpoint/2010/main" val="7132242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
          <p:cNvSpPr>
            <a:spLocks noGrp="1"/>
          </p:cNvSpPr>
          <p:nvPr>
            <p:ph type="title"/>
          </p:nvPr>
        </p:nvSpPr>
        <p:spPr>
          <a:xfrm>
            <a:off x="301625" y="228600"/>
            <a:ext cx="8534400" cy="914400"/>
          </a:xfrm>
        </p:spPr>
        <p:txBody>
          <a:bodyPr>
            <a:noAutofit/>
          </a:bodyPr>
          <a:lstStyle/>
          <a:p>
            <a:pPr algn="ctr" eaLnBrk="1" fontAlgn="auto" hangingPunct="1">
              <a:spcAft>
                <a:spcPts val="0"/>
              </a:spcAft>
              <a:defRPr/>
            </a:pPr>
            <a:r>
              <a:rPr lang="en-US" sz="3800" b="1" dirty="0" smtClean="0">
                <a:solidFill>
                  <a:schemeClr val="bg1"/>
                </a:solidFill>
                <a:latin typeface="Times New Roman" pitchFamily="18" charset="0"/>
                <a:cs typeface="Times New Roman" pitchFamily="18" charset="0"/>
              </a:rPr>
              <a:t>Threats:</a:t>
            </a:r>
            <a:br>
              <a:rPr lang="en-US" sz="3800" b="1" dirty="0" smtClean="0">
                <a:solidFill>
                  <a:schemeClr val="bg1"/>
                </a:solidFill>
                <a:latin typeface="Times New Roman" pitchFamily="18" charset="0"/>
                <a:cs typeface="Times New Roman" pitchFamily="18" charset="0"/>
              </a:rPr>
            </a:br>
            <a:r>
              <a:rPr lang="en-US" sz="3800" b="1" dirty="0" smtClean="0">
                <a:solidFill>
                  <a:schemeClr val="bg1"/>
                </a:solidFill>
                <a:latin typeface="Times New Roman" pitchFamily="18" charset="0"/>
                <a:cs typeface="Times New Roman" pitchFamily="18" charset="0"/>
              </a:rPr>
              <a:t>Types</a:t>
            </a:r>
            <a:endParaRPr lang="en-US" sz="3800" b="1" dirty="0">
              <a:solidFill>
                <a:schemeClr val="bg1"/>
              </a:solidFill>
              <a:latin typeface="Times New Roman" pitchFamily="18" charset="0"/>
              <a:cs typeface="Times New Roman" pitchFamily="18" charset="0"/>
            </a:endParaRPr>
          </a:p>
        </p:txBody>
      </p:sp>
      <p:sp>
        <p:nvSpPr>
          <p:cNvPr id="3" name="Content Placeholder 2"/>
          <p:cNvSpPr>
            <a:spLocks noGrp="1"/>
          </p:cNvSpPr>
          <p:nvPr>
            <p:ph sz="half" idx="1"/>
          </p:nvPr>
        </p:nvSpPr>
        <p:spPr/>
        <p:txBody>
          <a:bodyPr>
            <a:normAutofit fontScale="92500" lnSpcReduction="10000"/>
          </a:bodyPr>
          <a:lstStyle/>
          <a:p>
            <a:pPr marL="288925" indent="-288925" algn="l" rtl="0" eaLnBrk="1" fontAlgn="auto" hangingPunct="1">
              <a:spcAft>
                <a:spcPts val="0"/>
              </a:spcAft>
              <a:buFont typeface="+mj-lt"/>
              <a:buAutoNum type="arabicPeriod" startAt="4"/>
              <a:defRPr/>
            </a:pPr>
            <a:r>
              <a:rPr lang="en-US" u="sng" dirty="0" smtClean="0">
                <a:latin typeface="Times New Roman" pitchFamily="18" charset="0"/>
                <a:cs typeface="Times New Roman" pitchFamily="18" charset="0"/>
              </a:rPr>
              <a:t>Fabrication:</a:t>
            </a:r>
            <a:r>
              <a:rPr lang="en-US" dirty="0" smtClean="0">
                <a:latin typeface="Times New Roman" pitchFamily="18" charset="0"/>
                <a:cs typeface="Times New Roman" pitchFamily="18" charset="0"/>
              </a:rPr>
              <a:t> </a:t>
            </a:r>
            <a:r>
              <a:rPr lang="en-US" altLang="zh-CN" dirty="0" smtClean="0">
                <a:latin typeface="Times New Roman" pitchFamily="18" charset="0"/>
                <a:cs typeface="Times New Roman" pitchFamily="18" charset="0"/>
              </a:rPr>
              <a:t>An unauthorized party might create a fabrication of counterfeit objects on a computing system. </a:t>
            </a:r>
          </a:p>
          <a:p>
            <a:pPr marL="548640" lvl="1" indent="-274320" algn="l" rtl="0" eaLnBrk="1" fontAlgn="auto" hangingPunct="1">
              <a:spcAft>
                <a:spcPts val="0"/>
              </a:spcAft>
              <a:buFont typeface="Wingdings" pitchFamily="2" charset="2"/>
              <a:buChar char="Ø"/>
              <a:defRPr/>
            </a:pPr>
            <a:r>
              <a:rPr lang="en-US" altLang="zh-CN" dirty="0" smtClean="0">
                <a:latin typeface="Times New Roman" pitchFamily="18" charset="0"/>
                <a:cs typeface="Times New Roman" pitchFamily="18" charset="0"/>
              </a:rPr>
              <a:t>Example: the intruder may insert spurious transactions to a network communication system, or add records to an existing database</a:t>
            </a:r>
          </a:p>
          <a:p>
            <a:pPr marL="274320" indent="-274320" algn="l" rtl="0" eaLnBrk="1" fontAlgn="auto" hangingPunct="1">
              <a:spcAft>
                <a:spcPts val="0"/>
              </a:spcAft>
              <a:buFont typeface="Wingdings 2"/>
              <a:buChar char=""/>
              <a:defRPr/>
            </a:pPr>
            <a:endParaRPr lang="en-US" dirty="0"/>
          </a:p>
        </p:txBody>
      </p:sp>
      <p:pic>
        <p:nvPicPr>
          <p:cNvPr id="52227" name="Picture 2"/>
          <p:cNvPicPr>
            <a:picLocks noGrp="1" noChangeAspect="1" noChangeArrowheads="1"/>
          </p:cNvPicPr>
          <p:nvPr>
            <p:ph sz="half" idx="2"/>
          </p:nvPr>
        </p:nvPicPr>
        <p:blipFill>
          <a:blip r:embed="rId2" cstate="print">
            <a:clrChange>
              <a:clrFrom>
                <a:srgbClr val="FFFFFF"/>
              </a:clrFrom>
              <a:clrTo>
                <a:srgbClr val="FFFFFF">
                  <a:alpha val="0"/>
                </a:srgbClr>
              </a:clrTo>
            </a:clrChange>
          </a:blip>
          <a:srcRect/>
          <a:stretch>
            <a:fillRect/>
          </a:stretch>
        </p:blipFill>
        <p:spPr>
          <a:xfrm>
            <a:off x="5327650" y="1828800"/>
            <a:ext cx="2984500" cy="3090863"/>
          </a:xfrm>
        </p:spPr>
      </p:pic>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F848CB21-A0F8-4B1C-84A1-A789CE7AF14D}" type="slidenum">
              <a:rPr lang="ar-SA">
                <a:solidFill>
                  <a:srgbClr val="CBA523"/>
                </a:solidFill>
                <a:cs typeface="Arial" charset="0"/>
              </a:rPr>
              <a:pPr fontAlgn="base">
                <a:spcBef>
                  <a:spcPct val="0"/>
                </a:spcBef>
                <a:spcAft>
                  <a:spcPct val="0"/>
                </a:spcAft>
                <a:defRPr/>
              </a:pPr>
              <a:t>28</a:t>
            </a:fld>
            <a:endParaRPr lang="en-US" dirty="0">
              <a:solidFill>
                <a:srgbClr val="CBA523"/>
              </a:solidFill>
              <a:cs typeface="Arial" charset="0"/>
            </a:endParaRPr>
          </a:p>
        </p:txBody>
      </p:sp>
      <p:sp>
        <p:nvSpPr>
          <p:cNvPr id="6" name="Rectangle 5"/>
          <p:cNvSpPr/>
          <p:nvPr/>
        </p:nvSpPr>
        <p:spPr>
          <a:xfrm>
            <a:off x="5137150" y="5376863"/>
            <a:ext cx="3475038" cy="430212"/>
          </a:xfrm>
          <a:prstGeom prst="rect">
            <a:avLst/>
          </a:prstGeom>
        </p:spPr>
        <p:txBody>
          <a:bodyPr wrap="none">
            <a:spAutoFit/>
          </a:bodyPr>
          <a:lstStyle/>
          <a:p>
            <a:pPr algn="ctr" rtl="0" fontAlgn="auto">
              <a:spcBef>
                <a:spcPts val="0"/>
              </a:spcBef>
              <a:spcAft>
                <a:spcPts val="0"/>
              </a:spcAft>
              <a:defRPr/>
            </a:pPr>
            <a:r>
              <a:rPr lang="en-US" sz="2200" dirty="0">
                <a:solidFill>
                  <a:schemeClr val="accent2">
                    <a:lumMod val="50000"/>
                  </a:schemeClr>
                </a:solidFill>
                <a:latin typeface="Arial" pitchFamily="34" charset="0"/>
                <a:cs typeface="+mn-cs"/>
              </a:rPr>
              <a:t>~ an attack on authenticity</a:t>
            </a:r>
          </a:p>
        </p:txBody>
      </p:sp>
    </p:spTree>
    <p:extLst>
      <p:ext uri="{BB962C8B-B14F-4D97-AF65-F5344CB8AC3E}">
        <p14:creationId xmlns:p14="http://schemas.microsoft.com/office/powerpoint/2010/main" val="40151450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pPr eaLnBrk="1" fontAlgn="auto" hangingPunct="1">
              <a:spcAft>
                <a:spcPts val="0"/>
              </a:spcAft>
              <a:defRPr/>
            </a:pPr>
            <a:r>
              <a:rPr lang="en-US" sz="3800" b="1" dirty="0" smtClean="0">
                <a:solidFill>
                  <a:schemeClr val="bg1"/>
                </a:solidFill>
                <a:latin typeface="Times New Roman" pitchFamily="18" charset="0"/>
                <a:cs typeface="Times New Roman" pitchFamily="18" charset="0"/>
              </a:rPr>
              <a:t>Threats: </a:t>
            </a:r>
            <a:br>
              <a:rPr lang="en-US" sz="3800" b="1" dirty="0" smtClean="0">
                <a:solidFill>
                  <a:schemeClr val="bg1"/>
                </a:solidFill>
                <a:latin typeface="Times New Roman" pitchFamily="18" charset="0"/>
                <a:cs typeface="Times New Roman" pitchFamily="18" charset="0"/>
              </a:rPr>
            </a:br>
            <a:r>
              <a:rPr lang="en-US" sz="3800" b="1" dirty="0" smtClean="0">
                <a:solidFill>
                  <a:schemeClr val="bg1"/>
                </a:solidFill>
                <a:latin typeface="Times New Roman" pitchFamily="18" charset="0"/>
                <a:cs typeface="Times New Roman" pitchFamily="18" charset="0"/>
              </a:rPr>
              <a:t>Examples</a:t>
            </a:r>
            <a:endParaRPr lang="en-US" sz="3800" b="1" dirty="0">
              <a:solidFill>
                <a:schemeClr val="bg1"/>
              </a:solidFill>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A8C5BB6D-9FD7-407A-9354-E6024F344E63}" type="slidenum">
              <a:rPr lang="ar-SA">
                <a:solidFill>
                  <a:srgbClr val="CBA523"/>
                </a:solidFill>
                <a:cs typeface="Arial" charset="0"/>
              </a:rPr>
              <a:pPr fontAlgn="base">
                <a:spcBef>
                  <a:spcPct val="0"/>
                </a:spcBef>
                <a:spcAft>
                  <a:spcPct val="0"/>
                </a:spcAft>
                <a:defRPr/>
              </a:pPr>
              <a:t>29</a:t>
            </a:fld>
            <a:endParaRPr lang="en-US" dirty="0">
              <a:solidFill>
                <a:srgbClr val="CBA523"/>
              </a:solidFill>
              <a:cs typeface="Arial" charset="0"/>
            </a:endParaRPr>
          </a:p>
        </p:txBody>
      </p:sp>
      <p:sp>
        <p:nvSpPr>
          <p:cNvPr id="53251" name="AutoShape 4"/>
          <p:cNvSpPr>
            <a:spLocks noChangeArrowheads="1"/>
          </p:cNvSpPr>
          <p:nvPr/>
        </p:nvSpPr>
        <p:spPr bwMode="auto">
          <a:xfrm>
            <a:off x="685800" y="1739900"/>
            <a:ext cx="4000500" cy="4279900"/>
          </a:xfrm>
          <a:prstGeom prst="roundRect">
            <a:avLst>
              <a:gd name="adj" fmla="val 16667"/>
            </a:avLst>
          </a:prstGeom>
          <a:solidFill>
            <a:schemeClr val="accent1"/>
          </a:solidFill>
          <a:ln w="12700">
            <a:solidFill>
              <a:schemeClr val="tx1"/>
            </a:solidFill>
            <a:round/>
            <a:headEnd/>
            <a:tailEnd/>
          </a:ln>
        </p:spPr>
        <p:txBody>
          <a:bodyPr wrap="none" anchor="ctr"/>
          <a:lstStyle/>
          <a:p>
            <a:pPr algn="l" rtl="0"/>
            <a:endParaRPr lang="ar-SA">
              <a:latin typeface="Georgia" pitchFamily="18" charset="0"/>
            </a:endParaRPr>
          </a:p>
        </p:txBody>
      </p:sp>
      <p:sp>
        <p:nvSpPr>
          <p:cNvPr id="53252" name="computr2"/>
          <p:cNvSpPr>
            <a:spLocks noEditPoints="1" noChangeArrowheads="1"/>
          </p:cNvSpPr>
          <p:nvPr/>
        </p:nvSpPr>
        <p:spPr bwMode="auto">
          <a:xfrm>
            <a:off x="2078038" y="1838325"/>
            <a:ext cx="730250" cy="679450"/>
          </a:xfrm>
          <a:custGeom>
            <a:avLst/>
            <a:gdLst>
              <a:gd name="T0" fmla="*/ 12344098 w 21600"/>
              <a:gd name="T1" fmla="*/ 0 h 21600"/>
              <a:gd name="T2" fmla="*/ 12344098 w 21600"/>
              <a:gd name="T3" fmla="*/ 21372792 h 21600"/>
              <a:gd name="T4" fmla="*/ 19803130 w 21600"/>
              <a:gd name="T5" fmla="*/ 0 h 21600"/>
              <a:gd name="T6" fmla="*/ 4885069 w 21600"/>
              <a:gd name="T7" fmla="*/ 0 h 21600"/>
              <a:gd name="T8" fmla="*/ 4885069 w 21600"/>
              <a:gd name="T9" fmla="*/ 11508656 h 21600"/>
              <a:gd name="T10" fmla="*/ 19803130 w 21600"/>
              <a:gd name="T11" fmla="*/ 11508656 h 21600"/>
              <a:gd name="T12" fmla="*/ 4885069 w 21600"/>
              <a:gd name="T13" fmla="*/ 5754816 h 21600"/>
              <a:gd name="T14" fmla="*/ 19803130 w 21600"/>
              <a:gd name="T15" fmla="*/ 5754816 h 21600"/>
              <a:gd name="T16" fmla="*/ 21519893 w 21600"/>
              <a:gd name="T17" fmla="*/ 15618950 h 21600"/>
              <a:gd name="T18" fmla="*/ 3168304 w 21600"/>
              <a:gd name="T19" fmla="*/ 1561895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3253" name="computr2"/>
          <p:cNvSpPr>
            <a:spLocks noEditPoints="1" noChangeArrowheads="1"/>
          </p:cNvSpPr>
          <p:nvPr/>
        </p:nvSpPr>
        <p:spPr bwMode="auto">
          <a:xfrm>
            <a:off x="2078038" y="2740025"/>
            <a:ext cx="730250" cy="679450"/>
          </a:xfrm>
          <a:custGeom>
            <a:avLst/>
            <a:gdLst>
              <a:gd name="T0" fmla="*/ 12344098 w 21600"/>
              <a:gd name="T1" fmla="*/ 0 h 21600"/>
              <a:gd name="T2" fmla="*/ 12344098 w 21600"/>
              <a:gd name="T3" fmla="*/ 21372792 h 21600"/>
              <a:gd name="T4" fmla="*/ 19803130 w 21600"/>
              <a:gd name="T5" fmla="*/ 0 h 21600"/>
              <a:gd name="T6" fmla="*/ 4885069 w 21600"/>
              <a:gd name="T7" fmla="*/ 0 h 21600"/>
              <a:gd name="T8" fmla="*/ 4885069 w 21600"/>
              <a:gd name="T9" fmla="*/ 11508656 h 21600"/>
              <a:gd name="T10" fmla="*/ 19803130 w 21600"/>
              <a:gd name="T11" fmla="*/ 11508656 h 21600"/>
              <a:gd name="T12" fmla="*/ 4885069 w 21600"/>
              <a:gd name="T13" fmla="*/ 5754816 h 21600"/>
              <a:gd name="T14" fmla="*/ 19803130 w 21600"/>
              <a:gd name="T15" fmla="*/ 5754816 h 21600"/>
              <a:gd name="T16" fmla="*/ 21519893 w 21600"/>
              <a:gd name="T17" fmla="*/ 15618950 h 21600"/>
              <a:gd name="T18" fmla="*/ 3168304 w 21600"/>
              <a:gd name="T19" fmla="*/ 1561895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3254" name="computr2"/>
          <p:cNvSpPr>
            <a:spLocks noEditPoints="1" noChangeArrowheads="1"/>
          </p:cNvSpPr>
          <p:nvPr/>
        </p:nvSpPr>
        <p:spPr bwMode="auto">
          <a:xfrm>
            <a:off x="2103438" y="3679825"/>
            <a:ext cx="730250" cy="679450"/>
          </a:xfrm>
          <a:custGeom>
            <a:avLst/>
            <a:gdLst>
              <a:gd name="T0" fmla="*/ 12344098 w 21600"/>
              <a:gd name="T1" fmla="*/ 0 h 21600"/>
              <a:gd name="T2" fmla="*/ 12344098 w 21600"/>
              <a:gd name="T3" fmla="*/ 21372792 h 21600"/>
              <a:gd name="T4" fmla="*/ 19803130 w 21600"/>
              <a:gd name="T5" fmla="*/ 0 h 21600"/>
              <a:gd name="T6" fmla="*/ 4885069 w 21600"/>
              <a:gd name="T7" fmla="*/ 0 h 21600"/>
              <a:gd name="T8" fmla="*/ 4885069 w 21600"/>
              <a:gd name="T9" fmla="*/ 11508656 h 21600"/>
              <a:gd name="T10" fmla="*/ 19803130 w 21600"/>
              <a:gd name="T11" fmla="*/ 11508656 h 21600"/>
              <a:gd name="T12" fmla="*/ 4885069 w 21600"/>
              <a:gd name="T13" fmla="*/ 5754816 h 21600"/>
              <a:gd name="T14" fmla="*/ 19803130 w 21600"/>
              <a:gd name="T15" fmla="*/ 5754816 h 21600"/>
              <a:gd name="T16" fmla="*/ 21519893 w 21600"/>
              <a:gd name="T17" fmla="*/ 15618950 h 21600"/>
              <a:gd name="T18" fmla="*/ 3168304 w 21600"/>
              <a:gd name="T19" fmla="*/ 1561895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3255" name="computr2"/>
          <p:cNvSpPr>
            <a:spLocks noEditPoints="1" noChangeArrowheads="1"/>
          </p:cNvSpPr>
          <p:nvPr/>
        </p:nvSpPr>
        <p:spPr bwMode="auto">
          <a:xfrm>
            <a:off x="2128838" y="4619625"/>
            <a:ext cx="730250" cy="679450"/>
          </a:xfrm>
          <a:custGeom>
            <a:avLst/>
            <a:gdLst>
              <a:gd name="T0" fmla="*/ 12344098 w 21600"/>
              <a:gd name="T1" fmla="*/ 0 h 21600"/>
              <a:gd name="T2" fmla="*/ 12344098 w 21600"/>
              <a:gd name="T3" fmla="*/ 21372792 h 21600"/>
              <a:gd name="T4" fmla="*/ 19803130 w 21600"/>
              <a:gd name="T5" fmla="*/ 0 h 21600"/>
              <a:gd name="T6" fmla="*/ 4885069 w 21600"/>
              <a:gd name="T7" fmla="*/ 0 h 21600"/>
              <a:gd name="T8" fmla="*/ 4885069 w 21600"/>
              <a:gd name="T9" fmla="*/ 11508656 h 21600"/>
              <a:gd name="T10" fmla="*/ 19803130 w 21600"/>
              <a:gd name="T11" fmla="*/ 11508656 h 21600"/>
              <a:gd name="T12" fmla="*/ 4885069 w 21600"/>
              <a:gd name="T13" fmla="*/ 5754816 h 21600"/>
              <a:gd name="T14" fmla="*/ 19803130 w 21600"/>
              <a:gd name="T15" fmla="*/ 5754816 h 21600"/>
              <a:gd name="T16" fmla="*/ 21519893 w 21600"/>
              <a:gd name="T17" fmla="*/ 15618950 h 21600"/>
              <a:gd name="T18" fmla="*/ 3168304 w 21600"/>
              <a:gd name="T19" fmla="*/ 1561895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3256" name="Text Box 10"/>
          <p:cNvSpPr txBox="1">
            <a:spLocks noChangeArrowheads="1"/>
          </p:cNvSpPr>
          <p:nvPr/>
        </p:nvSpPr>
        <p:spPr bwMode="auto">
          <a:xfrm>
            <a:off x="927100" y="1816100"/>
            <a:ext cx="1092200" cy="822325"/>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Steal, alter, or delete confidential files</a:t>
            </a:r>
          </a:p>
        </p:txBody>
      </p:sp>
      <p:sp>
        <p:nvSpPr>
          <p:cNvPr id="53257" name="Text Box 11"/>
          <p:cNvSpPr txBox="1">
            <a:spLocks noChangeArrowheads="1"/>
          </p:cNvSpPr>
          <p:nvPr/>
        </p:nvSpPr>
        <p:spPr bwMode="auto">
          <a:xfrm>
            <a:off x="914400" y="2768600"/>
            <a:ext cx="1054100" cy="639763"/>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Steal hardware devices</a:t>
            </a:r>
          </a:p>
        </p:txBody>
      </p:sp>
      <p:sp>
        <p:nvSpPr>
          <p:cNvPr id="53258" name="Text Box 12"/>
          <p:cNvSpPr txBox="1">
            <a:spLocks noChangeArrowheads="1"/>
          </p:cNvSpPr>
          <p:nvPr/>
        </p:nvSpPr>
        <p:spPr bwMode="auto">
          <a:xfrm>
            <a:off x="901700" y="3683000"/>
            <a:ext cx="1079500" cy="457200"/>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Virus infection</a:t>
            </a:r>
          </a:p>
        </p:txBody>
      </p:sp>
      <p:sp>
        <p:nvSpPr>
          <p:cNvPr id="53259" name="Text Box 13"/>
          <p:cNvSpPr txBox="1">
            <a:spLocks noChangeArrowheads="1"/>
          </p:cNvSpPr>
          <p:nvPr/>
        </p:nvSpPr>
        <p:spPr bwMode="auto">
          <a:xfrm>
            <a:off x="876300" y="4648200"/>
            <a:ext cx="1117600" cy="457200"/>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Operation mistake</a:t>
            </a:r>
          </a:p>
        </p:txBody>
      </p:sp>
      <p:sp>
        <p:nvSpPr>
          <p:cNvPr id="53260" name="Text Box 14"/>
          <p:cNvSpPr txBox="1">
            <a:spLocks noChangeArrowheads="1"/>
          </p:cNvSpPr>
          <p:nvPr/>
        </p:nvSpPr>
        <p:spPr bwMode="auto">
          <a:xfrm>
            <a:off x="1562100" y="5346700"/>
            <a:ext cx="1803400" cy="457200"/>
          </a:xfrm>
          <a:prstGeom prst="rect">
            <a:avLst/>
          </a:prstGeom>
          <a:noFill/>
          <a:ln w="12700">
            <a:noFill/>
            <a:miter lim="800000"/>
            <a:headEnd/>
            <a:tailEnd/>
          </a:ln>
        </p:spPr>
        <p:txBody>
          <a:bodyPr>
            <a:spAutoFit/>
          </a:bodyPr>
          <a:lstStyle/>
          <a:p>
            <a:pPr algn="ctr" rtl="0">
              <a:spcBef>
                <a:spcPct val="50000"/>
              </a:spcBef>
            </a:pPr>
            <a:r>
              <a:rPr lang="en-US" sz="1200" b="1" dirty="0">
                <a:latin typeface="Georgia" pitchFamily="18" charset="0"/>
              </a:rPr>
              <a:t>Unauthorized access to the Internet</a:t>
            </a:r>
          </a:p>
        </p:txBody>
      </p:sp>
      <p:sp>
        <p:nvSpPr>
          <p:cNvPr id="53261" name="Line 16"/>
          <p:cNvSpPr>
            <a:spLocks noChangeShapeType="1"/>
          </p:cNvSpPr>
          <p:nvPr/>
        </p:nvSpPr>
        <p:spPr bwMode="auto">
          <a:xfrm>
            <a:off x="3429000" y="2044700"/>
            <a:ext cx="12700" cy="2806700"/>
          </a:xfrm>
          <a:prstGeom prst="line">
            <a:avLst/>
          </a:prstGeom>
          <a:noFill/>
          <a:ln w="12700">
            <a:solidFill>
              <a:schemeClr val="tx1"/>
            </a:solidFill>
            <a:round/>
            <a:headEnd/>
            <a:tailEnd/>
          </a:ln>
        </p:spPr>
        <p:txBody>
          <a:bodyPr/>
          <a:lstStyle/>
          <a:p>
            <a:endParaRPr lang="ar-SA"/>
          </a:p>
        </p:txBody>
      </p:sp>
      <p:sp>
        <p:nvSpPr>
          <p:cNvPr id="53262" name="Line 17"/>
          <p:cNvSpPr>
            <a:spLocks noChangeShapeType="1"/>
          </p:cNvSpPr>
          <p:nvPr/>
        </p:nvSpPr>
        <p:spPr bwMode="auto">
          <a:xfrm flipH="1">
            <a:off x="2921000" y="2057400"/>
            <a:ext cx="495300" cy="0"/>
          </a:xfrm>
          <a:prstGeom prst="line">
            <a:avLst/>
          </a:prstGeom>
          <a:noFill/>
          <a:ln w="12700">
            <a:solidFill>
              <a:schemeClr val="tx1"/>
            </a:solidFill>
            <a:round/>
            <a:headEnd/>
            <a:tailEnd/>
          </a:ln>
        </p:spPr>
        <p:txBody>
          <a:bodyPr/>
          <a:lstStyle/>
          <a:p>
            <a:endParaRPr lang="ar-SA"/>
          </a:p>
        </p:txBody>
      </p:sp>
      <p:sp>
        <p:nvSpPr>
          <p:cNvPr id="53263" name="Line 18"/>
          <p:cNvSpPr>
            <a:spLocks noChangeShapeType="1"/>
          </p:cNvSpPr>
          <p:nvPr/>
        </p:nvSpPr>
        <p:spPr bwMode="auto">
          <a:xfrm flipH="1">
            <a:off x="2895600" y="2984500"/>
            <a:ext cx="533400" cy="0"/>
          </a:xfrm>
          <a:prstGeom prst="line">
            <a:avLst/>
          </a:prstGeom>
          <a:noFill/>
          <a:ln w="12700">
            <a:solidFill>
              <a:schemeClr val="tx1"/>
            </a:solidFill>
            <a:round/>
            <a:headEnd/>
            <a:tailEnd/>
          </a:ln>
        </p:spPr>
        <p:txBody>
          <a:bodyPr/>
          <a:lstStyle/>
          <a:p>
            <a:endParaRPr lang="ar-SA"/>
          </a:p>
        </p:txBody>
      </p:sp>
      <p:sp>
        <p:nvSpPr>
          <p:cNvPr id="53264" name="Line 19"/>
          <p:cNvSpPr>
            <a:spLocks noChangeShapeType="1"/>
          </p:cNvSpPr>
          <p:nvPr/>
        </p:nvSpPr>
        <p:spPr bwMode="auto">
          <a:xfrm flipH="1">
            <a:off x="2895600" y="3860800"/>
            <a:ext cx="508000" cy="0"/>
          </a:xfrm>
          <a:prstGeom prst="line">
            <a:avLst/>
          </a:prstGeom>
          <a:noFill/>
          <a:ln w="12700">
            <a:solidFill>
              <a:schemeClr val="tx1"/>
            </a:solidFill>
            <a:round/>
            <a:headEnd/>
            <a:tailEnd/>
          </a:ln>
        </p:spPr>
        <p:txBody>
          <a:bodyPr/>
          <a:lstStyle/>
          <a:p>
            <a:endParaRPr lang="ar-SA"/>
          </a:p>
        </p:txBody>
      </p:sp>
      <p:sp>
        <p:nvSpPr>
          <p:cNvPr id="53265" name="Line 20"/>
          <p:cNvSpPr>
            <a:spLocks noChangeShapeType="1"/>
          </p:cNvSpPr>
          <p:nvPr/>
        </p:nvSpPr>
        <p:spPr bwMode="auto">
          <a:xfrm flipH="1">
            <a:off x="2971800" y="4826000"/>
            <a:ext cx="444500" cy="0"/>
          </a:xfrm>
          <a:prstGeom prst="line">
            <a:avLst/>
          </a:prstGeom>
          <a:noFill/>
          <a:ln w="12700">
            <a:solidFill>
              <a:schemeClr val="tx1"/>
            </a:solidFill>
            <a:round/>
            <a:headEnd/>
            <a:tailEnd/>
          </a:ln>
        </p:spPr>
        <p:txBody>
          <a:bodyPr/>
          <a:lstStyle/>
          <a:p>
            <a:endParaRPr lang="ar-SA"/>
          </a:p>
        </p:txBody>
      </p:sp>
      <p:sp>
        <p:nvSpPr>
          <p:cNvPr id="53266" name="Line 21"/>
          <p:cNvSpPr>
            <a:spLocks noChangeShapeType="1"/>
          </p:cNvSpPr>
          <p:nvPr/>
        </p:nvSpPr>
        <p:spPr bwMode="auto">
          <a:xfrm flipV="1">
            <a:off x="3225800" y="3378200"/>
            <a:ext cx="3632200" cy="12700"/>
          </a:xfrm>
          <a:prstGeom prst="line">
            <a:avLst/>
          </a:prstGeom>
          <a:noFill/>
          <a:ln w="12700">
            <a:solidFill>
              <a:schemeClr val="tx1"/>
            </a:solidFill>
            <a:round/>
            <a:headEnd/>
            <a:tailEnd/>
          </a:ln>
        </p:spPr>
        <p:txBody>
          <a:bodyPr/>
          <a:lstStyle/>
          <a:p>
            <a:endParaRPr lang="ar-SA"/>
          </a:p>
        </p:txBody>
      </p:sp>
      <p:pic>
        <p:nvPicPr>
          <p:cNvPr id="53267" name="Picture 23" descr="MCBD06708_0000[1]"/>
          <p:cNvPicPr>
            <a:picLocks noChangeAspect="1" noChangeArrowheads="1"/>
          </p:cNvPicPr>
          <p:nvPr/>
        </p:nvPicPr>
        <p:blipFill>
          <a:blip r:embed="rId2" cstate="print"/>
          <a:srcRect/>
          <a:stretch>
            <a:fillRect/>
          </a:stretch>
        </p:blipFill>
        <p:spPr bwMode="auto">
          <a:xfrm>
            <a:off x="4351338" y="5097463"/>
            <a:ext cx="627062" cy="612775"/>
          </a:xfrm>
          <a:prstGeom prst="rect">
            <a:avLst/>
          </a:prstGeom>
          <a:noFill/>
          <a:ln w="9525">
            <a:noFill/>
            <a:miter lim="800000"/>
            <a:headEnd/>
            <a:tailEnd/>
          </a:ln>
        </p:spPr>
      </p:pic>
      <p:sp>
        <p:nvSpPr>
          <p:cNvPr id="53268" name="Text Box 24"/>
          <p:cNvSpPr txBox="1">
            <a:spLocks noChangeArrowheads="1"/>
          </p:cNvSpPr>
          <p:nvPr/>
        </p:nvSpPr>
        <p:spPr bwMode="auto">
          <a:xfrm>
            <a:off x="4914900" y="4610100"/>
            <a:ext cx="1308100" cy="457200"/>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Unauthorized break-in</a:t>
            </a:r>
          </a:p>
        </p:txBody>
      </p:sp>
      <p:sp>
        <p:nvSpPr>
          <p:cNvPr id="53269" name="modem"/>
          <p:cNvSpPr>
            <a:spLocks noEditPoints="1" noChangeArrowheads="1"/>
          </p:cNvSpPr>
          <p:nvPr/>
        </p:nvSpPr>
        <p:spPr bwMode="auto">
          <a:xfrm>
            <a:off x="3741738" y="3225800"/>
            <a:ext cx="717550" cy="177800"/>
          </a:xfrm>
          <a:custGeom>
            <a:avLst/>
            <a:gdLst>
              <a:gd name="T0" fmla="*/ 0 w 21600"/>
              <a:gd name="T1" fmla="*/ 349089 h 21600"/>
              <a:gd name="T2" fmla="*/ 3245585 w 21600"/>
              <a:gd name="T3" fmla="*/ 0 h 21600"/>
              <a:gd name="T4" fmla="*/ 20553855 w 21600"/>
              <a:gd name="T5" fmla="*/ 0 h 21600"/>
              <a:gd name="T6" fmla="*/ 23836944 w 21600"/>
              <a:gd name="T7" fmla="*/ 349089 h 21600"/>
              <a:gd name="T8" fmla="*/ 23836944 w 21600"/>
              <a:gd name="T9" fmla="*/ 1463557 h 21600"/>
              <a:gd name="T10" fmla="*/ 0 w 21600"/>
              <a:gd name="T11" fmla="*/ 1463557 h 21600"/>
              <a:gd name="T12" fmla="*/ 11918472 w 21600"/>
              <a:gd name="T13" fmla="*/ 0 h 21600"/>
              <a:gd name="T14" fmla="*/ 11918472 w 21600"/>
              <a:gd name="T15" fmla="*/ 1463557 h 21600"/>
              <a:gd name="T16" fmla="*/ 0 w 21600"/>
              <a:gd name="T17" fmla="*/ 906319 h 21600"/>
              <a:gd name="T18" fmla="*/ 23836944 w 21600"/>
              <a:gd name="T19" fmla="*/ 906319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pPr algn="l" rtl="0"/>
            <a:endParaRPr lang="ar-SA">
              <a:latin typeface="Georgia" pitchFamily="18" charset="0"/>
            </a:endParaRPr>
          </a:p>
        </p:txBody>
      </p:sp>
      <p:sp>
        <p:nvSpPr>
          <p:cNvPr id="53270" name="AutoShape 27"/>
          <p:cNvSpPr>
            <a:spLocks noChangeArrowheads="1"/>
          </p:cNvSpPr>
          <p:nvPr/>
        </p:nvSpPr>
        <p:spPr bwMode="auto">
          <a:xfrm>
            <a:off x="6654800" y="2870200"/>
            <a:ext cx="1651000" cy="1028700"/>
          </a:xfrm>
          <a:prstGeom prst="irregularSeal1">
            <a:avLst/>
          </a:prstGeom>
          <a:solidFill>
            <a:schemeClr val="accent1"/>
          </a:solidFill>
          <a:ln w="12700">
            <a:solidFill>
              <a:schemeClr val="tx1"/>
            </a:solidFill>
            <a:miter lim="800000"/>
            <a:headEnd/>
            <a:tailEnd/>
          </a:ln>
        </p:spPr>
        <p:txBody>
          <a:bodyPr wrap="none" anchor="ctr"/>
          <a:lstStyle/>
          <a:p>
            <a:pPr algn="ctr" rtl="0"/>
            <a:r>
              <a:rPr lang="en-US" b="1" dirty="0">
                <a:latin typeface="Georgia" pitchFamily="18" charset="0"/>
              </a:rPr>
              <a:t>Internet</a:t>
            </a:r>
          </a:p>
        </p:txBody>
      </p:sp>
      <p:sp>
        <p:nvSpPr>
          <p:cNvPr id="53271" name="Text Box 28"/>
          <p:cNvSpPr txBox="1">
            <a:spLocks noChangeArrowheads="1"/>
          </p:cNvSpPr>
          <p:nvPr/>
        </p:nvSpPr>
        <p:spPr bwMode="auto">
          <a:xfrm>
            <a:off x="7543800" y="3911600"/>
            <a:ext cx="1143000" cy="646113"/>
          </a:xfrm>
          <a:prstGeom prst="rect">
            <a:avLst/>
          </a:prstGeom>
          <a:noFill/>
          <a:ln w="12700">
            <a:noFill/>
            <a:miter lim="800000"/>
            <a:headEnd/>
            <a:tailEnd/>
          </a:ln>
        </p:spPr>
        <p:txBody>
          <a:bodyPr>
            <a:spAutoFit/>
          </a:bodyPr>
          <a:lstStyle/>
          <a:p>
            <a:pPr algn="l" rtl="0">
              <a:spcBef>
                <a:spcPct val="50000"/>
              </a:spcBef>
            </a:pPr>
            <a:r>
              <a:rPr lang="en-US" sz="1200" dirty="0">
                <a:latin typeface="Georgia" pitchFamily="18" charset="0"/>
              </a:rPr>
              <a:t>Unauthorized access from the Internet</a:t>
            </a:r>
          </a:p>
        </p:txBody>
      </p:sp>
      <p:sp>
        <p:nvSpPr>
          <p:cNvPr id="53272" name="Line 29"/>
          <p:cNvSpPr>
            <a:spLocks noChangeShapeType="1"/>
          </p:cNvSpPr>
          <p:nvPr/>
        </p:nvSpPr>
        <p:spPr bwMode="auto">
          <a:xfrm>
            <a:off x="7467600" y="3606800"/>
            <a:ext cx="0" cy="1536700"/>
          </a:xfrm>
          <a:prstGeom prst="line">
            <a:avLst/>
          </a:prstGeom>
          <a:noFill/>
          <a:ln w="12700">
            <a:solidFill>
              <a:schemeClr val="tx1"/>
            </a:solidFill>
            <a:round/>
            <a:headEnd/>
            <a:tailEnd/>
          </a:ln>
        </p:spPr>
        <p:txBody>
          <a:bodyPr/>
          <a:lstStyle/>
          <a:p>
            <a:endParaRPr lang="ar-SA"/>
          </a:p>
        </p:txBody>
      </p:sp>
      <p:pic>
        <p:nvPicPr>
          <p:cNvPr id="53273" name="Picture 31" descr="1043_evil_male_computer_hacker_typing">
            <a:hlinkClick r:id="rId3"/>
          </p:cNvPr>
          <p:cNvPicPr>
            <a:picLocks noChangeAspect="1" noChangeArrowheads="1"/>
          </p:cNvPicPr>
          <p:nvPr/>
        </p:nvPicPr>
        <p:blipFill>
          <a:blip r:embed="rId4" cstate="print"/>
          <a:srcRect/>
          <a:stretch>
            <a:fillRect/>
          </a:stretch>
        </p:blipFill>
        <p:spPr bwMode="auto">
          <a:xfrm>
            <a:off x="7197725" y="4787900"/>
            <a:ext cx="1057275" cy="990600"/>
          </a:xfrm>
          <a:prstGeom prst="rect">
            <a:avLst/>
          </a:prstGeom>
          <a:noFill/>
          <a:ln w="9525">
            <a:noFill/>
            <a:miter lim="800000"/>
            <a:headEnd/>
            <a:tailEnd/>
          </a:ln>
        </p:spPr>
      </p:pic>
    </p:spTree>
    <p:extLst>
      <p:ext uri="{BB962C8B-B14F-4D97-AF65-F5344CB8AC3E}">
        <p14:creationId xmlns:p14="http://schemas.microsoft.com/office/powerpoint/2010/main" val="17895892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6"/>
          <p:cNvSpPr>
            <a:spLocks noGrp="1"/>
          </p:cNvSpPr>
          <p:nvPr>
            <p:ph type="title"/>
          </p:nvPr>
        </p:nvSpPr>
        <p:spPr>
          <a:xfrm>
            <a:off x="762000" y="130175"/>
            <a:ext cx="7543800" cy="658214"/>
          </a:xfrm>
        </p:spPr>
        <p:txBody>
          <a:bodyPr/>
          <a:lstStyle/>
          <a:p>
            <a:pPr eaLnBrk="1" hangingPunct="1"/>
            <a:r>
              <a:rPr lang="en-US" sz="3800" b="1" dirty="0" smtClean="0">
                <a:solidFill>
                  <a:schemeClr val="bg1"/>
                </a:solidFill>
                <a:latin typeface="Times New Roman" pitchFamily="18" charset="0"/>
                <a:cs typeface="Times New Roman" pitchFamily="18" charset="0"/>
              </a:rPr>
              <a:t>Vulnerabilities</a:t>
            </a:r>
          </a:p>
        </p:txBody>
      </p:sp>
      <p:sp>
        <p:nvSpPr>
          <p:cNvPr id="30723" name="Rectangle 3"/>
          <p:cNvSpPr>
            <a:spLocks noGrp="1" noChangeArrowheads="1"/>
          </p:cNvSpPr>
          <p:nvPr>
            <p:ph idx="1"/>
          </p:nvPr>
        </p:nvSpPr>
        <p:spPr>
          <a:xfrm>
            <a:off x="447675" y="877289"/>
            <a:ext cx="8153400" cy="5980711"/>
          </a:xfrm>
        </p:spPr>
        <p:txBody>
          <a:bodyPr>
            <a:noAutofit/>
          </a:bodyPr>
          <a:lstStyle/>
          <a:p>
            <a:pPr marL="274320" indent="-274320" algn="l" rtl="0" eaLnBrk="1" fontAlgn="auto" hangingPunct="1">
              <a:spcAft>
                <a:spcPts val="0"/>
              </a:spcAft>
              <a:buFont typeface="Wingdings" pitchFamily="2" charset="2"/>
              <a:buChar char="Ø"/>
              <a:defRPr/>
            </a:pPr>
            <a:r>
              <a:rPr lang="en-US" sz="2800" u="sng" dirty="0" smtClean="0">
                <a:latin typeface="Times New Roman" pitchFamily="18" charset="0"/>
                <a:cs typeface="Times New Roman" pitchFamily="18" charset="0"/>
              </a:rPr>
              <a:t>Definition:</a:t>
            </a:r>
            <a:r>
              <a:rPr lang="en-US" sz="2800" dirty="0" smtClean="0">
                <a:latin typeface="Times New Roman" pitchFamily="18" charset="0"/>
                <a:cs typeface="Times New Roman" pitchFamily="18" charset="0"/>
              </a:rPr>
              <a:t> A weakness in the organization, computer system, or network that can be exploited by threat.</a:t>
            </a:r>
          </a:p>
          <a:p>
            <a:pPr marL="274320" indent="-274320" algn="l" rtl="0" eaLnBrk="1" fontAlgn="auto" hangingPunct="1">
              <a:spcAft>
                <a:spcPts val="0"/>
              </a:spcAft>
              <a:buFont typeface="Wingdings" pitchFamily="2" charset="2"/>
              <a:buChar char="Ø"/>
              <a:defRPr/>
            </a:pPr>
            <a:r>
              <a:rPr lang="en-US" altLang="zh-CN" sz="2800" dirty="0" smtClean="0">
                <a:latin typeface="Times New Roman" pitchFamily="18" charset="0"/>
                <a:cs typeface="Times New Roman" pitchFamily="18" charset="0"/>
              </a:rPr>
              <a:t>Examples:</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Security policy is not set.</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Roles and responsibilities are vague(unclear).</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Security training of employees are inadequate (insufficient).</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Building entrance are not checked thoroughly.</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There is not protection against computer viruses.</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A software bug exists in the server OS.</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No password rules are set.</a:t>
            </a:r>
          </a:p>
          <a:p>
            <a:pPr marL="548640" lvl="1" indent="-274320" algn="l" rtl="0" eaLnBrk="1" fontAlgn="auto" hangingPunct="1">
              <a:spcAft>
                <a:spcPts val="0"/>
              </a:spcAft>
              <a:buFont typeface="Wingdings" pitchFamily="2" charset="2"/>
              <a:buChar char="Ø"/>
              <a:defRPr/>
            </a:pPr>
            <a:r>
              <a:rPr lang="en-US" dirty="0" smtClean="0">
                <a:latin typeface="Times New Roman" pitchFamily="18" charset="0"/>
                <a:cs typeface="Times New Roman" pitchFamily="18" charset="0"/>
              </a:rPr>
              <a:t>Confidential data are sent over the network.</a:t>
            </a:r>
            <a:endParaRPr lang="en-US" altLang="zh-CN" dirty="0" smtClean="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3965AE1B-9E71-401A-A776-6C17D17E0523}" type="slidenum">
              <a:rPr lang="ar-SA">
                <a:solidFill>
                  <a:srgbClr val="CBA523"/>
                </a:solidFill>
                <a:cs typeface="Arial" charset="0"/>
              </a:rPr>
              <a:pPr fontAlgn="base">
                <a:spcBef>
                  <a:spcPct val="0"/>
                </a:spcBef>
                <a:spcAft>
                  <a:spcPct val="0"/>
                </a:spcAft>
                <a:defRPr/>
              </a:pPr>
              <a:t>30</a:t>
            </a:fld>
            <a:endParaRPr lang="en-US" dirty="0">
              <a:solidFill>
                <a:srgbClr val="CBA523"/>
              </a:solidFill>
              <a:cs typeface="Arial" charset="0"/>
            </a:endParaRPr>
          </a:p>
        </p:txBody>
      </p:sp>
      <p:sp>
        <p:nvSpPr>
          <p:cNvPr id="54276" name="AutoShape 4"/>
          <p:cNvSpPr>
            <a:spLocks/>
          </p:cNvSpPr>
          <p:nvPr/>
        </p:nvSpPr>
        <p:spPr bwMode="auto">
          <a:xfrm>
            <a:off x="7072313" y="3240088"/>
            <a:ext cx="88900" cy="1320800"/>
          </a:xfrm>
          <a:prstGeom prst="rightBrace">
            <a:avLst>
              <a:gd name="adj1" fmla="val 123810"/>
              <a:gd name="adj2" fmla="val 50000"/>
            </a:avLst>
          </a:prstGeom>
          <a:noFill/>
          <a:ln w="12700">
            <a:solidFill>
              <a:schemeClr val="tx1"/>
            </a:solidFill>
            <a:round/>
            <a:headEnd/>
            <a:tailEnd/>
          </a:ln>
        </p:spPr>
        <p:txBody>
          <a:bodyPr wrap="none" anchor="ctr"/>
          <a:lstStyle/>
          <a:p>
            <a:pPr algn="l" rtl="0"/>
            <a:endParaRPr lang="ar-SA">
              <a:latin typeface="Georgia" pitchFamily="18" charset="0"/>
            </a:endParaRPr>
          </a:p>
        </p:txBody>
      </p:sp>
      <p:sp>
        <p:nvSpPr>
          <p:cNvPr id="54277" name="Text Box 5"/>
          <p:cNvSpPr txBox="1">
            <a:spLocks noChangeArrowheads="1"/>
          </p:cNvSpPr>
          <p:nvPr/>
        </p:nvSpPr>
        <p:spPr bwMode="auto">
          <a:xfrm>
            <a:off x="7204075" y="3719513"/>
            <a:ext cx="1778000" cy="369887"/>
          </a:xfrm>
          <a:prstGeom prst="rect">
            <a:avLst/>
          </a:prstGeom>
          <a:noFill/>
          <a:ln w="12700">
            <a:noFill/>
            <a:miter lim="800000"/>
            <a:headEnd/>
            <a:tailEnd/>
          </a:ln>
        </p:spPr>
        <p:txBody>
          <a:bodyPr>
            <a:spAutoFit/>
          </a:bodyPr>
          <a:lstStyle/>
          <a:p>
            <a:pPr algn="l" rtl="0">
              <a:spcBef>
                <a:spcPct val="50000"/>
              </a:spcBef>
            </a:pPr>
            <a:r>
              <a:rPr lang="en-US" b="1" dirty="0">
                <a:latin typeface="Georgia" pitchFamily="18" charset="0"/>
              </a:rPr>
              <a:t>Organization</a:t>
            </a:r>
          </a:p>
        </p:txBody>
      </p:sp>
      <p:sp>
        <p:nvSpPr>
          <p:cNvPr id="54278" name="AutoShape 6"/>
          <p:cNvSpPr>
            <a:spLocks/>
          </p:cNvSpPr>
          <p:nvPr/>
        </p:nvSpPr>
        <p:spPr bwMode="auto">
          <a:xfrm>
            <a:off x="7073900" y="4618038"/>
            <a:ext cx="88900" cy="1096962"/>
          </a:xfrm>
          <a:prstGeom prst="rightBrace">
            <a:avLst>
              <a:gd name="adj1" fmla="val 80948"/>
              <a:gd name="adj2" fmla="val 50000"/>
            </a:avLst>
          </a:prstGeom>
          <a:noFill/>
          <a:ln w="12700">
            <a:solidFill>
              <a:schemeClr val="tx1"/>
            </a:solidFill>
            <a:round/>
            <a:headEnd/>
            <a:tailEnd/>
          </a:ln>
        </p:spPr>
        <p:txBody>
          <a:bodyPr wrap="none" anchor="ctr"/>
          <a:lstStyle/>
          <a:p>
            <a:pPr algn="l" rtl="0"/>
            <a:endParaRPr lang="ar-SA">
              <a:latin typeface="Georgia" pitchFamily="18" charset="0"/>
            </a:endParaRPr>
          </a:p>
        </p:txBody>
      </p:sp>
      <p:sp>
        <p:nvSpPr>
          <p:cNvPr id="54279" name="Text Box 7"/>
          <p:cNvSpPr txBox="1">
            <a:spLocks noChangeArrowheads="1"/>
          </p:cNvSpPr>
          <p:nvPr/>
        </p:nvSpPr>
        <p:spPr bwMode="auto">
          <a:xfrm>
            <a:off x="7229475" y="4840288"/>
            <a:ext cx="1371600" cy="646112"/>
          </a:xfrm>
          <a:prstGeom prst="rect">
            <a:avLst/>
          </a:prstGeom>
          <a:noFill/>
          <a:ln w="12700">
            <a:noFill/>
            <a:miter lim="800000"/>
            <a:headEnd/>
            <a:tailEnd/>
          </a:ln>
        </p:spPr>
        <p:txBody>
          <a:bodyPr>
            <a:spAutoFit/>
          </a:bodyPr>
          <a:lstStyle/>
          <a:p>
            <a:pPr algn="l" rtl="0">
              <a:spcBef>
                <a:spcPct val="50000"/>
              </a:spcBef>
            </a:pPr>
            <a:r>
              <a:rPr lang="en-US" b="1" dirty="0">
                <a:latin typeface="Georgia" pitchFamily="18" charset="0"/>
              </a:rPr>
              <a:t>Computer System</a:t>
            </a:r>
          </a:p>
        </p:txBody>
      </p:sp>
      <p:sp>
        <p:nvSpPr>
          <p:cNvPr id="54280" name="AutoShape 8"/>
          <p:cNvSpPr>
            <a:spLocks/>
          </p:cNvSpPr>
          <p:nvPr/>
        </p:nvSpPr>
        <p:spPr bwMode="auto">
          <a:xfrm>
            <a:off x="7073900" y="5803900"/>
            <a:ext cx="88900" cy="304800"/>
          </a:xfrm>
          <a:prstGeom prst="rightBrace">
            <a:avLst>
              <a:gd name="adj1" fmla="val 28571"/>
              <a:gd name="adj2" fmla="val 50000"/>
            </a:avLst>
          </a:prstGeom>
          <a:noFill/>
          <a:ln w="12700">
            <a:solidFill>
              <a:schemeClr val="tx1"/>
            </a:solidFill>
            <a:round/>
            <a:headEnd/>
            <a:tailEnd/>
          </a:ln>
        </p:spPr>
        <p:txBody>
          <a:bodyPr wrap="none" anchor="ctr"/>
          <a:lstStyle/>
          <a:p>
            <a:pPr algn="l" rtl="0"/>
            <a:endParaRPr lang="ar-SA">
              <a:latin typeface="Georgia" pitchFamily="18" charset="0"/>
            </a:endParaRPr>
          </a:p>
        </p:txBody>
      </p:sp>
      <p:sp>
        <p:nvSpPr>
          <p:cNvPr id="54281" name="Text Box 9"/>
          <p:cNvSpPr txBox="1">
            <a:spLocks noChangeArrowheads="1"/>
          </p:cNvSpPr>
          <p:nvPr/>
        </p:nvSpPr>
        <p:spPr bwMode="auto">
          <a:xfrm>
            <a:off x="7242175" y="5767388"/>
            <a:ext cx="1901825" cy="369887"/>
          </a:xfrm>
          <a:prstGeom prst="rect">
            <a:avLst/>
          </a:prstGeom>
          <a:noFill/>
          <a:ln w="12700">
            <a:noFill/>
            <a:miter lim="800000"/>
            <a:headEnd/>
            <a:tailEnd/>
          </a:ln>
        </p:spPr>
        <p:txBody>
          <a:bodyPr>
            <a:spAutoFit/>
          </a:bodyPr>
          <a:lstStyle/>
          <a:p>
            <a:pPr algn="l" rtl="0">
              <a:spcBef>
                <a:spcPct val="50000"/>
              </a:spcBef>
            </a:pPr>
            <a:r>
              <a:rPr lang="en-US" b="1" dirty="0">
                <a:latin typeface="Georgia" pitchFamily="18" charset="0"/>
              </a:rPr>
              <a:t>Network</a:t>
            </a:r>
          </a:p>
        </p:txBody>
      </p:sp>
    </p:spTree>
    <p:extLst>
      <p:ext uri="{BB962C8B-B14F-4D97-AF65-F5344CB8AC3E}">
        <p14:creationId xmlns:p14="http://schemas.microsoft.com/office/powerpoint/2010/main" val="13617248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normAutofit fontScale="90000"/>
          </a:bodyPr>
          <a:lstStyle/>
          <a:p>
            <a:pPr eaLnBrk="1" fontAlgn="auto" hangingPunct="1">
              <a:spcAft>
                <a:spcPts val="0"/>
              </a:spcAft>
              <a:defRPr/>
            </a:pPr>
            <a:r>
              <a:rPr lang="en-US" b="1" dirty="0" smtClean="0">
                <a:solidFill>
                  <a:srgbClr val="C00000"/>
                </a:solidFill>
                <a:latin typeface="Times New Roman" pitchFamily="18" charset="0"/>
                <a:cs typeface="Times New Roman" pitchFamily="18" charset="0"/>
              </a:rPr>
              <a:t>C.2. Vulnerabilities: </a:t>
            </a:r>
            <a:br>
              <a:rPr lang="en-US" b="1" dirty="0" smtClean="0">
                <a:solidFill>
                  <a:srgbClr val="C00000"/>
                </a:solidFill>
                <a:latin typeface="Times New Roman" pitchFamily="18" charset="0"/>
                <a:cs typeface="Times New Roman" pitchFamily="18" charset="0"/>
              </a:rPr>
            </a:br>
            <a:r>
              <a:rPr lang="en-US" b="1" dirty="0" smtClean="0">
                <a:solidFill>
                  <a:srgbClr val="C00000"/>
                </a:solidFill>
                <a:latin typeface="Times New Roman" pitchFamily="18" charset="0"/>
                <a:cs typeface="Times New Roman" pitchFamily="18" charset="0"/>
              </a:rPr>
              <a:t>Example </a:t>
            </a:r>
            <a:r>
              <a:rPr lang="en-US" b="1" dirty="0">
                <a:solidFill>
                  <a:srgbClr val="C00000"/>
                </a:solidFill>
                <a:latin typeface="Times New Roman" pitchFamily="18" charset="0"/>
                <a:cs typeface="Times New Roman" pitchFamily="18" charset="0"/>
              </a:rPr>
              <a:t>1: Building</a:t>
            </a:r>
          </a:p>
        </p:txBody>
      </p:sp>
      <p:sp>
        <p:nvSpPr>
          <p:cNvPr id="55300" name="Line 6"/>
          <p:cNvSpPr>
            <a:spLocks noChangeShapeType="1"/>
          </p:cNvSpPr>
          <p:nvPr/>
        </p:nvSpPr>
        <p:spPr bwMode="auto">
          <a:xfrm flipH="1" flipV="1">
            <a:off x="5256213" y="3352800"/>
            <a:ext cx="1208087" cy="12700"/>
          </a:xfrm>
          <a:prstGeom prst="line">
            <a:avLst/>
          </a:prstGeom>
          <a:noFill/>
          <a:ln w="12700">
            <a:solidFill>
              <a:schemeClr val="tx1"/>
            </a:solidFill>
            <a:round/>
            <a:headEnd/>
            <a:tailEnd/>
          </a:ln>
        </p:spPr>
        <p:txBody>
          <a:bodyPr/>
          <a:lstStyle/>
          <a:p>
            <a:endParaRPr lang="ar-SA"/>
          </a:p>
        </p:txBody>
      </p:sp>
      <p:sp>
        <p:nvSpPr>
          <p:cNvPr id="55301" name="Line 7"/>
          <p:cNvSpPr>
            <a:spLocks noChangeShapeType="1"/>
          </p:cNvSpPr>
          <p:nvPr/>
        </p:nvSpPr>
        <p:spPr bwMode="auto">
          <a:xfrm>
            <a:off x="5268913" y="3352800"/>
            <a:ext cx="0" cy="673100"/>
          </a:xfrm>
          <a:prstGeom prst="line">
            <a:avLst/>
          </a:prstGeom>
          <a:noFill/>
          <a:ln w="12700">
            <a:solidFill>
              <a:schemeClr val="tx1"/>
            </a:solidFill>
            <a:round/>
            <a:headEnd/>
            <a:tailEnd/>
          </a:ln>
        </p:spPr>
        <p:txBody>
          <a:bodyPr/>
          <a:lstStyle/>
          <a:p>
            <a:endParaRPr lang="ar-SA"/>
          </a:p>
        </p:txBody>
      </p:sp>
      <p:sp>
        <p:nvSpPr>
          <p:cNvPr id="55302" name="Line 8"/>
          <p:cNvSpPr>
            <a:spLocks noChangeShapeType="1"/>
          </p:cNvSpPr>
          <p:nvPr/>
        </p:nvSpPr>
        <p:spPr bwMode="auto">
          <a:xfrm flipH="1">
            <a:off x="4916488" y="4051300"/>
            <a:ext cx="352425" cy="457200"/>
          </a:xfrm>
          <a:prstGeom prst="line">
            <a:avLst/>
          </a:prstGeom>
          <a:noFill/>
          <a:ln w="12700">
            <a:solidFill>
              <a:schemeClr val="tx1"/>
            </a:solidFill>
            <a:round/>
            <a:headEnd/>
            <a:tailEnd/>
          </a:ln>
        </p:spPr>
        <p:txBody>
          <a:bodyPr/>
          <a:lstStyle/>
          <a:p>
            <a:endParaRPr lang="ar-SA"/>
          </a:p>
        </p:txBody>
      </p:sp>
      <p:sp>
        <p:nvSpPr>
          <p:cNvPr id="55303" name="Line 9"/>
          <p:cNvSpPr>
            <a:spLocks noChangeShapeType="1"/>
          </p:cNvSpPr>
          <p:nvPr/>
        </p:nvSpPr>
        <p:spPr bwMode="auto">
          <a:xfrm>
            <a:off x="5245100" y="4673600"/>
            <a:ext cx="23813" cy="825500"/>
          </a:xfrm>
          <a:prstGeom prst="line">
            <a:avLst/>
          </a:prstGeom>
          <a:noFill/>
          <a:ln w="12700">
            <a:solidFill>
              <a:schemeClr val="tx1"/>
            </a:solidFill>
            <a:round/>
            <a:headEnd/>
            <a:tailEnd/>
          </a:ln>
        </p:spPr>
        <p:txBody>
          <a:bodyPr/>
          <a:lstStyle/>
          <a:p>
            <a:endParaRPr lang="ar-SA"/>
          </a:p>
        </p:txBody>
      </p:sp>
      <p:sp>
        <p:nvSpPr>
          <p:cNvPr id="55304" name="Line 10"/>
          <p:cNvSpPr>
            <a:spLocks noChangeShapeType="1"/>
          </p:cNvSpPr>
          <p:nvPr/>
        </p:nvSpPr>
        <p:spPr bwMode="auto">
          <a:xfrm>
            <a:off x="5280025" y="5473700"/>
            <a:ext cx="727075" cy="0"/>
          </a:xfrm>
          <a:prstGeom prst="line">
            <a:avLst/>
          </a:prstGeom>
          <a:noFill/>
          <a:ln w="12700">
            <a:solidFill>
              <a:schemeClr val="tx1"/>
            </a:solidFill>
            <a:round/>
            <a:headEnd/>
            <a:tailEnd/>
          </a:ln>
        </p:spPr>
        <p:txBody>
          <a:bodyPr/>
          <a:lstStyle/>
          <a:p>
            <a:endParaRPr lang="ar-SA"/>
          </a:p>
        </p:txBody>
      </p:sp>
      <p:sp>
        <p:nvSpPr>
          <p:cNvPr id="55305" name="Line 11"/>
          <p:cNvSpPr>
            <a:spLocks noChangeShapeType="1"/>
          </p:cNvSpPr>
          <p:nvPr/>
        </p:nvSpPr>
        <p:spPr bwMode="auto">
          <a:xfrm>
            <a:off x="6699250" y="5499100"/>
            <a:ext cx="1301750" cy="0"/>
          </a:xfrm>
          <a:prstGeom prst="line">
            <a:avLst/>
          </a:prstGeom>
          <a:noFill/>
          <a:ln w="12700">
            <a:solidFill>
              <a:schemeClr val="tx1"/>
            </a:solidFill>
            <a:round/>
            <a:headEnd/>
            <a:tailEnd/>
          </a:ln>
        </p:spPr>
        <p:txBody>
          <a:bodyPr/>
          <a:lstStyle/>
          <a:p>
            <a:endParaRPr lang="ar-SA"/>
          </a:p>
        </p:txBody>
      </p:sp>
      <p:sp>
        <p:nvSpPr>
          <p:cNvPr id="55306" name="Line 12"/>
          <p:cNvSpPr>
            <a:spLocks noChangeShapeType="1"/>
          </p:cNvSpPr>
          <p:nvPr/>
        </p:nvSpPr>
        <p:spPr bwMode="auto">
          <a:xfrm flipH="1">
            <a:off x="6207125" y="5524500"/>
            <a:ext cx="481013" cy="330200"/>
          </a:xfrm>
          <a:prstGeom prst="line">
            <a:avLst/>
          </a:prstGeom>
          <a:noFill/>
          <a:ln w="12700">
            <a:solidFill>
              <a:schemeClr val="tx1"/>
            </a:solidFill>
            <a:round/>
            <a:headEnd/>
            <a:tailEnd/>
          </a:ln>
        </p:spPr>
        <p:txBody>
          <a:bodyPr/>
          <a:lstStyle/>
          <a:p>
            <a:endParaRPr lang="ar-SA"/>
          </a:p>
        </p:txBody>
      </p:sp>
      <p:sp>
        <p:nvSpPr>
          <p:cNvPr id="55307" name="Arc 14"/>
          <p:cNvSpPr>
            <a:spLocks/>
          </p:cNvSpPr>
          <p:nvPr/>
        </p:nvSpPr>
        <p:spPr bwMode="auto">
          <a:xfrm flipH="1" flipV="1">
            <a:off x="4905375" y="4483100"/>
            <a:ext cx="350838" cy="228600"/>
          </a:xfrm>
          <a:custGeom>
            <a:avLst/>
            <a:gdLst>
              <a:gd name="T0" fmla="*/ 0 w 21600"/>
              <a:gd name="T1" fmla="*/ 0 h 21600"/>
              <a:gd name="T2" fmla="*/ 5714193 w 21600"/>
              <a:gd name="T3" fmla="*/ 2419350 h 21600"/>
              <a:gd name="T4" fmla="*/ 0 w 21600"/>
              <a:gd name="T5" fmla="*/ 24193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prstDash val="sysDot"/>
            <a:round/>
            <a:headEnd/>
            <a:tailEnd/>
          </a:ln>
        </p:spPr>
        <p:txBody>
          <a:bodyPr wrap="none" anchor="ctr"/>
          <a:lstStyle/>
          <a:p>
            <a:pPr algn="l" rtl="0"/>
            <a:endParaRPr lang="ar-SA">
              <a:latin typeface="Georgia" pitchFamily="18" charset="0"/>
            </a:endParaRPr>
          </a:p>
        </p:txBody>
      </p:sp>
      <p:sp>
        <p:nvSpPr>
          <p:cNvPr id="55308" name="Arc 17"/>
          <p:cNvSpPr>
            <a:spLocks/>
          </p:cNvSpPr>
          <p:nvPr/>
        </p:nvSpPr>
        <p:spPr bwMode="auto">
          <a:xfrm flipH="1" flipV="1">
            <a:off x="5972175" y="5435600"/>
            <a:ext cx="246063" cy="393700"/>
          </a:xfrm>
          <a:custGeom>
            <a:avLst/>
            <a:gdLst>
              <a:gd name="T0" fmla="*/ 0 w 21600"/>
              <a:gd name="T1" fmla="*/ 0 h 21600"/>
              <a:gd name="T2" fmla="*/ 2805391 w 21600"/>
              <a:gd name="T3" fmla="*/ 7175911 h 21600"/>
              <a:gd name="T4" fmla="*/ 0 w 21600"/>
              <a:gd name="T5" fmla="*/ 717591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chemeClr val="tx1"/>
            </a:solidFill>
            <a:prstDash val="sysDot"/>
            <a:round/>
            <a:headEnd/>
            <a:tailEnd/>
          </a:ln>
        </p:spPr>
        <p:txBody>
          <a:bodyPr wrap="none" anchor="ctr"/>
          <a:lstStyle/>
          <a:p>
            <a:pPr algn="l" rtl="0"/>
            <a:endParaRPr lang="ar-SA">
              <a:latin typeface="Georgia" pitchFamily="18" charset="0"/>
            </a:endParaRPr>
          </a:p>
        </p:txBody>
      </p:sp>
      <p:pic>
        <p:nvPicPr>
          <p:cNvPr id="55309" name="Picture 18" descr="MCj04375250000[1]"/>
          <p:cNvPicPr>
            <a:picLocks noChangeAspect="1" noChangeArrowheads="1"/>
          </p:cNvPicPr>
          <p:nvPr/>
        </p:nvPicPr>
        <p:blipFill>
          <a:blip r:embed="rId3" cstate="print"/>
          <a:srcRect/>
          <a:stretch>
            <a:fillRect/>
          </a:stretch>
        </p:blipFill>
        <p:spPr bwMode="auto">
          <a:xfrm>
            <a:off x="936625" y="1729970"/>
            <a:ext cx="730250" cy="638175"/>
          </a:xfrm>
          <a:prstGeom prst="rect">
            <a:avLst/>
          </a:prstGeom>
          <a:noFill/>
          <a:ln w="9525">
            <a:noFill/>
            <a:miter lim="800000"/>
            <a:headEnd/>
            <a:tailEnd/>
          </a:ln>
        </p:spPr>
      </p:pic>
      <p:pic>
        <p:nvPicPr>
          <p:cNvPr id="55310" name="Picture 19" descr="j0186348"/>
          <p:cNvPicPr>
            <a:picLocks noChangeAspect="1" noChangeArrowheads="1"/>
          </p:cNvPicPr>
          <p:nvPr/>
        </p:nvPicPr>
        <p:blipFill>
          <a:blip r:embed="rId4" cstate="print"/>
          <a:srcRect/>
          <a:stretch>
            <a:fillRect/>
          </a:stretch>
        </p:blipFill>
        <p:spPr bwMode="auto">
          <a:xfrm>
            <a:off x="1043066" y="2888456"/>
            <a:ext cx="555625" cy="846138"/>
          </a:xfrm>
          <a:prstGeom prst="rect">
            <a:avLst/>
          </a:prstGeom>
          <a:noFill/>
          <a:ln w="9525">
            <a:noFill/>
            <a:miter lim="800000"/>
            <a:headEnd/>
            <a:tailEnd/>
          </a:ln>
        </p:spPr>
      </p:pic>
      <p:pic>
        <p:nvPicPr>
          <p:cNvPr id="55311" name="Picture 22" descr="MCj02325120000[1]"/>
          <p:cNvPicPr>
            <a:picLocks noChangeAspect="1" noChangeArrowheads="1"/>
          </p:cNvPicPr>
          <p:nvPr/>
        </p:nvPicPr>
        <p:blipFill>
          <a:blip r:embed="rId5" cstate="print"/>
          <a:srcRect/>
          <a:stretch>
            <a:fillRect/>
          </a:stretch>
        </p:blipFill>
        <p:spPr bwMode="auto">
          <a:xfrm>
            <a:off x="1037991" y="4443412"/>
            <a:ext cx="674688" cy="733425"/>
          </a:xfrm>
          <a:prstGeom prst="rect">
            <a:avLst/>
          </a:prstGeom>
          <a:noFill/>
          <a:ln w="9525">
            <a:noFill/>
            <a:miter lim="800000"/>
            <a:headEnd/>
            <a:tailEnd/>
          </a:ln>
        </p:spPr>
      </p:pic>
      <p:sp>
        <p:nvSpPr>
          <p:cNvPr id="55312" name="Text Box 24"/>
          <p:cNvSpPr txBox="1">
            <a:spLocks noChangeArrowheads="1"/>
          </p:cNvSpPr>
          <p:nvPr/>
        </p:nvSpPr>
        <p:spPr bwMode="auto">
          <a:xfrm>
            <a:off x="3542337" y="1783945"/>
            <a:ext cx="3468063" cy="338554"/>
          </a:xfrm>
          <a:prstGeom prst="rect">
            <a:avLst/>
          </a:prstGeom>
          <a:noFill/>
          <a:ln w="12700">
            <a:noFill/>
            <a:miter lim="800000"/>
            <a:headEnd/>
            <a:tailEnd/>
          </a:ln>
        </p:spPr>
        <p:txBody>
          <a:bodyPr wrap="square">
            <a:spAutoFit/>
          </a:bodyPr>
          <a:lstStyle/>
          <a:p>
            <a:pPr algn="l" rtl="0">
              <a:spcBef>
                <a:spcPct val="50000"/>
              </a:spcBef>
            </a:pPr>
            <a:r>
              <a:rPr lang="en-US" sz="1600" dirty="0">
                <a:solidFill>
                  <a:srgbClr val="C00000"/>
                </a:solidFill>
                <a:latin typeface="Times New Roman" pitchFamily="18" charset="0"/>
                <a:cs typeface="Times New Roman" pitchFamily="18" charset="0"/>
              </a:rPr>
              <a:t>1. Entering with stolen ID cards</a:t>
            </a:r>
          </a:p>
        </p:txBody>
      </p:sp>
      <p:sp>
        <p:nvSpPr>
          <p:cNvPr id="55313" name="Text Box 25"/>
          <p:cNvSpPr txBox="1">
            <a:spLocks noChangeArrowheads="1"/>
          </p:cNvSpPr>
          <p:nvPr/>
        </p:nvSpPr>
        <p:spPr bwMode="auto">
          <a:xfrm>
            <a:off x="3542337" y="3065046"/>
            <a:ext cx="4001463" cy="338554"/>
          </a:xfrm>
          <a:prstGeom prst="rect">
            <a:avLst/>
          </a:prstGeom>
          <a:noFill/>
          <a:ln w="12700">
            <a:noFill/>
            <a:miter lim="800000"/>
            <a:headEnd/>
            <a:tailEnd/>
          </a:ln>
        </p:spPr>
        <p:txBody>
          <a:bodyPr wrap="square">
            <a:spAutoFit/>
          </a:bodyPr>
          <a:lstStyle/>
          <a:p>
            <a:pPr algn="l" rtl="0">
              <a:spcBef>
                <a:spcPct val="50000"/>
              </a:spcBef>
            </a:pPr>
            <a:r>
              <a:rPr lang="en-US" sz="1600" dirty="0">
                <a:solidFill>
                  <a:srgbClr val="C00000"/>
                </a:solidFill>
                <a:latin typeface="Times New Roman" pitchFamily="18" charset="0"/>
                <a:cs typeface="Times New Roman" pitchFamily="18" charset="0"/>
              </a:rPr>
              <a:t>2. Following a person who unlocks the door</a:t>
            </a:r>
          </a:p>
        </p:txBody>
      </p:sp>
      <p:sp>
        <p:nvSpPr>
          <p:cNvPr id="55314" name="Text Box 26"/>
          <p:cNvSpPr txBox="1">
            <a:spLocks noChangeArrowheads="1"/>
          </p:cNvSpPr>
          <p:nvPr/>
        </p:nvSpPr>
        <p:spPr bwMode="auto">
          <a:xfrm>
            <a:off x="3542336" y="4136179"/>
            <a:ext cx="4153863" cy="584775"/>
          </a:xfrm>
          <a:prstGeom prst="rect">
            <a:avLst/>
          </a:prstGeom>
          <a:noFill/>
          <a:ln w="12700">
            <a:noFill/>
            <a:miter lim="800000"/>
            <a:headEnd/>
            <a:tailEnd/>
          </a:ln>
        </p:spPr>
        <p:txBody>
          <a:bodyPr wrap="square">
            <a:spAutoFit/>
          </a:bodyPr>
          <a:lstStyle/>
          <a:p>
            <a:pPr algn="l" rtl="0">
              <a:spcBef>
                <a:spcPct val="50000"/>
              </a:spcBef>
            </a:pPr>
            <a:r>
              <a:rPr lang="en-US" sz="1600" dirty="0">
                <a:solidFill>
                  <a:srgbClr val="C00000"/>
                </a:solidFill>
                <a:latin typeface="Georgia" pitchFamily="18" charset="0"/>
              </a:rPr>
              <a:t>3</a:t>
            </a:r>
            <a:r>
              <a:rPr lang="en-US" sz="1600" dirty="0">
                <a:solidFill>
                  <a:srgbClr val="C00000"/>
                </a:solidFill>
                <a:latin typeface="Times New Roman" pitchFamily="18" charset="0"/>
                <a:cs typeface="Times New Roman" pitchFamily="18" charset="0"/>
              </a:rPr>
              <a:t>. Entering with a stolen uniform of a deliveryman</a:t>
            </a:r>
          </a:p>
        </p:txBody>
      </p:sp>
      <p:pic>
        <p:nvPicPr>
          <p:cNvPr id="55315" name="Picture 27" descr="MPj04385980000[1]"/>
          <p:cNvPicPr>
            <a:picLocks noChangeAspect="1" noChangeArrowheads="1"/>
          </p:cNvPicPr>
          <p:nvPr/>
        </p:nvPicPr>
        <p:blipFill>
          <a:blip r:embed="rId6" cstate="print"/>
          <a:srcRect/>
          <a:stretch>
            <a:fillRect/>
          </a:stretch>
        </p:blipFill>
        <p:spPr bwMode="auto">
          <a:xfrm>
            <a:off x="1589166" y="2866231"/>
            <a:ext cx="606425" cy="876300"/>
          </a:xfrm>
          <a:prstGeom prst="rect">
            <a:avLst/>
          </a:prstGeom>
          <a:noFill/>
          <a:ln w="9525">
            <a:noFill/>
            <a:miter lim="800000"/>
            <a:headEnd/>
            <a:tailEnd/>
          </a:ln>
        </p:spPr>
      </p:pic>
    </p:spTree>
    <p:extLst>
      <p:ext uri="{BB962C8B-B14F-4D97-AF65-F5344CB8AC3E}">
        <p14:creationId xmlns:p14="http://schemas.microsoft.com/office/powerpoint/2010/main" val="14248264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normAutofit fontScale="90000"/>
          </a:bodyPr>
          <a:lstStyle/>
          <a:p>
            <a:pPr eaLnBrk="1" fontAlgn="auto" hangingPunct="1">
              <a:spcAft>
                <a:spcPts val="0"/>
              </a:spcAft>
              <a:defRPr/>
            </a:pPr>
            <a:r>
              <a:rPr lang="en-US" b="1" dirty="0" smtClean="0">
                <a:solidFill>
                  <a:srgbClr val="C00000"/>
                </a:solidFill>
                <a:latin typeface="Times New Roman" pitchFamily="18" charset="0"/>
                <a:cs typeface="Times New Roman" pitchFamily="18" charset="0"/>
              </a:rPr>
              <a:t>C.2. Vulnerabilities: </a:t>
            </a:r>
            <a:br>
              <a:rPr lang="en-US" b="1" dirty="0" smtClean="0">
                <a:solidFill>
                  <a:srgbClr val="C00000"/>
                </a:solidFill>
                <a:latin typeface="Times New Roman" pitchFamily="18" charset="0"/>
                <a:cs typeface="Times New Roman" pitchFamily="18" charset="0"/>
              </a:rPr>
            </a:br>
            <a:r>
              <a:rPr lang="en-US" b="1" dirty="0" smtClean="0">
                <a:solidFill>
                  <a:srgbClr val="C00000"/>
                </a:solidFill>
                <a:latin typeface="Times New Roman" pitchFamily="18" charset="0"/>
                <a:cs typeface="Times New Roman" pitchFamily="18" charset="0"/>
              </a:rPr>
              <a:t>Example </a:t>
            </a:r>
            <a:r>
              <a:rPr lang="en-US" b="1" dirty="0">
                <a:solidFill>
                  <a:srgbClr val="C00000"/>
                </a:solidFill>
                <a:latin typeface="Times New Roman" pitchFamily="18" charset="0"/>
                <a:cs typeface="Times New Roman" pitchFamily="18" charset="0"/>
              </a:rPr>
              <a:t>2: Within the Office</a:t>
            </a:r>
          </a:p>
        </p:txBody>
      </p:sp>
      <p:sp>
        <p:nvSpPr>
          <p:cNvPr id="57348" name="Rectangle 6"/>
          <p:cNvSpPr>
            <a:spLocks noChangeArrowheads="1"/>
          </p:cNvSpPr>
          <p:nvPr/>
        </p:nvSpPr>
        <p:spPr bwMode="auto">
          <a:xfrm>
            <a:off x="1600200" y="3517900"/>
            <a:ext cx="5861050" cy="2425700"/>
          </a:xfrm>
          <a:prstGeom prst="rect">
            <a:avLst/>
          </a:prstGeom>
          <a:noFill/>
          <a:ln w="12700">
            <a:solidFill>
              <a:schemeClr val="tx1"/>
            </a:solidFill>
            <a:miter lim="800000"/>
            <a:headEnd/>
            <a:tailEnd/>
          </a:ln>
        </p:spPr>
        <p:txBody>
          <a:bodyPr wrap="none" anchor="ctr"/>
          <a:lstStyle/>
          <a:p>
            <a:pPr algn="l" rtl="0"/>
            <a:endParaRPr lang="ar-SA">
              <a:latin typeface="Georgia" pitchFamily="18" charset="0"/>
            </a:endParaRPr>
          </a:p>
        </p:txBody>
      </p:sp>
      <p:sp>
        <p:nvSpPr>
          <p:cNvPr id="57349" name="Text Box 7"/>
          <p:cNvSpPr txBox="1">
            <a:spLocks noChangeArrowheads="1"/>
          </p:cNvSpPr>
          <p:nvPr/>
        </p:nvSpPr>
        <p:spPr bwMode="auto">
          <a:xfrm>
            <a:off x="3528116" y="1945481"/>
            <a:ext cx="2895600" cy="338138"/>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Times New Roman" pitchFamily="18" charset="0"/>
                <a:cs typeface="Times New Roman" pitchFamily="18" charset="0"/>
              </a:rPr>
              <a:t>1. Theft of documents or disks</a:t>
            </a:r>
          </a:p>
        </p:txBody>
      </p:sp>
      <p:sp>
        <p:nvSpPr>
          <p:cNvPr id="57350" name="Text Box 8"/>
          <p:cNvSpPr txBox="1">
            <a:spLocks noChangeArrowheads="1"/>
          </p:cNvSpPr>
          <p:nvPr/>
        </p:nvSpPr>
        <p:spPr bwMode="auto">
          <a:xfrm>
            <a:off x="3519488" y="3023791"/>
            <a:ext cx="2343150" cy="338137"/>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Times New Roman" pitchFamily="18" charset="0"/>
                <a:cs typeface="Times New Roman" pitchFamily="18" charset="0"/>
              </a:rPr>
              <a:t>2. Theft of computers</a:t>
            </a:r>
          </a:p>
        </p:txBody>
      </p:sp>
      <p:sp>
        <p:nvSpPr>
          <p:cNvPr id="57351" name="Text Box 9"/>
          <p:cNvSpPr txBox="1">
            <a:spLocks noChangeArrowheads="1"/>
          </p:cNvSpPr>
          <p:nvPr/>
        </p:nvSpPr>
        <p:spPr bwMode="auto">
          <a:xfrm>
            <a:off x="3200400" y="4294982"/>
            <a:ext cx="4060825" cy="338137"/>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Times New Roman" pitchFamily="18" charset="0"/>
                <a:cs typeface="Times New Roman" pitchFamily="18" charset="0"/>
              </a:rPr>
              <a:t>3. Picking up documents from a trash box</a:t>
            </a:r>
          </a:p>
        </p:txBody>
      </p:sp>
      <p:pic>
        <p:nvPicPr>
          <p:cNvPr id="57352" name="Picture 10" descr="MCj04338510000[1]"/>
          <p:cNvPicPr>
            <a:picLocks noChangeAspect="1" noChangeArrowheads="1"/>
          </p:cNvPicPr>
          <p:nvPr/>
        </p:nvPicPr>
        <p:blipFill>
          <a:blip r:embed="rId3" cstate="print"/>
          <a:srcRect/>
          <a:stretch>
            <a:fillRect/>
          </a:stretch>
        </p:blipFill>
        <p:spPr bwMode="auto">
          <a:xfrm>
            <a:off x="1676400" y="1892300"/>
            <a:ext cx="409575" cy="444500"/>
          </a:xfrm>
          <a:prstGeom prst="rect">
            <a:avLst/>
          </a:prstGeom>
          <a:noFill/>
          <a:ln w="9525">
            <a:noFill/>
            <a:miter lim="800000"/>
            <a:headEnd/>
            <a:tailEnd/>
          </a:ln>
        </p:spPr>
      </p:pic>
      <p:pic>
        <p:nvPicPr>
          <p:cNvPr id="57353" name="Picture 12" descr="MCj04260700000[1]"/>
          <p:cNvPicPr>
            <a:picLocks noChangeAspect="1" noChangeArrowheads="1"/>
          </p:cNvPicPr>
          <p:nvPr/>
        </p:nvPicPr>
        <p:blipFill>
          <a:blip r:embed="rId4" cstate="print"/>
          <a:srcRect/>
          <a:stretch>
            <a:fillRect/>
          </a:stretch>
        </p:blipFill>
        <p:spPr bwMode="auto">
          <a:xfrm>
            <a:off x="1212850" y="1847850"/>
            <a:ext cx="387350" cy="488950"/>
          </a:xfrm>
          <a:prstGeom prst="rect">
            <a:avLst/>
          </a:prstGeom>
          <a:noFill/>
          <a:ln w="9525">
            <a:noFill/>
            <a:miter lim="800000"/>
            <a:headEnd/>
            <a:tailEnd/>
          </a:ln>
        </p:spPr>
      </p:pic>
      <p:pic>
        <p:nvPicPr>
          <p:cNvPr id="57354" name="Picture 14" descr="burglar3">
            <a:hlinkClick r:id="rId5"/>
          </p:cNvPr>
          <p:cNvPicPr>
            <a:picLocks noChangeAspect="1" noChangeArrowheads="1"/>
          </p:cNvPicPr>
          <p:nvPr/>
        </p:nvPicPr>
        <p:blipFill>
          <a:blip r:embed="rId6" cstate="print"/>
          <a:srcRect/>
          <a:stretch>
            <a:fillRect/>
          </a:stretch>
        </p:blipFill>
        <p:spPr bwMode="auto">
          <a:xfrm>
            <a:off x="1161452" y="2994025"/>
            <a:ext cx="517525" cy="554037"/>
          </a:xfrm>
          <a:prstGeom prst="rect">
            <a:avLst/>
          </a:prstGeom>
          <a:noFill/>
          <a:ln w="9525">
            <a:noFill/>
            <a:miter lim="800000"/>
            <a:headEnd/>
            <a:tailEnd/>
          </a:ln>
        </p:spPr>
      </p:pic>
      <p:pic>
        <p:nvPicPr>
          <p:cNvPr id="57355" name="Picture 15" descr="MMj03098140000[1]"/>
          <p:cNvPicPr>
            <a:picLocks noChangeAspect="1" noChangeArrowheads="1" noCrop="1"/>
          </p:cNvPicPr>
          <p:nvPr/>
        </p:nvPicPr>
        <p:blipFill>
          <a:blip r:embed="rId7" cstate="print"/>
          <a:srcRect/>
          <a:stretch>
            <a:fillRect/>
          </a:stretch>
        </p:blipFill>
        <p:spPr bwMode="auto">
          <a:xfrm>
            <a:off x="1234424" y="4256087"/>
            <a:ext cx="509588" cy="533400"/>
          </a:xfrm>
          <a:prstGeom prst="rect">
            <a:avLst/>
          </a:prstGeom>
          <a:noFill/>
          <a:ln w="9525">
            <a:noFill/>
            <a:miter lim="800000"/>
            <a:headEnd/>
            <a:tailEnd/>
          </a:ln>
        </p:spPr>
      </p:pic>
    </p:spTree>
    <p:extLst>
      <p:ext uri="{BB962C8B-B14F-4D97-AF65-F5344CB8AC3E}">
        <p14:creationId xmlns:p14="http://schemas.microsoft.com/office/powerpoint/2010/main" val="12869521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normAutofit fontScale="90000"/>
          </a:bodyPr>
          <a:lstStyle/>
          <a:p>
            <a:pPr eaLnBrk="1" fontAlgn="auto" hangingPunct="1">
              <a:spcAft>
                <a:spcPts val="0"/>
              </a:spcAft>
              <a:defRPr/>
            </a:pPr>
            <a:r>
              <a:rPr lang="en-US" b="1" dirty="0" smtClean="0">
                <a:solidFill>
                  <a:srgbClr val="C00000"/>
                </a:solidFill>
                <a:latin typeface="Times New Roman" pitchFamily="18" charset="0"/>
                <a:cs typeface="Times New Roman" pitchFamily="18" charset="0"/>
              </a:rPr>
              <a:t>C.2. Vulnerabilities: </a:t>
            </a:r>
            <a:br>
              <a:rPr lang="en-US" b="1" dirty="0" smtClean="0">
                <a:solidFill>
                  <a:srgbClr val="C00000"/>
                </a:solidFill>
                <a:latin typeface="Times New Roman" pitchFamily="18" charset="0"/>
                <a:cs typeface="Times New Roman" pitchFamily="18" charset="0"/>
              </a:rPr>
            </a:br>
            <a:r>
              <a:rPr lang="en-US" b="1" dirty="0" smtClean="0">
                <a:solidFill>
                  <a:srgbClr val="C00000"/>
                </a:solidFill>
                <a:latin typeface="Times New Roman" pitchFamily="18" charset="0"/>
                <a:cs typeface="Times New Roman" pitchFamily="18" charset="0"/>
              </a:rPr>
              <a:t>Example </a:t>
            </a:r>
            <a:r>
              <a:rPr lang="en-US" b="1" dirty="0">
                <a:solidFill>
                  <a:srgbClr val="C00000"/>
                </a:solidFill>
                <a:latin typeface="Times New Roman" pitchFamily="18" charset="0"/>
                <a:cs typeface="Times New Roman" pitchFamily="18" charset="0"/>
              </a:rPr>
              <a:t>3: Computer System</a:t>
            </a:r>
          </a:p>
        </p:txBody>
      </p:sp>
      <p:sp>
        <p:nvSpPr>
          <p:cNvPr id="59395" name="Text Box 5"/>
          <p:cNvSpPr txBox="1">
            <a:spLocks noChangeArrowheads="1"/>
          </p:cNvSpPr>
          <p:nvPr/>
        </p:nvSpPr>
        <p:spPr bwMode="auto">
          <a:xfrm>
            <a:off x="4926013" y="1752600"/>
            <a:ext cx="3836987" cy="1354138"/>
          </a:xfrm>
          <a:prstGeom prst="rect">
            <a:avLst/>
          </a:prstGeom>
          <a:noFill/>
          <a:ln w="12700">
            <a:noFill/>
            <a:miter lim="800000"/>
            <a:headEnd/>
            <a:tailEnd/>
          </a:ln>
        </p:spPr>
        <p:txBody>
          <a:bodyPr>
            <a:spAutoFit/>
          </a:bodyPr>
          <a:lstStyle/>
          <a:p>
            <a:pPr marL="266700" indent="-266700" algn="l" rtl="0"/>
            <a:r>
              <a:rPr lang="en-US" b="1" u="sng" dirty="0">
                <a:latin typeface="Times New Roman" pitchFamily="18" charset="0"/>
                <a:cs typeface="Times New Roman" pitchFamily="18" charset="0"/>
              </a:rPr>
              <a:t>Vulnerabilities:</a:t>
            </a:r>
          </a:p>
          <a:p>
            <a:pPr marL="266700" indent="-266700" algn="l" rtl="0">
              <a:buFontTx/>
              <a:buAutoNum type="arabicPeriod"/>
            </a:pPr>
            <a:r>
              <a:rPr lang="en-US" sz="1600" dirty="0">
                <a:latin typeface="Times New Roman" pitchFamily="18" charset="0"/>
                <a:cs typeface="Times New Roman" pitchFamily="18" charset="0"/>
              </a:rPr>
              <a:t>Computers are left unattended in a logged-in state.</a:t>
            </a:r>
          </a:p>
          <a:p>
            <a:pPr marL="266700" indent="-266700" algn="l" rtl="0">
              <a:buFontTx/>
              <a:buAutoNum type="arabicPeriod"/>
            </a:pPr>
            <a:r>
              <a:rPr lang="en-US" sz="1600" dirty="0">
                <a:latin typeface="Times New Roman" pitchFamily="18" charset="0"/>
                <a:cs typeface="Times New Roman" pitchFamily="18" charset="0"/>
              </a:rPr>
              <a:t>No password is set.</a:t>
            </a:r>
          </a:p>
          <a:p>
            <a:pPr marL="266700" indent="-266700" algn="l" rtl="0">
              <a:buFontTx/>
              <a:buAutoNum type="arabicPeriod"/>
            </a:pPr>
            <a:r>
              <a:rPr lang="en-US" sz="1600" dirty="0">
                <a:latin typeface="Times New Roman" pitchFamily="18" charset="0"/>
                <a:cs typeface="Times New Roman" pitchFamily="18" charset="0"/>
              </a:rPr>
              <a:t>Easy passwords are set on server.</a:t>
            </a:r>
          </a:p>
        </p:txBody>
      </p:sp>
      <p:sp>
        <p:nvSpPr>
          <p:cNvPr id="59396" name="computr2"/>
          <p:cNvSpPr>
            <a:spLocks noEditPoints="1" noChangeArrowheads="1"/>
          </p:cNvSpPr>
          <p:nvPr/>
        </p:nvSpPr>
        <p:spPr bwMode="auto">
          <a:xfrm>
            <a:off x="1281906" y="1947863"/>
            <a:ext cx="1271587" cy="1035050"/>
          </a:xfrm>
          <a:custGeom>
            <a:avLst/>
            <a:gdLst>
              <a:gd name="T0" fmla="*/ 37451829 w 21600"/>
              <a:gd name="T1" fmla="*/ 0 h 21600"/>
              <a:gd name="T2" fmla="*/ 37451829 w 21600"/>
              <a:gd name="T3" fmla="*/ 49598536 h 21600"/>
              <a:gd name="T4" fmla="*/ 60082420 w 21600"/>
              <a:gd name="T5" fmla="*/ 0 h 21600"/>
              <a:gd name="T6" fmla="*/ 14821228 w 21600"/>
              <a:gd name="T7" fmla="*/ 0 h 21600"/>
              <a:gd name="T8" fmla="*/ 14821228 w 21600"/>
              <a:gd name="T9" fmla="*/ 26707455 h 21600"/>
              <a:gd name="T10" fmla="*/ 60082420 w 21600"/>
              <a:gd name="T11" fmla="*/ 26707455 h 21600"/>
              <a:gd name="T12" fmla="*/ 14821228 w 21600"/>
              <a:gd name="T13" fmla="*/ 13354878 h 21600"/>
              <a:gd name="T14" fmla="*/ 60082420 w 21600"/>
              <a:gd name="T15" fmla="*/ 13354878 h 21600"/>
              <a:gd name="T16" fmla="*/ 65291053 w 21600"/>
              <a:gd name="T17" fmla="*/ 36245964 h 21600"/>
              <a:gd name="T18" fmla="*/ 9612609 w 21600"/>
              <a:gd name="T19" fmla="*/ 36245964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9397" name="Text Box 7"/>
          <p:cNvSpPr txBox="1">
            <a:spLocks noChangeArrowheads="1"/>
          </p:cNvSpPr>
          <p:nvPr/>
        </p:nvSpPr>
        <p:spPr bwMode="auto">
          <a:xfrm>
            <a:off x="1958975" y="3962400"/>
            <a:ext cx="679450" cy="338138"/>
          </a:xfrm>
          <a:prstGeom prst="rect">
            <a:avLst/>
          </a:prstGeom>
          <a:noFill/>
          <a:ln w="12700">
            <a:noFill/>
            <a:miter lim="800000"/>
            <a:headEnd/>
            <a:tailEnd/>
          </a:ln>
        </p:spPr>
        <p:txBody>
          <a:bodyPr>
            <a:spAutoFit/>
          </a:bodyPr>
          <a:lstStyle/>
          <a:p>
            <a:pPr algn="l" rtl="0">
              <a:spcBef>
                <a:spcPct val="50000"/>
              </a:spcBef>
            </a:pPr>
            <a:r>
              <a:rPr lang="en-US" sz="800" dirty="0">
                <a:latin typeface="Georgia" pitchFamily="18" charset="0"/>
              </a:rPr>
              <a:t>Personnel Database</a:t>
            </a:r>
          </a:p>
        </p:txBody>
      </p:sp>
      <p:sp>
        <p:nvSpPr>
          <p:cNvPr id="59398" name="Text Box 8"/>
          <p:cNvSpPr txBox="1">
            <a:spLocks noChangeArrowheads="1"/>
          </p:cNvSpPr>
          <p:nvPr/>
        </p:nvSpPr>
        <p:spPr bwMode="auto">
          <a:xfrm>
            <a:off x="886618" y="3367088"/>
            <a:ext cx="2144713" cy="584200"/>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Georgia" pitchFamily="18" charset="0"/>
              </a:rPr>
              <a:t>1. Illegal use of logged-in computers.</a:t>
            </a:r>
          </a:p>
        </p:txBody>
      </p:sp>
      <p:sp>
        <p:nvSpPr>
          <p:cNvPr id="59399" name="server"/>
          <p:cNvSpPr>
            <a:spLocks noEditPoints="1" noChangeArrowheads="1"/>
          </p:cNvSpPr>
          <p:nvPr/>
        </p:nvSpPr>
        <p:spPr bwMode="auto">
          <a:xfrm>
            <a:off x="5420636" y="2015332"/>
            <a:ext cx="511175" cy="958850"/>
          </a:xfrm>
          <a:custGeom>
            <a:avLst/>
            <a:gdLst>
              <a:gd name="T0" fmla="*/ 0 w 21600"/>
              <a:gd name="T1" fmla="*/ 0 h 21600"/>
              <a:gd name="T2" fmla="*/ 6036100 w 21600"/>
              <a:gd name="T3" fmla="*/ 0 h 21600"/>
              <a:gd name="T4" fmla="*/ 12072177 w 21600"/>
              <a:gd name="T5" fmla="*/ 0 h 21600"/>
              <a:gd name="T6" fmla="*/ 12072177 w 21600"/>
              <a:gd name="T7" fmla="*/ 21282251 h 21600"/>
              <a:gd name="T8" fmla="*/ 12072177 w 21600"/>
              <a:gd name="T9" fmla="*/ 42564501 h 21600"/>
              <a:gd name="T10" fmla="*/ 6036100 w 21600"/>
              <a:gd name="T11" fmla="*/ 42564501 h 21600"/>
              <a:gd name="T12" fmla="*/ 0 w 21600"/>
              <a:gd name="T13" fmla="*/ 42564501 h 21600"/>
              <a:gd name="T14" fmla="*/ 0 w 21600"/>
              <a:gd name="T15" fmla="*/ 21282251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28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9400" name="Text Box 10"/>
          <p:cNvSpPr txBox="1">
            <a:spLocks noChangeArrowheads="1"/>
          </p:cNvSpPr>
          <p:nvPr/>
        </p:nvSpPr>
        <p:spPr bwMode="auto">
          <a:xfrm>
            <a:off x="6046111" y="1853407"/>
            <a:ext cx="2087563" cy="584200"/>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Georgia" pitchFamily="18" charset="0"/>
              </a:rPr>
              <a:t>3. Change a user account</a:t>
            </a:r>
          </a:p>
        </p:txBody>
      </p:sp>
      <p:sp>
        <p:nvSpPr>
          <p:cNvPr id="59401" name="Rectangle 11"/>
          <p:cNvSpPr>
            <a:spLocks noChangeArrowheads="1"/>
          </p:cNvSpPr>
          <p:nvPr/>
        </p:nvSpPr>
        <p:spPr bwMode="auto">
          <a:xfrm>
            <a:off x="6296936" y="2501107"/>
            <a:ext cx="1617663" cy="850900"/>
          </a:xfrm>
          <a:prstGeom prst="rect">
            <a:avLst/>
          </a:prstGeom>
          <a:solidFill>
            <a:schemeClr val="accent1"/>
          </a:solidFill>
          <a:ln w="12700">
            <a:solidFill>
              <a:schemeClr val="tx1"/>
            </a:solidFill>
            <a:miter lim="800000"/>
            <a:headEnd/>
            <a:tailEnd/>
          </a:ln>
        </p:spPr>
        <p:txBody>
          <a:bodyPr wrap="none"/>
          <a:lstStyle/>
          <a:p>
            <a:pPr algn="l" rtl="0"/>
            <a:r>
              <a:rPr lang="en-US" sz="1400" dirty="0">
                <a:latin typeface="Georgia" pitchFamily="18" charset="0"/>
              </a:rPr>
              <a:t>XXXX: user</a:t>
            </a:r>
          </a:p>
          <a:p>
            <a:pPr algn="l" rtl="0"/>
            <a:endParaRPr lang="en-US" sz="1400" dirty="0">
              <a:latin typeface="Georgia" pitchFamily="18" charset="0"/>
            </a:endParaRPr>
          </a:p>
          <a:p>
            <a:pPr algn="l" rtl="0"/>
            <a:r>
              <a:rPr lang="en-US" sz="1400" dirty="0">
                <a:latin typeface="Georgia" pitchFamily="18" charset="0"/>
              </a:rPr>
              <a:t>      administrator</a:t>
            </a:r>
          </a:p>
          <a:p>
            <a:pPr algn="l" rtl="0"/>
            <a:endParaRPr lang="en-US" sz="1400" dirty="0">
              <a:latin typeface="Georgia" pitchFamily="18" charset="0"/>
            </a:endParaRPr>
          </a:p>
        </p:txBody>
      </p:sp>
      <p:sp>
        <p:nvSpPr>
          <p:cNvPr id="59403" name="computr2"/>
          <p:cNvSpPr>
            <a:spLocks noEditPoints="1" noChangeArrowheads="1"/>
          </p:cNvSpPr>
          <p:nvPr/>
        </p:nvSpPr>
        <p:spPr bwMode="auto">
          <a:xfrm>
            <a:off x="4413250" y="4561394"/>
            <a:ext cx="977900" cy="844550"/>
          </a:xfrm>
          <a:custGeom>
            <a:avLst/>
            <a:gdLst>
              <a:gd name="T0" fmla="*/ 22165505 w 21600"/>
              <a:gd name="T1" fmla="*/ 0 h 21600"/>
              <a:gd name="T2" fmla="*/ 22165505 w 21600"/>
              <a:gd name="T3" fmla="*/ 33021512 h 21600"/>
              <a:gd name="T4" fmla="*/ 35559249 w 21600"/>
              <a:gd name="T5" fmla="*/ 0 h 21600"/>
              <a:gd name="T6" fmla="*/ 8771808 w 21600"/>
              <a:gd name="T7" fmla="*/ 0 h 21600"/>
              <a:gd name="T8" fmla="*/ 8771808 w 21600"/>
              <a:gd name="T9" fmla="*/ 17781178 h 21600"/>
              <a:gd name="T10" fmla="*/ 35559249 w 21600"/>
              <a:gd name="T11" fmla="*/ 17781178 h 21600"/>
              <a:gd name="T12" fmla="*/ 8771808 w 21600"/>
              <a:gd name="T13" fmla="*/ 8891351 h 21600"/>
              <a:gd name="T14" fmla="*/ 35559249 w 21600"/>
              <a:gd name="T15" fmla="*/ 8891351 h 21600"/>
              <a:gd name="T16" fmla="*/ 38641897 w 21600"/>
              <a:gd name="T17" fmla="*/ 24131688 h 21600"/>
              <a:gd name="T18" fmla="*/ 5689159 w 21600"/>
              <a:gd name="T19" fmla="*/ 24131688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59404" name="Text Box 14"/>
          <p:cNvSpPr txBox="1">
            <a:spLocks noChangeArrowheads="1"/>
          </p:cNvSpPr>
          <p:nvPr/>
        </p:nvSpPr>
        <p:spPr bwMode="auto">
          <a:xfrm>
            <a:off x="3429000" y="5715000"/>
            <a:ext cx="3429000" cy="338138"/>
          </a:xfrm>
          <a:prstGeom prst="rect">
            <a:avLst/>
          </a:prstGeom>
          <a:noFill/>
          <a:ln w="12700">
            <a:noFill/>
            <a:miter lim="800000"/>
            <a:headEnd/>
            <a:tailEnd/>
          </a:ln>
        </p:spPr>
        <p:txBody>
          <a:bodyPr>
            <a:spAutoFit/>
          </a:bodyPr>
          <a:lstStyle/>
          <a:p>
            <a:pPr algn="l" rtl="0">
              <a:spcBef>
                <a:spcPct val="50000"/>
              </a:spcBef>
            </a:pPr>
            <a:r>
              <a:rPr lang="en-US" sz="1600" dirty="0">
                <a:solidFill>
                  <a:srgbClr val="C00000"/>
                </a:solidFill>
                <a:latin typeface="Georgia" pitchFamily="18" charset="0"/>
              </a:rPr>
              <a:t>2. Theft of information on the disk</a:t>
            </a:r>
          </a:p>
        </p:txBody>
      </p:sp>
      <p:sp>
        <p:nvSpPr>
          <p:cNvPr id="59405" name="Line 15"/>
          <p:cNvSpPr>
            <a:spLocks noChangeShapeType="1"/>
          </p:cNvSpPr>
          <p:nvPr/>
        </p:nvSpPr>
        <p:spPr bwMode="auto">
          <a:xfrm flipV="1">
            <a:off x="2638425" y="4140200"/>
            <a:ext cx="2825750" cy="0"/>
          </a:xfrm>
          <a:prstGeom prst="line">
            <a:avLst/>
          </a:prstGeom>
          <a:noFill/>
          <a:ln w="12700">
            <a:solidFill>
              <a:schemeClr val="tx1"/>
            </a:solidFill>
            <a:round/>
            <a:headEnd/>
            <a:tailEnd/>
          </a:ln>
        </p:spPr>
        <p:txBody>
          <a:bodyPr/>
          <a:lstStyle/>
          <a:p>
            <a:endParaRPr lang="ar-SA"/>
          </a:p>
        </p:txBody>
      </p:sp>
      <p:sp>
        <p:nvSpPr>
          <p:cNvPr id="59406" name="Line 16"/>
          <p:cNvSpPr>
            <a:spLocks noChangeShapeType="1"/>
          </p:cNvSpPr>
          <p:nvPr/>
        </p:nvSpPr>
        <p:spPr bwMode="auto">
          <a:xfrm flipH="1">
            <a:off x="4902200" y="4318000"/>
            <a:ext cx="515938" cy="825500"/>
          </a:xfrm>
          <a:prstGeom prst="line">
            <a:avLst/>
          </a:prstGeom>
          <a:noFill/>
          <a:ln w="12700">
            <a:solidFill>
              <a:schemeClr val="tx1"/>
            </a:solidFill>
            <a:round/>
            <a:headEnd/>
            <a:tailEnd/>
          </a:ln>
        </p:spPr>
        <p:txBody>
          <a:bodyPr/>
          <a:lstStyle/>
          <a:p>
            <a:endParaRPr lang="ar-SA"/>
          </a:p>
        </p:txBody>
      </p:sp>
      <p:pic>
        <p:nvPicPr>
          <p:cNvPr id="59407" name="Picture 18" descr="MCBS01191_0000[1]"/>
          <p:cNvPicPr>
            <a:picLocks noChangeAspect="1" noChangeArrowheads="1"/>
          </p:cNvPicPr>
          <p:nvPr/>
        </p:nvPicPr>
        <p:blipFill>
          <a:blip r:embed="rId3" cstate="print"/>
          <a:srcRect/>
          <a:stretch>
            <a:fillRect/>
          </a:stretch>
        </p:blipFill>
        <p:spPr bwMode="auto">
          <a:xfrm>
            <a:off x="3841750" y="4550282"/>
            <a:ext cx="688975" cy="522287"/>
          </a:xfrm>
          <a:prstGeom prst="rect">
            <a:avLst/>
          </a:prstGeom>
          <a:noFill/>
          <a:ln w="9525">
            <a:noFill/>
            <a:miter lim="800000"/>
            <a:headEnd/>
            <a:tailEnd/>
          </a:ln>
        </p:spPr>
      </p:pic>
    </p:spTree>
    <p:extLst>
      <p:ext uri="{BB962C8B-B14F-4D97-AF65-F5344CB8AC3E}">
        <p14:creationId xmlns:p14="http://schemas.microsoft.com/office/powerpoint/2010/main" val="189742107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normAutofit fontScale="90000"/>
          </a:bodyPr>
          <a:lstStyle/>
          <a:p>
            <a:pPr eaLnBrk="1" fontAlgn="auto" hangingPunct="1">
              <a:spcAft>
                <a:spcPts val="0"/>
              </a:spcAft>
              <a:defRPr/>
            </a:pPr>
            <a:r>
              <a:rPr lang="en-US" b="1" dirty="0" smtClean="0">
                <a:solidFill>
                  <a:srgbClr val="C00000"/>
                </a:solidFill>
                <a:latin typeface="Times New Roman" pitchFamily="18" charset="0"/>
                <a:cs typeface="Times New Roman" pitchFamily="18" charset="0"/>
              </a:rPr>
              <a:t>C.2. Vulnerabilities: </a:t>
            </a:r>
            <a:br>
              <a:rPr lang="en-US" b="1" dirty="0" smtClean="0">
                <a:solidFill>
                  <a:srgbClr val="C00000"/>
                </a:solidFill>
                <a:latin typeface="Times New Roman" pitchFamily="18" charset="0"/>
                <a:cs typeface="Times New Roman" pitchFamily="18" charset="0"/>
              </a:rPr>
            </a:br>
            <a:r>
              <a:rPr lang="en-US" b="1" dirty="0" smtClean="0">
                <a:solidFill>
                  <a:srgbClr val="C00000"/>
                </a:solidFill>
                <a:latin typeface="Times New Roman" pitchFamily="18" charset="0"/>
                <a:cs typeface="Times New Roman" pitchFamily="18" charset="0"/>
              </a:rPr>
              <a:t>Example </a:t>
            </a:r>
            <a:r>
              <a:rPr lang="en-US" b="1" dirty="0">
                <a:solidFill>
                  <a:srgbClr val="C00000"/>
                </a:solidFill>
                <a:latin typeface="Times New Roman" pitchFamily="18" charset="0"/>
                <a:cs typeface="Times New Roman" pitchFamily="18" charset="0"/>
              </a:rPr>
              <a:t>4</a:t>
            </a:r>
            <a:r>
              <a:rPr lang="en-US" b="1" dirty="0" smtClean="0">
                <a:solidFill>
                  <a:srgbClr val="C00000"/>
                </a:solidFill>
                <a:latin typeface="Times New Roman" pitchFamily="18" charset="0"/>
                <a:cs typeface="Times New Roman" pitchFamily="18" charset="0"/>
              </a:rPr>
              <a:t>: </a:t>
            </a:r>
            <a:r>
              <a:rPr lang="en-US" b="1" dirty="0">
                <a:solidFill>
                  <a:srgbClr val="C00000"/>
                </a:solidFill>
                <a:latin typeface="Times New Roman" pitchFamily="18" charset="0"/>
                <a:cs typeface="Times New Roman" pitchFamily="18" charset="0"/>
              </a:rPr>
              <a:t>Software</a:t>
            </a:r>
          </a:p>
        </p:txBody>
      </p:sp>
      <p:sp>
        <p:nvSpPr>
          <p:cNvPr id="63492" name="server"/>
          <p:cNvSpPr>
            <a:spLocks noEditPoints="1" noChangeArrowheads="1"/>
          </p:cNvSpPr>
          <p:nvPr/>
        </p:nvSpPr>
        <p:spPr bwMode="auto">
          <a:xfrm>
            <a:off x="7724775" y="4572000"/>
            <a:ext cx="428625" cy="742950"/>
          </a:xfrm>
          <a:custGeom>
            <a:avLst/>
            <a:gdLst>
              <a:gd name="T0" fmla="*/ 0 w 21600"/>
              <a:gd name="T1" fmla="*/ 0 h 21600"/>
              <a:gd name="T2" fmla="*/ 4246860 w 21600"/>
              <a:gd name="T3" fmla="*/ 0 h 21600"/>
              <a:gd name="T4" fmla="*/ 8493700 w 21600"/>
              <a:gd name="T5" fmla="*/ 0 h 21600"/>
              <a:gd name="T6" fmla="*/ 8493700 w 21600"/>
              <a:gd name="T7" fmla="*/ 12777192 h 21600"/>
              <a:gd name="T8" fmla="*/ 8493700 w 21600"/>
              <a:gd name="T9" fmla="*/ 25554384 h 21600"/>
              <a:gd name="T10" fmla="*/ 4246860 w 21600"/>
              <a:gd name="T11" fmla="*/ 25554384 h 21600"/>
              <a:gd name="T12" fmla="*/ 0 w 21600"/>
              <a:gd name="T13" fmla="*/ 25554384 h 21600"/>
              <a:gd name="T14" fmla="*/ 0 w 21600"/>
              <a:gd name="T15" fmla="*/ 12777192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28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63493" name="server"/>
          <p:cNvSpPr>
            <a:spLocks noEditPoints="1" noChangeArrowheads="1"/>
          </p:cNvSpPr>
          <p:nvPr/>
        </p:nvSpPr>
        <p:spPr bwMode="auto">
          <a:xfrm>
            <a:off x="838200" y="4645025"/>
            <a:ext cx="381000" cy="742950"/>
          </a:xfrm>
          <a:custGeom>
            <a:avLst/>
            <a:gdLst>
              <a:gd name="T0" fmla="*/ 0 w 21600"/>
              <a:gd name="T1" fmla="*/ 0 h 21600"/>
              <a:gd name="T2" fmla="*/ 3361284 w 21600"/>
              <a:gd name="T3" fmla="*/ 0 h 21600"/>
              <a:gd name="T4" fmla="*/ 6722568 w 21600"/>
              <a:gd name="T5" fmla="*/ 0 h 21600"/>
              <a:gd name="T6" fmla="*/ 6722568 w 21600"/>
              <a:gd name="T7" fmla="*/ 12777192 h 21600"/>
              <a:gd name="T8" fmla="*/ 6722568 w 21600"/>
              <a:gd name="T9" fmla="*/ 25554384 h 21600"/>
              <a:gd name="T10" fmla="*/ 3361284 w 21600"/>
              <a:gd name="T11" fmla="*/ 25554384 h 21600"/>
              <a:gd name="T12" fmla="*/ 0 w 21600"/>
              <a:gd name="T13" fmla="*/ 25554384 h 21600"/>
              <a:gd name="T14" fmla="*/ 0 w 21600"/>
              <a:gd name="T15" fmla="*/ 12777192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28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63494" name="computr2"/>
          <p:cNvSpPr>
            <a:spLocks noEditPoints="1" noChangeArrowheads="1"/>
          </p:cNvSpPr>
          <p:nvPr/>
        </p:nvSpPr>
        <p:spPr bwMode="auto">
          <a:xfrm>
            <a:off x="5930900" y="4648200"/>
            <a:ext cx="757238" cy="679450"/>
          </a:xfrm>
          <a:custGeom>
            <a:avLst/>
            <a:gdLst>
              <a:gd name="T0" fmla="*/ 13258361 w 21600"/>
              <a:gd name="T1" fmla="*/ 0 h 21600"/>
              <a:gd name="T2" fmla="*/ 13258361 w 21600"/>
              <a:gd name="T3" fmla="*/ 21372792 h 21600"/>
              <a:gd name="T4" fmla="*/ 21269835 w 21600"/>
              <a:gd name="T5" fmla="*/ 0 h 21600"/>
              <a:gd name="T6" fmla="*/ 5246853 w 21600"/>
              <a:gd name="T7" fmla="*/ 0 h 21600"/>
              <a:gd name="T8" fmla="*/ 5246853 w 21600"/>
              <a:gd name="T9" fmla="*/ 11508656 h 21600"/>
              <a:gd name="T10" fmla="*/ 21269835 w 21600"/>
              <a:gd name="T11" fmla="*/ 11508656 h 21600"/>
              <a:gd name="T12" fmla="*/ 5246853 w 21600"/>
              <a:gd name="T13" fmla="*/ 5754816 h 21600"/>
              <a:gd name="T14" fmla="*/ 21269835 w 21600"/>
              <a:gd name="T15" fmla="*/ 5754816 h 21600"/>
              <a:gd name="T16" fmla="*/ 23113709 w 21600"/>
              <a:gd name="T17" fmla="*/ 15618950 h 21600"/>
              <a:gd name="T18" fmla="*/ 3402978 w 21600"/>
              <a:gd name="T19" fmla="*/ 1561895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algn="l" rtl="0"/>
            <a:endParaRPr lang="ar-SA">
              <a:latin typeface="Georgia" pitchFamily="18" charset="0"/>
            </a:endParaRPr>
          </a:p>
        </p:txBody>
      </p:sp>
      <p:sp>
        <p:nvSpPr>
          <p:cNvPr id="63495" name="Text Box 9"/>
          <p:cNvSpPr txBox="1">
            <a:spLocks noChangeArrowheads="1"/>
          </p:cNvSpPr>
          <p:nvPr/>
        </p:nvSpPr>
        <p:spPr bwMode="auto">
          <a:xfrm>
            <a:off x="533400" y="3517900"/>
            <a:ext cx="2498725" cy="830263"/>
          </a:xfrm>
          <a:prstGeom prst="rect">
            <a:avLst/>
          </a:prstGeom>
          <a:noFill/>
          <a:ln w="12700">
            <a:noFill/>
            <a:miter lim="800000"/>
            <a:headEnd/>
            <a:tailEnd/>
          </a:ln>
        </p:spPr>
        <p:txBody>
          <a:bodyPr>
            <a:spAutoFit/>
          </a:bodyPr>
          <a:lstStyle/>
          <a:p>
            <a:pPr algn="l" rtl="0">
              <a:spcBef>
                <a:spcPct val="50000"/>
              </a:spcBef>
            </a:pPr>
            <a:r>
              <a:rPr lang="en-US" sz="1600">
                <a:solidFill>
                  <a:srgbClr val="C00000"/>
                </a:solidFill>
                <a:latin typeface="Georgia" pitchFamily="18" charset="0"/>
              </a:rPr>
              <a:t>1. When receiving IDs that are too long, the system stops. (overflow)</a:t>
            </a:r>
          </a:p>
        </p:txBody>
      </p:sp>
      <p:sp>
        <p:nvSpPr>
          <p:cNvPr id="63496" name="Rectangle 10"/>
          <p:cNvSpPr>
            <a:spLocks noChangeArrowheads="1"/>
          </p:cNvSpPr>
          <p:nvPr/>
        </p:nvSpPr>
        <p:spPr bwMode="auto">
          <a:xfrm>
            <a:off x="3622675" y="4432300"/>
            <a:ext cx="1101725" cy="1435100"/>
          </a:xfrm>
          <a:prstGeom prst="rect">
            <a:avLst/>
          </a:prstGeom>
          <a:solidFill>
            <a:schemeClr val="accent1"/>
          </a:solidFill>
          <a:ln w="12700">
            <a:solidFill>
              <a:schemeClr val="tx1"/>
            </a:solidFill>
            <a:miter lim="800000"/>
            <a:headEnd/>
            <a:tailEnd/>
          </a:ln>
        </p:spPr>
        <p:txBody>
          <a:bodyPr wrap="none"/>
          <a:lstStyle/>
          <a:p>
            <a:pPr algn="l" rtl="0"/>
            <a:r>
              <a:rPr lang="en-US" sz="1200">
                <a:latin typeface="Georgia" pitchFamily="18" charset="0"/>
              </a:rPr>
              <a:t>To: %%%</a:t>
            </a:r>
          </a:p>
          <a:p>
            <a:pPr algn="l" rtl="0"/>
            <a:r>
              <a:rPr lang="en-US" sz="1200">
                <a:latin typeface="Georgia" pitchFamily="18" charset="0"/>
              </a:rPr>
              <a:t>From: $$$</a:t>
            </a:r>
          </a:p>
          <a:p>
            <a:pPr algn="l" rtl="0"/>
            <a:r>
              <a:rPr lang="en-US" sz="1200">
                <a:latin typeface="Georgia" pitchFamily="18" charset="0"/>
              </a:rPr>
              <a:t>--------</a:t>
            </a:r>
          </a:p>
          <a:p>
            <a:pPr algn="l" rtl="0"/>
            <a:r>
              <a:rPr lang="en-US" sz="1200">
                <a:latin typeface="Georgia" pitchFamily="18" charset="0"/>
              </a:rPr>
              <a:t>--------</a:t>
            </a:r>
          </a:p>
          <a:p>
            <a:pPr algn="l" rtl="0"/>
            <a:r>
              <a:rPr lang="en-US" sz="1200">
                <a:latin typeface="Georgia" pitchFamily="18" charset="0"/>
              </a:rPr>
              <a:t>--------</a:t>
            </a:r>
          </a:p>
          <a:p>
            <a:pPr algn="l" rtl="0"/>
            <a:r>
              <a:rPr lang="en-US" sz="1200">
                <a:latin typeface="Georgia" pitchFamily="18" charset="0"/>
              </a:rPr>
              <a:t>Attach: xxx</a:t>
            </a:r>
          </a:p>
          <a:p>
            <a:pPr algn="l" rtl="0"/>
            <a:r>
              <a:rPr lang="en-US" sz="1200">
                <a:latin typeface="Georgia" pitchFamily="18" charset="0"/>
              </a:rPr>
              <a:t>virus</a:t>
            </a:r>
          </a:p>
        </p:txBody>
      </p:sp>
      <p:sp>
        <p:nvSpPr>
          <p:cNvPr id="63497" name="Text Box 11"/>
          <p:cNvSpPr txBox="1">
            <a:spLocks noChangeArrowheads="1"/>
          </p:cNvSpPr>
          <p:nvPr/>
        </p:nvSpPr>
        <p:spPr bwMode="auto">
          <a:xfrm>
            <a:off x="3276600" y="3568700"/>
            <a:ext cx="2525713" cy="830263"/>
          </a:xfrm>
          <a:prstGeom prst="rect">
            <a:avLst/>
          </a:prstGeom>
          <a:noFill/>
          <a:ln w="12700">
            <a:noFill/>
            <a:miter lim="800000"/>
            <a:headEnd/>
            <a:tailEnd/>
          </a:ln>
        </p:spPr>
        <p:txBody>
          <a:bodyPr>
            <a:spAutoFit/>
          </a:bodyPr>
          <a:lstStyle/>
          <a:p>
            <a:pPr algn="l" rtl="0">
              <a:spcBef>
                <a:spcPct val="50000"/>
              </a:spcBef>
            </a:pPr>
            <a:r>
              <a:rPr lang="en-US" sz="1600">
                <a:solidFill>
                  <a:srgbClr val="C00000"/>
                </a:solidFill>
                <a:latin typeface="Georgia" pitchFamily="18" charset="0"/>
              </a:rPr>
              <a:t>2. When a mail infected with a computer virus is opened</a:t>
            </a:r>
          </a:p>
        </p:txBody>
      </p:sp>
      <p:sp>
        <p:nvSpPr>
          <p:cNvPr id="63498" name="Text Box 12"/>
          <p:cNvSpPr txBox="1">
            <a:spLocks noChangeArrowheads="1"/>
          </p:cNvSpPr>
          <p:nvPr/>
        </p:nvSpPr>
        <p:spPr bwMode="auto">
          <a:xfrm>
            <a:off x="5886450" y="3568700"/>
            <a:ext cx="2571750" cy="584200"/>
          </a:xfrm>
          <a:prstGeom prst="rect">
            <a:avLst/>
          </a:prstGeom>
          <a:noFill/>
          <a:ln w="12700">
            <a:noFill/>
            <a:miter lim="800000"/>
            <a:headEnd/>
            <a:tailEnd/>
          </a:ln>
        </p:spPr>
        <p:txBody>
          <a:bodyPr>
            <a:spAutoFit/>
          </a:bodyPr>
          <a:lstStyle/>
          <a:p>
            <a:pPr algn="l" rtl="0">
              <a:spcBef>
                <a:spcPct val="50000"/>
              </a:spcBef>
            </a:pPr>
            <a:r>
              <a:rPr lang="en-US" sz="1600">
                <a:solidFill>
                  <a:srgbClr val="C00000"/>
                </a:solidFill>
                <a:latin typeface="Georgia" pitchFamily="18" charset="0"/>
              </a:rPr>
              <a:t>3. With too much access, the server stops</a:t>
            </a:r>
          </a:p>
        </p:txBody>
      </p:sp>
      <p:sp>
        <p:nvSpPr>
          <p:cNvPr id="63499" name="Line 13"/>
          <p:cNvSpPr>
            <a:spLocks noChangeShapeType="1"/>
          </p:cNvSpPr>
          <p:nvPr/>
        </p:nvSpPr>
        <p:spPr bwMode="auto">
          <a:xfrm>
            <a:off x="6615113" y="4638675"/>
            <a:ext cx="1055687" cy="0"/>
          </a:xfrm>
          <a:prstGeom prst="line">
            <a:avLst/>
          </a:prstGeom>
          <a:noFill/>
          <a:ln w="12700">
            <a:solidFill>
              <a:schemeClr val="tx1"/>
            </a:solidFill>
            <a:round/>
            <a:headEnd/>
            <a:tailEnd type="triangle" w="med" len="med"/>
          </a:ln>
        </p:spPr>
        <p:txBody>
          <a:bodyPr/>
          <a:lstStyle/>
          <a:p>
            <a:endParaRPr lang="ar-SA"/>
          </a:p>
        </p:txBody>
      </p:sp>
      <p:sp>
        <p:nvSpPr>
          <p:cNvPr id="63500" name="Line 14"/>
          <p:cNvSpPr>
            <a:spLocks noChangeShapeType="1"/>
          </p:cNvSpPr>
          <p:nvPr/>
        </p:nvSpPr>
        <p:spPr bwMode="auto">
          <a:xfrm>
            <a:off x="6615113" y="4740275"/>
            <a:ext cx="1055687" cy="0"/>
          </a:xfrm>
          <a:prstGeom prst="line">
            <a:avLst/>
          </a:prstGeom>
          <a:noFill/>
          <a:ln w="12700">
            <a:solidFill>
              <a:schemeClr val="tx1"/>
            </a:solidFill>
            <a:round/>
            <a:headEnd/>
            <a:tailEnd type="triangle" w="med" len="med"/>
          </a:ln>
        </p:spPr>
        <p:txBody>
          <a:bodyPr/>
          <a:lstStyle/>
          <a:p>
            <a:endParaRPr lang="ar-SA"/>
          </a:p>
        </p:txBody>
      </p:sp>
      <p:sp>
        <p:nvSpPr>
          <p:cNvPr id="63501" name="Line 15"/>
          <p:cNvSpPr>
            <a:spLocks noChangeShapeType="1"/>
          </p:cNvSpPr>
          <p:nvPr/>
        </p:nvSpPr>
        <p:spPr bwMode="auto">
          <a:xfrm>
            <a:off x="6627813" y="4841875"/>
            <a:ext cx="1055687" cy="0"/>
          </a:xfrm>
          <a:prstGeom prst="line">
            <a:avLst/>
          </a:prstGeom>
          <a:noFill/>
          <a:ln w="12700">
            <a:solidFill>
              <a:schemeClr val="tx1"/>
            </a:solidFill>
            <a:round/>
            <a:headEnd/>
            <a:tailEnd type="triangle" w="med" len="med"/>
          </a:ln>
        </p:spPr>
        <p:txBody>
          <a:bodyPr/>
          <a:lstStyle/>
          <a:p>
            <a:endParaRPr lang="ar-SA"/>
          </a:p>
        </p:txBody>
      </p:sp>
      <p:sp>
        <p:nvSpPr>
          <p:cNvPr id="63502" name="Line 16"/>
          <p:cNvSpPr>
            <a:spLocks noChangeShapeType="1"/>
          </p:cNvSpPr>
          <p:nvPr/>
        </p:nvSpPr>
        <p:spPr bwMode="auto">
          <a:xfrm>
            <a:off x="6627813" y="4943475"/>
            <a:ext cx="1055687" cy="0"/>
          </a:xfrm>
          <a:prstGeom prst="line">
            <a:avLst/>
          </a:prstGeom>
          <a:noFill/>
          <a:ln w="12700">
            <a:solidFill>
              <a:schemeClr val="tx1"/>
            </a:solidFill>
            <a:round/>
            <a:headEnd/>
            <a:tailEnd type="triangle" w="med" len="med"/>
          </a:ln>
        </p:spPr>
        <p:txBody>
          <a:bodyPr/>
          <a:lstStyle/>
          <a:p>
            <a:endParaRPr lang="ar-SA"/>
          </a:p>
        </p:txBody>
      </p:sp>
      <p:sp>
        <p:nvSpPr>
          <p:cNvPr id="63503" name="Line 17"/>
          <p:cNvSpPr>
            <a:spLocks noChangeShapeType="1"/>
          </p:cNvSpPr>
          <p:nvPr/>
        </p:nvSpPr>
        <p:spPr bwMode="auto">
          <a:xfrm>
            <a:off x="6638925" y="5057775"/>
            <a:ext cx="1055688" cy="0"/>
          </a:xfrm>
          <a:prstGeom prst="line">
            <a:avLst/>
          </a:prstGeom>
          <a:noFill/>
          <a:ln w="12700">
            <a:solidFill>
              <a:schemeClr val="tx1"/>
            </a:solidFill>
            <a:round/>
            <a:headEnd/>
            <a:tailEnd type="triangle" w="med" len="med"/>
          </a:ln>
        </p:spPr>
        <p:txBody>
          <a:bodyPr/>
          <a:lstStyle/>
          <a:p>
            <a:endParaRPr lang="ar-SA"/>
          </a:p>
        </p:txBody>
      </p:sp>
      <p:sp>
        <p:nvSpPr>
          <p:cNvPr id="63504" name="Line 18"/>
          <p:cNvSpPr>
            <a:spLocks noChangeShapeType="1"/>
          </p:cNvSpPr>
          <p:nvPr/>
        </p:nvSpPr>
        <p:spPr bwMode="auto">
          <a:xfrm>
            <a:off x="6627813" y="5159375"/>
            <a:ext cx="1077912" cy="0"/>
          </a:xfrm>
          <a:prstGeom prst="line">
            <a:avLst/>
          </a:prstGeom>
          <a:noFill/>
          <a:ln w="12700">
            <a:solidFill>
              <a:schemeClr val="tx1"/>
            </a:solidFill>
            <a:round/>
            <a:headEnd/>
            <a:tailEnd type="triangle" w="med" len="med"/>
          </a:ln>
        </p:spPr>
        <p:txBody>
          <a:bodyPr/>
          <a:lstStyle/>
          <a:p>
            <a:endParaRPr lang="ar-SA"/>
          </a:p>
        </p:txBody>
      </p:sp>
      <p:sp>
        <p:nvSpPr>
          <p:cNvPr id="63505" name="Text Box 19"/>
          <p:cNvSpPr txBox="1">
            <a:spLocks noChangeArrowheads="1"/>
          </p:cNvSpPr>
          <p:nvPr/>
        </p:nvSpPr>
        <p:spPr bwMode="auto">
          <a:xfrm>
            <a:off x="1377950" y="4406900"/>
            <a:ext cx="1301750" cy="274638"/>
          </a:xfrm>
          <a:prstGeom prst="rect">
            <a:avLst/>
          </a:prstGeom>
          <a:noFill/>
          <a:ln w="12700">
            <a:noFill/>
            <a:miter lim="800000"/>
            <a:headEnd/>
            <a:tailEnd/>
          </a:ln>
        </p:spPr>
        <p:txBody>
          <a:bodyPr>
            <a:spAutoFit/>
          </a:bodyPr>
          <a:lstStyle/>
          <a:p>
            <a:pPr algn="l" rtl="0">
              <a:spcBef>
                <a:spcPct val="50000"/>
              </a:spcBef>
            </a:pPr>
            <a:r>
              <a:rPr lang="en-US" sz="1200">
                <a:latin typeface="Georgia" pitchFamily="18" charset="0"/>
              </a:rPr>
              <a:t>ID: aaaaa-aaaaa</a:t>
            </a:r>
          </a:p>
        </p:txBody>
      </p:sp>
      <p:sp>
        <p:nvSpPr>
          <p:cNvPr id="63506" name="Line 20"/>
          <p:cNvSpPr>
            <a:spLocks noChangeShapeType="1"/>
          </p:cNvSpPr>
          <p:nvPr/>
        </p:nvSpPr>
        <p:spPr bwMode="auto">
          <a:xfrm flipH="1">
            <a:off x="1252538" y="4660900"/>
            <a:ext cx="609600" cy="254000"/>
          </a:xfrm>
          <a:prstGeom prst="line">
            <a:avLst/>
          </a:prstGeom>
          <a:noFill/>
          <a:ln w="12700" cap="rnd">
            <a:solidFill>
              <a:schemeClr val="tx1"/>
            </a:solidFill>
            <a:prstDash val="sysDot"/>
            <a:round/>
            <a:headEnd/>
            <a:tailEnd type="triangle" w="med" len="med"/>
          </a:ln>
        </p:spPr>
        <p:txBody>
          <a:bodyPr/>
          <a:lstStyle/>
          <a:p>
            <a:endParaRPr lang="ar-SA"/>
          </a:p>
        </p:txBody>
      </p:sp>
    </p:spTree>
    <p:extLst>
      <p:ext uri="{BB962C8B-B14F-4D97-AF65-F5344CB8AC3E}">
        <p14:creationId xmlns:p14="http://schemas.microsoft.com/office/powerpoint/2010/main" val="34664887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p:txBody>
          <a:bodyPr/>
          <a:lstStyle/>
          <a:p>
            <a:pPr eaLnBrk="1" hangingPunct="1"/>
            <a:r>
              <a:rPr lang="en-US" b="1" dirty="0" smtClean="0">
                <a:solidFill>
                  <a:srgbClr val="C00000"/>
                </a:solidFill>
                <a:latin typeface="Times New Roman" pitchFamily="18" charset="0"/>
                <a:cs typeface="Times New Roman" pitchFamily="18" charset="0"/>
              </a:rPr>
              <a:t>Controls</a:t>
            </a:r>
          </a:p>
        </p:txBody>
      </p:sp>
      <p:sp>
        <p:nvSpPr>
          <p:cNvPr id="65539" name="Content Placeholder 3"/>
          <p:cNvSpPr>
            <a:spLocks noGrp="1"/>
          </p:cNvSpPr>
          <p:nvPr>
            <p:ph idx="1"/>
          </p:nvPr>
        </p:nvSpPr>
        <p:spPr/>
        <p:txBody>
          <a:bodyPr/>
          <a:lstStyle/>
          <a:p>
            <a:pPr algn="justLow" rtl="0" eaLnBrk="1" hangingPunct="1"/>
            <a:r>
              <a:rPr lang="en-US" u="sng" dirty="0" smtClean="0">
                <a:latin typeface="Times New Roman" pitchFamily="18" charset="0"/>
                <a:cs typeface="Times New Roman" pitchFamily="18" charset="0"/>
              </a:rPr>
              <a:t>Definition:</a:t>
            </a:r>
            <a:r>
              <a:rPr lang="en-US" dirty="0" smtClean="0">
                <a:latin typeface="Times New Roman" pitchFamily="18" charset="0"/>
                <a:cs typeface="Times New Roman" pitchFamily="18" charset="0"/>
              </a:rPr>
              <a:t> an action, device, procedure, or technique that remove or reduce a vulnerabilities</a:t>
            </a:r>
          </a:p>
          <a:p>
            <a:pPr algn="justLow" rtl="0" eaLnBrk="1" hangingPunct="1"/>
            <a:r>
              <a:rPr lang="en-US" altLang="zh-CN" dirty="0" smtClean="0">
                <a:latin typeface="Times New Roman" pitchFamily="18" charset="0"/>
                <a:cs typeface="Times New Roman" pitchFamily="18" charset="0"/>
              </a:rPr>
              <a:t>Harm occurs when a threat is realized against a vulnerability. To protect against harm, we can neutralize the threat, close the vulnerability, or both</a:t>
            </a:r>
          </a:p>
          <a:p>
            <a:pPr algn="justLow" rtl="0" eaLnBrk="1" hangingPunct="1"/>
            <a:r>
              <a:rPr lang="en-US" altLang="zh-CN" dirty="0" smtClean="0">
                <a:latin typeface="Times New Roman" pitchFamily="18" charset="0"/>
                <a:cs typeface="Times New Roman" pitchFamily="18" charset="0"/>
              </a:rPr>
              <a:t>The possibility for harm to occur is called </a:t>
            </a:r>
            <a:r>
              <a:rPr lang="en-US" altLang="zh-CN" u="sng" dirty="0" smtClean="0">
                <a:latin typeface="Times New Roman" pitchFamily="18" charset="0"/>
                <a:cs typeface="Times New Roman" pitchFamily="18" charset="0"/>
              </a:rPr>
              <a:t>risk</a:t>
            </a:r>
          </a:p>
          <a:p>
            <a:pPr eaLnBrk="1" hangingPunct="1"/>
            <a:endParaRPr lang="en-US" dirty="0" smtClean="0"/>
          </a:p>
        </p:txBody>
      </p:sp>
      <p:sp>
        <p:nvSpPr>
          <p:cNvPr id="3" name="Slide Number Placeholder 2"/>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153081FD-52E5-436A-807A-287BC244DF62}" type="slidenum">
              <a:rPr lang="ar-SA">
                <a:solidFill>
                  <a:srgbClr val="CBA523"/>
                </a:solidFill>
                <a:cs typeface="Arial" charset="0"/>
              </a:rPr>
              <a:pPr fontAlgn="base">
                <a:spcBef>
                  <a:spcPct val="0"/>
                </a:spcBef>
                <a:spcAft>
                  <a:spcPct val="0"/>
                </a:spcAft>
                <a:defRPr/>
              </a:pPr>
              <a:t>35</a:t>
            </a:fld>
            <a:endParaRPr lang="en-US">
              <a:solidFill>
                <a:srgbClr val="CBA523"/>
              </a:solidFill>
              <a:cs typeface="Arial" charset="0"/>
            </a:endParaRPr>
          </a:p>
        </p:txBody>
      </p:sp>
    </p:spTree>
    <p:extLst>
      <p:ext uri="{BB962C8B-B14F-4D97-AF65-F5344CB8AC3E}">
        <p14:creationId xmlns:p14="http://schemas.microsoft.com/office/powerpoint/2010/main" val="22445088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1" name="Group 5"/>
          <p:cNvGrpSpPr>
            <a:grpSpLocks/>
          </p:cNvGrpSpPr>
          <p:nvPr/>
        </p:nvGrpSpPr>
        <p:grpSpPr bwMode="auto">
          <a:xfrm>
            <a:off x="212725" y="1447800"/>
            <a:ext cx="8855075" cy="4787900"/>
            <a:chOff x="212725" y="1219200"/>
            <a:chExt cx="8855075" cy="4787900"/>
          </a:xfrm>
        </p:grpSpPr>
        <p:cxnSp>
          <p:nvCxnSpPr>
            <p:cNvPr id="66564" name="AutoShape 26"/>
            <p:cNvCxnSpPr>
              <a:cxnSpLocks noChangeShapeType="1"/>
              <a:stCxn id="66574" idx="3"/>
              <a:endCxn id="14" idx="2"/>
            </p:cNvCxnSpPr>
            <p:nvPr/>
          </p:nvCxnSpPr>
          <p:spPr bwMode="auto">
            <a:xfrm flipV="1">
              <a:off x="2582932" y="2971800"/>
              <a:ext cx="541268" cy="870466"/>
            </a:xfrm>
            <a:prstGeom prst="bentConnector3">
              <a:avLst>
                <a:gd name="adj1" fmla="val 50000"/>
              </a:avLst>
            </a:prstGeom>
            <a:noFill/>
            <a:ln w="28575">
              <a:solidFill>
                <a:schemeClr val="tx1"/>
              </a:solidFill>
              <a:miter lim="800000"/>
              <a:headEnd/>
              <a:tailEnd type="triangle" w="med" len="med"/>
            </a:ln>
          </p:spPr>
        </p:cxnSp>
        <p:cxnSp>
          <p:nvCxnSpPr>
            <p:cNvPr id="66565" name="AutoShape 2"/>
            <p:cNvCxnSpPr>
              <a:cxnSpLocks noChangeShapeType="1"/>
            </p:cNvCxnSpPr>
            <p:nvPr/>
          </p:nvCxnSpPr>
          <p:spPr bwMode="auto">
            <a:xfrm rot="5400000">
              <a:off x="5429250" y="1809750"/>
              <a:ext cx="1066800" cy="647700"/>
            </a:xfrm>
            <a:prstGeom prst="bentConnector2">
              <a:avLst/>
            </a:prstGeom>
            <a:noFill/>
            <a:ln w="28575">
              <a:solidFill>
                <a:schemeClr val="tx1"/>
              </a:solidFill>
              <a:miter lim="800000"/>
              <a:headEnd/>
              <a:tailEnd type="triangle" w="med" len="med"/>
            </a:ln>
          </p:spPr>
        </p:cxnSp>
        <p:cxnSp>
          <p:nvCxnSpPr>
            <p:cNvPr id="66566" name="AutoShape 4"/>
            <p:cNvCxnSpPr>
              <a:cxnSpLocks noChangeShapeType="1"/>
            </p:cNvCxnSpPr>
            <p:nvPr/>
          </p:nvCxnSpPr>
          <p:spPr bwMode="auto">
            <a:xfrm rot="16200000" flipH="1">
              <a:off x="2469356" y="1874044"/>
              <a:ext cx="1081088" cy="533400"/>
            </a:xfrm>
            <a:prstGeom prst="bentConnector2">
              <a:avLst/>
            </a:prstGeom>
            <a:noFill/>
            <a:ln w="28575">
              <a:solidFill>
                <a:schemeClr val="tx1"/>
              </a:solidFill>
              <a:miter lim="800000"/>
              <a:headEnd/>
              <a:tailEnd type="triangle" w="med" len="med"/>
            </a:ln>
          </p:spPr>
        </p:cxnSp>
        <p:sp>
          <p:nvSpPr>
            <p:cNvPr id="66567" name="Text Box 5"/>
            <p:cNvSpPr txBox="1">
              <a:spLocks noChangeArrowheads="1"/>
            </p:cNvSpPr>
            <p:nvPr/>
          </p:nvSpPr>
          <p:spPr bwMode="auto">
            <a:xfrm>
              <a:off x="212725" y="2016125"/>
              <a:ext cx="2530475" cy="1077218"/>
            </a:xfrm>
            <a:prstGeom prst="rect">
              <a:avLst/>
            </a:prstGeom>
            <a:noFill/>
            <a:ln w="9525">
              <a:noFill/>
              <a:miter lim="800000"/>
              <a:headEnd/>
              <a:tailEnd/>
            </a:ln>
          </p:spPr>
          <p:txBody>
            <a:bodyPr>
              <a:spAutoFit/>
            </a:bodyPr>
            <a:lstStyle/>
            <a:p>
              <a:pPr algn="l" rtl="0"/>
              <a:r>
                <a:rPr lang="en-US" sz="1600" u="sng" dirty="0">
                  <a:latin typeface="Times New Roman" pitchFamily="18" charset="0"/>
                  <a:cs typeface="Times New Roman" pitchFamily="18" charset="0"/>
                </a:rPr>
                <a:t>Encryption</a:t>
              </a:r>
              <a:r>
                <a:rPr lang="en-US" sz="1600" dirty="0">
                  <a:latin typeface="Times New Roman" pitchFamily="18" charset="0"/>
                  <a:cs typeface="Times New Roman" pitchFamily="18" charset="0"/>
                </a:rPr>
                <a:t> provides </a:t>
              </a:r>
            </a:p>
            <a:p>
              <a:pPr algn="l" rtl="0"/>
              <a:r>
                <a:rPr lang="en-US" sz="1600" dirty="0">
                  <a:latin typeface="Times New Roman" pitchFamily="18" charset="0"/>
                  <a:cs typeface="Times New Roman" pitchFamily="18" charset="0"/>
                </a:rPr>
                <a:t>~ confidentiality for data </a:t>
              </a:r>
            </a:p>
            <a:p>
              <a:pPr algn="l" rtl="0"/>
              <a:r>
                <a:rPr lang="en-US" sz="1600" dirty="0">
                  <a:latin typeface="Times New Roman" pitchFamily="18" charset="0"/>
                  <a:cs typeface="Times New Roman" pitchFamily="18" charset="0"/>
                </a:rPr>
                <a:t>~ integrity</a:t>
              </a:r>
            </a:p>
            <a:p>
              <a:pPr algn="l" rtl="0"/>
              <a:r>
                <a:rPr lang="en-US" sz="1600" dirty="0">
                  <a:latin typeface="Times New Roman" pitchFamily="18" charset="0"/>
                  <a:cs typeface="Times New Roman" pitchFamily="18" charset="0"/>
                </a:rPr>
                <a:t>~ basis for protocol</a:t>
              </a:r>
            </a:p>
          </p:txBody>
        </p:sp>
        <p:sp>
          <p:nvSpPr>
            <p:cNvPr id="11" name="Rectangle 6"/>
            <p:cNvSpPr>
              <a:spLocks noChangeArrowheads="1"/>
            </p:cNvSpPr>
            <p:nvPr/>
          </p:nvSpPr>
          <p:spPr bwMode="auto">
            <a:xfrm>
              <a:off x="838200" y="3657600"/>
              <a:ext cx="2209800" cy="457200"/>
            </a:xfrm>
            <a:prstGeom prst="rect">
              <a:avLst/>
            </a:prstGeom>
            <a:solidFill>
              <a:schemeClr val="bg1"/>
            </a:solidFill>
            <a:ln w="9525">
              <a:solidFill>
                <a:schemeClr val="tx1"/>
              </a:solidFill>
              <a:miter lim="800000"/>
              <a:headEnd/>
              <a:tailEnd/>
            </a:ln>
            <a:effectLst>
              <a:outerShdw blurRad="63500" dist="107763" dir="2700000" algn="ctr" rotWithShape="0">
                <a:schemeClr val="bg2"/>
              </a:outerShdw>
            </a:effectLst>
          </p:spPr>
          <p:txBody>
            <a:bodyPr wrap="none" anchor="ctr"/>
            <a:lstStyle/>
            <a:p>
              <a:pPr algn="l" rtl="0" fontAlgn="auto">
                <a:spcBef>
                  <a:spcPts val="0"/>
                </a:spcBef>
                <a:spcAft>
                  <a:spcPts val="0"/>
                </a:spcAft>
                <a:defRPr/>
              </a:pPr>
              <a:endParaRPr lang="ar-SA">
                <a:latin typeface="+mn-lt"/>
                <a:cs typeface="+mn-cs"/>
              </a:endParaRPr>
            </a:p>
          </p:txBody>
        </p:sp>
        <p:sp>
          <p:nvSpPr>
            <p:cNvPr id="12" name="Rectangle 7"/>
            <p:cNvSpPr>
              <a:spLocks noChangeArrowheads="1"/>
            </p:cNvSpPr>
            <p:nvPr/>
          </p:nvSpPr>
          <p:spPr bwMode="auto">
            <a:xfrm>
              <a:off x="5334000" y="1219200"/>
              <a:ext cx="3048000" cy="685800"/>
            </a:xfrm>
            <a:prstGeom prst="rect">
              <a:avLst/>
            </a:prstGeom>
            <a:solidFill>
              <a:schemeClr val="bg1"/>
            </a:solidFill>
            <a:ln w="9525">
              <a:solidFill>
                <a:schemeClr val="tx1"/>
              </a:solidFill>
              <a:miter lim="800000"/>
              <a:headEnd/>
              <a:tailEnd/>
            </a:ln>
            <a:effectLst>
              <a:outerShdw blurRad="63500" dist="107763" dir="2700000" algn="ctr" rotWithShape="0">
                <a:schemeClr val="bg2"/>
              </a:outerShdw>
            </a:effectLst>
          </p:spPr>
          <p:txBody>
            <a:bodyPr wrap="none" anchor="ctr"/>
            <a:lstStyle/>
            <a:p>
              <a:pPr algn="l" rtl="0" fontAlgn="auto">
                <a:spcBef>
                  <a:spcPts val="0"/>
                </a:spcBef>
                <a:spcAft>
                  <a:spcPts val="0"/>
                </a:spcAft>
                <a:defRPr/>
              </a:pPr>
              <a:endParaRPr lang="ar-SA">
                <a:latin typeface="+mn-lt"/>
                <a:cs typeface="+mn-cs"/>
              </a:endParaRPr>
            </a:p>
          </p:txBody>
        </p:sp>
        <p:sp>
          <p:nvSpPr>
            <p:cNvPr id="13" name="Rectangle 8"/>
            <p:cNvSpPr>
              <a:spLocks noChangeArrowheads="1"/>
            </p:cNvSpPr>
            <p:nvPr/>
          </p:nvSpPr>
          <p:spPr bwMode="auto">
            <a:xfrm>
              <a:off x="1447800" y="1447800"/>
              <a:ext cx="2286000" cy="457200"/>
            </a:xfrm>
            <a:prstGeom prst="rect">
              <a:avLst/>
            </a:prstGeom>
            <a:solidFill>
              <a:schemeClr val="bg1"/>
            </a:solidFill>
            <a:ln w="9525">
              <a:solidFill>
                <a:schemeClr val="tx1"/>
              </a:solidFill>
              <a:miter lim="800000"/>
              <a:headEnd/>
              <a:tailEnd/>
            </a:ln>
            <a:effectLst>
              <a:outerShdw blurRad="63500" dist="107763" dir="2700000" algn="ctr" rotWithShape="0">
                <a:schemeClr val="bg2"/>
              </a:outerShdw>
            </a:effectLst>
          </p:spPr>
          <p:txBody>
            <a:bodyPr wrap="none" anchor="ctr"/>
            <a:lstStyle/>
            <a:p>
              <a:pPr algn="l" rtl="0" fontAlgn="auto">
                <a:spcBef>
                  <a:spcPts val="0"/>
                </a:spcBef>
                <a:spcAft>
                  <a:spcPts val="0"/>
                </a:spcAft>
                <a:defRPr/>
              </a:pPr>
              <a:endParaRPr lang="ar-SA">
                <a:latin typeface="+mn-lt"/>
                <a:cs typeface="+mn-cs"/>
              </a:endParaRPr>
            </a:p>
          </p:txBody>
        </p:sp>
        <p:sp>
          <p:nvSpPr>
            <p:cNvPr id="14" name="Oval 16"/>
            <p:cNvSpPr>
              <a:spLocks noChangeArrowheads="1"/>
            </p:cNvSpPr>
            <p:nvPr/>
          </p:nvSpPr>
          <p:spPr bwMode="auto">
            <a:xfrm>
              <a:off x="3124200" y="2133600"/>
              <a:ext cx="2590800" cy="1676400"/>
            </a:xfrm>
            <a:prstGeom prst="ellipse">
              <a:avLst/>
            </a:prstGeom>
            <a:solidFill>
              <a:schemeClr val="bg1"/>
            </a:solidFill>
            <a:ln w="9525">
              <a:solidFill>
                <a:schemeClr val="tx1"/>
              </a:solidFill>
              <a:round/>
              <a:headEnd/>
              <a:tailEnd/>
            </a:ln>
            <a:effectLst>
              <a:outerShdw blurRad="63500" dist="107763" dir="2700000" algn="ctr" rotWithShape="0">
                <a:schemeClr val="bg2"/>
              </a:outerShdw>
            </a:effectLst>
          </p:spPr>
          <p:txBody>
            <a:bodyPr wrap="none" anchor="ctr"/>
            <a:lstStyle/>
            <a:p>
              <a:pPr algn="ctr" rtl="0" fontAlgn="auto">
                <a:spcBef>
                  <a:spcPts val="0"/>
                </a:spcBef>
                <a:spcAft>
                  <a:spcPts val="0"/>
                </a:spcAft>
                <a:defRPr/>
              </a:pPr>
              <a:r>
                <a:rPr lang="en-US" sz="2400" b="1" dirty="0">
                  <a:solidFill>
                    <a:srgbClr val="0070C0"/>
                  </a:solidFill>
                  <a:latin typeface="Times New Roman" pitchFamily="18" charset="0"/>
                  <a:cs typeface="Times New Roman" pitchFamily="18" charset="0"/>
                </a:rPr>
                <a:t>METHODS OF </a:t>
              </a:r>
            </a:p>
            <a:p>
              <a:pPr algn="ctr" rtl="0" fontAlgn="auto">
                <a:spcBef>
                  <a:spcPts val="0"/>
                </a:spcBef>
                <a:spcAft>
                  <a:spcPts val="0"/>
                </a:spcAft>
                <a:defRPr/>
              </a:pPr>
              <a:r>
                <a:rPr lang="en-US" sz="2400" b="1" dirty="0">
                  <a:solidFill>
                    <a:srgbClr val="0070C0"/>
                  </a:solidFill>
                  <a:latin typeface="Times New Roman" pitchFamily="18" charset="0"/>
                  <a:cs typeface="Times New Roman" pitchFamily="18" charset="0"/>
                </a:rPr>
                <a:t>DEFENSE</a:t>
              </a:r>
              <a:endParaRPr lang="en-US" b="1" dirty="0">
                <a:solidFill>
                  <a:srgbClr val="0070C0"/>
                </a:solidFill>
                <a:latin typeface="Times New Roman" pitchFamily="18" charset="0"/>
                <a:cs typeface="Times New Roman" pitchFamily="18" charset="0"/>
              </a:endParaRPr>
            </a:p>
          </p:txBody>
        </p:sp>
        <p:sp>
          <p:nvSpPr>
            <p:cNvPr id="66572" name="Text Box 17"/>
            <p:cNvSpPr txBox="1">
              <a:spLocks noChangeArrowheads="1"/>
            </p:cNvSpPr>
            <p:nvPr/>
          </p:nvSpPr>
          <p:spPr bwMode="auto">
            <a:xfrm>
              <a:off x="5334000" y="1295400"/>
              <a:ext cx="3124200" cy="641350"/>
            </a:xfrm>
            <a:prstGeom prst="rect">
              <a:avLst/>
            </a:prstGeom>
            <a:noFill/>
            <a:ln w="9525">
              <a:noFill/>
              <a:miter lim="800000"/>
              <a:headEnd/>
              <a:tailEnd/>
            </a:ln>
          </p:spPr>
          <p:txBody>
            <a:bodyPr>
              <a:spAutoFit/>
            </a:bodyPr>
            <a:lstStyle/>
            <a:p>
              <a:pPr algn="ctr" rtl="0">
                <a:spcBef>
                  <a:spcPct val="50000"/>
                </a:spcBef>
              </a:pPr>
              <a:r>
                <a:rPr lang="en-US" b="1" dirty="0">
                  <a:solidFill>
                    <a:srgbClr val="0070C0"/>
                  </a:solidFill>
                  <a:latin typeface="Times New Roman" pitchFamily="18" charset="0"/>
                  <a:cs typeface="Times New Roman" pitchFamily="18" charset="0"/>
                </a:rPr>
                <a:t>SOFTWARE/HARDWARE CONTROLS</a:t>
              </a:r>
            </a:p>
          </p:txBody>
        </p:sp>
        <p:sp>
          <p:nvSpPr>
            <p:cNvPr id="66573" name="Text Box 18"/>
            <p:cNvSpPr txBox="1">
              <a:spLocks noChangeArrowheads="1"/>
            </p:cNvSpPr>
            <p:nvPr/>
          </p:nvSpPr>
          <p:spPr bwMode="auto">
            <a:xfrm>
              <a:off x="1371600" y="1524000"/>
              <a:ext cx="2438400" cy="366713"/>
            </a:xfrm>
            <a:prstGeom prst="rect">
              <a:avLst/>
            </a:prstGeom>
            <a:noFill/>
            <a:ln w="9525">
              <a:noFill/>
              <a:miter lim="800000"/>
              <a:headEnd/>
              <a:tailEnd/>
            </a:ln>
          </p:spPr>
          <p:txBody>
            <a:bodyPr>
              <a:spAutoFit/>
            </a:bodyPr>
            <a:lstStyle/>
            <a:p>
              <a:pPr algn="ctr" rtl="0">
                <a:spcBef>
                  <a:spcPct val="50000"/>
                </a:spcBef>
              </a:pPr>
              <a:r>
                <a:rPr lang="en-US" b="1" dirty="0">
                  <a:solidFill>
                    <a:srgbClr val="0070C0"/>
                  </a:solidFill>
                  <a:latin typeface="Times New Roman" pitchFamily="18" charset="0"/>
                  <a:cs typeface="Times New Roman" pitchFamily="18" charset="0"/>
                </a:rPr>
                <a:t>ENCRYPTION</a:t>
              </a:r>
            </a:p>
          </p:txBody>
        </p:sp>
        <p:sp>
          <p:nvSpPr>
            <p:cNvPr id="66574" name="Text Box 19"/>
            <p:cNvSpPr txBox="1">
              <a:spLocks noChangeArrowheads="1"/>
            </p:cNvSpPr>
            <p:nvPr/>
          </p:nvSpPr>
          <p:spPr bwMode="auto">
            <a:xfrm>
              <a:off x="1295400" y="3657600"/>
              <a:ext cx="1287532" cy="369332"/>
            </a:xfrm>
            <a:prstGeom prst="rect">
              <a:avLst/>
            </a:prstGeom>
            <a:noFill/>
            <a:ln w="9525">
              <a:noFill/>
              <a:miter lim="800000"/>
              <a:headEnd/>
              <a:tailEnd/>
            </a:ln>
          </p:spPr>
          <p:txBody>
            <a:bodyPr wrap="none">
              <a:spAutoFit/>
            </a:bodyPr>
            <a:lstStyle/>
            <a:p>
              <a:pPr algn="l" rtl="0"/>
              <a:r>
                <a:rPr lang="en-US" b="1" dirty="0">
                  <a:solidFill>
                    <a:srgbClr val="0070C0"/>
                  </a:solidFill>
                  <a:latin typeface="Times New Roman" pitchFamily="18" charset="0"/>
                  <a:cs typeface="Times New Roman" pitchFamily="18" charset="0"/>
                </a:rPr>
                <a:t>POLICIES</a:t>
              </a:r>
            </a:p>
          </p:txBody>
        </p:sp>
        <p:sp>
          <p:nvSpPr>
            <p:cNvPr id="66575" name="Text Box 20"/>
            <p:cNvSpPr txBox="1">
              <a:spLocks noChangeArrowheads="1"/>
            </p:cNvSpPr>
            <p:nvPr/>
          </p:nvSpPr>
          <p:spPr bwMode="auto">
            <a:xfrm>
              <a:off x="6248400" y="1962150"/>
              <a:ext cx="2819400" cy="2554545"/>
            </a:xfrm>
            <a:prstGeom prst="rect">
              <a:avLst/>
            </a:prstGeom>
            <a:noFill/>
            <a:ln w="9525">
              <a:noFill/>
              <a:miter lim="800000"/>
              <a:headEnd/>
              <a:tailEnd/>
            </a:ln>
          </p:spPr>
          <p:txBody>
            <a:bodyPr>
              <a:spAutoFit/>
            </a:bodyPr>
            <a:lstStyle/>
            <a:p>
              <a:pPr algn="l" rtl="0"/>
              <a:r>
                <a:rPr lang="en-US" sz="1600" u="sng" dirty="0">
                  <a:latin typeface="Times New Roman" pitchFamily="18" charset="0"/>
                  <a:cs typeface="Times New Roman" pitchFamily="18" charset="0"/>
                </a:rPr>
                <a:t>S/W controls</a:t>
              </a:r>
              <a:r>
                <a:rPr lang="en-US" sz="1600" dirty="0">
                  <a:latin typeface="Times New Roman" pitchFamily="18" charset="0"/>
                  <a:cs typeface="Times New Roman" pitchFamily="18" charset="0"/>
                </a:rPr>
                <a:t>:</a:t>
              </a:r>
            </a:p>
            <a:p>
              <a:pPr algn="l" rtl="0"/>
              <a:r>
                <a:rPr lang="en-US" sz="1600" dirty="0">
                  <a:latin typeface="Times New Roman" pitchFamily="18" charset="0"/>
                  <a:cs typeface="Times New Roman" pitchFamily="18" charset="0"/>
                </a:rPr>
                <a:t>~ Internal program </a:t>
              </a:r>
              <a:r>
                <a:rPr lang="en-US" sz="1600" dirty="0" err="1">
                  <a:latin typeface="Times New Roman" pitchFamily="18" charset="0"/>
                  <a:cs typeface="Times New Roman" pitchFamily="18" charset="0"/>
                </a:rPr>
                <a:t>ctrls</a:t>
              </a:r>
              <a:endParaRPr lang="en-US" sz="1600" dirty="0">
                <a:latin typeface="Times New Roman" pitchFamily="18" charset="0"/>
                <a:cs typeface="Times New Roman" pitchFamily="18" charset="0"/>
              </a:endParaRPr>
            </a:p>
            <a:p>
              <a:pPr algn="l" rtl="0"/>
              <a:r>
                <a:rPr lang="en-US" sz="1600" dirty="0">
                  <a:latin typeface="Times New Roman" pitchFamily="18" charset="0"/>
                  <a:cs typeface="Times New Roman" pitchFamily="18" charset="0"/>
                </a:rPr>
                <a:t>~ Operating system </a:t>
              </a:r>
              <a:r>
                <a:rPr lang="en-US" sz="1600" dirty="0" err="1">
                  <a:latin typeface="Times New Roman" pitchFamily="18" charset="0"/>
                  <a:cs typeface="Times New Roman" pitchFamily="18" charset="0"/>
                </a:rPr>
                <a:t>ctrls</a:t>
              </a:r>
              <a:endParaRPr lang="en-US" sz="1600" dirty="0">
                <a:latin typeface="Times New Roman" pitchFamily="18" charset="0"/>
                <a:cs typeface="Times New Roman" pitchFamily="18" charset="0"/>
              </a:endParaRPr>
            </a:p>
            <a:p>
              <a:pPr algn="l" rtl="0"/>
              <a:r>
                <a:rPr lang="en-US" sz="1600" dirty="0">
                  <a:latin typeface="Times New Roman" pitchFamily="18" charset="0"/>
                  <a:cs typeface="Times New Roman" pitchFamily="18" charset="0"/>
                </a:rPr>
                <a:t>~ Development </a:t>
              </a:r>
              <a:r>
                <a:rPr lang="en-US" sz="1600" dirty="0" err="1">
                  <a:latin typeface="Times New Roman" pitchFamily="18" charset="0"/>
                  <a:cs typeface="Times New Roman" pitchFamily="18" charset="0"/>
                </a:rPr>
                <a:t>ctrls</a:t>
              </a:r>
              <a:endParaRPr lang="en-US" sz="1600" dirty="0">
                <a:latin typeface="Times New Roman" pitchFamily="18" charset="0"/>
                <a:cs typeface="Times New Roman" pitchFamily="18" charset="0"/>
              </a:endParaRPr>
            </a:p>
            <a:p>
              <a:pPr algn="l" rtl="0"/>
              <a:endParaRPr lang="en-US" sz="1600" dirty="0">
                <a:latin typeface="Georgia" pitchFamily="18" charset="0"/>
              </a:endParaRPr>
            </a:p>
            <a:p>
              <a:pPr algn="l" rtl="0"/>
              <a:r>
                <a:rPr lang="en-US" sz="1600" u="sng" dirty="0">
                  <a:latin typeface="Times New Roman" pitchFamily="18" charset="0"/>
                  <a:cs typeface="Times New Roman" pitchFamily="18" charset="0"/>
                </a:rPr>
                <a:t>H/W controls:</a:t>
              </a:r>
              <a:endParaRPr lang="en-US" sz="1600" dirty="0">
                <a:latin typeface="Times New Roman" pitchFamily="18" charset="0"/>
                <a:cs typeface="Times New Roman" pitchFamily="18" charset="0"/>
              </a:endParaRPr>
            </a:p>
            <a:p>
              <a:pPr algn="l" rtl="0"/>
              <a:r>
                <a:rPr lang="en-US" sz="1600" dirty="0">
                  <a:latin typeface="Times New Roman" pitchFamily="18" charset="0"/>
                  <a:cs typeface="Times New Roman" pitchFamily="18" charset="0"/>
                </a:rPr>
                <a:t>~ h/w devices :</a:t>
              </a:r>
            </a:p>
            <a:p>
              <a:pPr algn="l" rtl="0"/>
              <a:r>
                <a:rPr lang="en-US" sz="1600" dirty="0">
                  <a:latin typeface="Times New Roman" pitchFamily="18" charset="0"/>
                  <a:cs typeface="Times New Roman" pitchFamily="18" charset="0"/>
                </a:rPr>
                <a:t>   - smartcard (encryption)</a:t>
              </a:r>
            </a:p>
            <a:p>
              <a:pPr algn="l" rtl="0"/>
              <a:r>
                <a:rPr lang="en-US" sz="1600" dirty="0">
                  <a:latin typeface="Times New Roman" pitchFamily="18" charset="0"/>
                  <a:cs typeface="Times New Roman" pitchFamily="18" charset="0"/>
                </a:rPr>
                <a:t>   - circuit board ctrl disk  </a:t>
              </a:r>
            </a:p>
            <a:p>
              <a:pPr algn="l" rtl="0"/>
              <a:r>
                <a:rPr lang="en-US" sz="1600" dirty="0">
                  <a:latin typeface="Times New Roman" pitchFamily="18" charset="0"/>
                  <a:cs typeface="Times New Roman" pitchFamily="18" charset="0"/>
                </a:rPr>
                <a:t>     drives in PCs</a:t>
              </a:r>
            </a:p>
          </p:txBody>
        </p:sp>
        <p:sp>
          <p:nvSpPr>
            <p:cNvPr id="66576" name="Text Box 21"/>
            <p:cNvSpPr txBox="1">
              <a:spLocks noChangeArrowheads="1"/>
            </p:cNvSpPr>
            <p:nvPr/>
          </p:nvSpPr>
          <p:spPr bwMode="auto">
            <a:xfrm>
              <a:off x="381000" y="4267200"/>
              <a:ext cx="2895600" cy="1077218"/>
            </a:xfrm>
            <a:prstGeom prst="rect">
              <a:avLst/>
            </a:prstGeom>
            <a:noFill/>
            <a:ln w="9525">
              <a:noFill/>
              <a:miter lim="800000"/>
              <a:headEnd/>
              <a:tailEnd/>
            </a:ln>
          </p:spPr>
          <p:txBody>
            <a:bodyPr>
              <a:spAutoFit/>
            </a:bodyPr>
            <a:lstStyle/>
            <a:p>
              <a:pPr algn="l" rtl="0"/>
              <a:r>
                <a:rPr lang="en-US" sz="1600" dirty="0">
                  <a:latin typeface="Times New Roman" pitchFamily="18" charset="0"/>
                  <a:cs typeface="Times New Roman" pitchFamily="18" charset="0"/>
                </a:rPr>
                <a:t>~ frequent changes </a:t>
              </a:r>
            </a:p>
            <a:p>
              <a:pPr algn="l" rtl="0"/>
              <a:r>
                <a:rPr lang="en-US" sz="1600" dirty="0">
                  <a:latin typeface="Times New Roman" pitchFamily="18" charset="0"/>
                  <a:cs typeface="Times New Roman" pitchFamily="18" charset="0"/>
                </a:rPr>
                <a:t>   of password</a:t>
              </a:r>
            </a:p>
            <a:p>
              <a:pPr algn="l" rtl="0"/>
              <a:r>
                <a:rPr lang="en-US" sz="1600" dirty="0">
                  <a:latin typeface="Times New Roman" pitchFamily="18" charset="0"/>
                  <a:cs typeface="Times New Roman" pitchFamily="18" charset="0"/>
                </a:rPr>
                <a:t>~ training</a:t>
              </a:r>
            </a:p>
            <a:p>
              <a:pPr algn="l" rtl="0"/>
              <a:r>
                <a:rPr lang="en-US" sz="1600" dirty="0">
                  <a:latin typeface="Times New Roman" pitchFamily="18" charset="0"/>
                  <a:cs typeface="Times New Roman" pitchFamily="18" charset="0"/>
                </a:rPr>
                <a:t>~ codes of ethics</a:t>
              </a:r>
            </a:p>
          </p:txBody>
        </p:sp>
        <p:sp>
          <p:nvSpPr>
            <p:cNvPr id="66577" name="Text Box 22"/>
            <p:cNvSpPr txBox="1">
              <a:spLocks noChangeArrowheads="1"/>
            </p:cNvSpPr>
            <p:nvPr/>
          </p:nvSpPr>
          <p:spPr bwMode="auto">
            <a:xfrm>
              <a:off x="3200400" y="5181600"/>
              <a:ext cx="5486400" cy="825500"/>
            </a:xfrm>
            <a:prstGeom prst="rect">
              <a:avLst/>
            </a:prstGeom>
            <a:noFill/>
            <a:ln w="9525">
              <a:noFill/>
              <a:miter lim="800000"/>
              <a:headEnd/>
              <a:tailEnd/>
            </a:ln>
          </p:spPr>
          <p:txBody>
            <a:bodyPr>
              <a:spAutoFit/>
            </a:bodyPr>
            <a:lstStyle/>
            <a:p>
              <a:pPr algn="l" rtl="0"/>
              <a:r>
                <a:rPr lang="en-US" sz="1600" dirty="0">
                  <a:latin typeface="Georgia" pitchFamily="18" charset="0"/>
                </a:rPr>
                <a:t>~ </a:t>
              </a:r>
              <a:r>
                <a:rPr lang="en-US" sz="1600" dirty="0">
                  <a:latin typeface="Times New Roman" pitchFamily="18" charset="0"/>
                  <a:cs typeface="Times New Roman" pitchFamily="18" charset="0"/>
                </a:rPr>
                <a:t>locks of doors</a:t>
              </a:r>
            </a:p>
            <a:p>
              <a:pPr algn="l" rtl="0"/>
              <a:r>
                <a:rPr lang="en-US" sz="1600" dirty="0">
                  <a:latin typeface="Times New Roman" pitchFamily="18" charset="0"/>
                  <a:cs typeface="Times New Roman" pitchFamily="18" charset="0"/>
                </a:rPr>
                <a:t>~ backup copies of important s/w and data</a:t>
              </a:r>
            </a:p>
            <a:p>
              <a:pPr algn="l" rtl="0"/>
              <a:r>
                <a:rPr lang="en-US" sz="1600" dirty="0">
                  <a:latin typeface="Times New Roman" pitchFamily="18" charset="0"/>
                  <a:cs typeface="Times New Roman" pitchFamily="18" charset="0"/>
                </a:rPr>
                <a:t>~ physical site planning (reduce natural disasters)</a:t>
              </a:r>
            </a:p>
          </p:txBody>
        </p:sp>
        <p:cxnSp>
          <p:nvCxnSpPr>
            <p:cNvPr id="66578" name="AutoShape 23"/>
            <p:cNvCxnSpPr>
              <a:cxnSpLocks noChangeShapeType="1"/>
            </p:cNvCxnSpPr>
            <p:nvPr/>
          </p:nvCxnSpPr>
          <p:spPr bwMode="auto">
            <a:xfrm rot="5400000" flipH="1" flipV="1">
              <a:off x="4236244" y="4312444"/>
              <a:ext cx="1128712" cy="152400"/>
            </a:xfrm>
            <a:prstGeom prst="bentConnector5">
              <a:avLst>
                <a:gd name="adj1" fmla="val 14204"/>
                <a:gd name="adj2" fmla="val -530213"/>
                <a:gd name="adj3" fmla="val 17440"/>
              </a:avLst>
            </a:prstGeom>
            <a:noFill/>
            <a:ln w="28575">
              <a:solidFill>
                <a:schemeClr val="tx1"/>
              </a:solidFill>
              <a:miter lim="800000"/>
              <a:headEnd/>
              <a:tailEnd type="triangle" w="med" len="med"/>
            </a:ln>
          </p:spPr>
        </p:cxnSp>
        <p:sp>
          <p:nvSpPr>
            <p:cNvPr id="22" name="Rectangle 24"/>
            <p:cNvSpPr>
              <a:spLocks noChangeArrowheads="1"/>
            </p:cNvSpPr>
            <p:nvPr/>
          </p:nvSpPr>
          <p:spPr bwMode="auto">
            <a:xfrm>
              <a:off x="3276600" y="4724400"/>
              <a:ext cx="2895600" cy="457200"/>
            </a:xfrm>
            <a:prstGeom prst="rect">
              <a:avLst/>
            </a:prstGeom>
            <a:solidFill>
              <a:schemeClr val="bg1"/>
            </a:solidFill>
            <a:ln w="9525">
              <a:solidFill>
                <a:schemeClr val="tx1"/>
              </a:solidFill>
              <a:miter lim="800000"/>
              <a:headEnd/>
              <a:tailEnd/>
            </a:ln>
            <a:effectLst>
              <a:outerShdw blurRad="63500" dist="107763" dir="2700000" algn="ctr" rotWithShape="0">
                <a:schemeClr val="bg2"/>
              </a:outerShdw>
            </a:effectLst>
          </p:spPr>
          <p:txBody>
            <a:bodyPr wrap="none" anchor="ctr"/>
            <a:lstStyle/>
            <a:p>
              <a:pPr algn="l" rtl="0" fontAlgn="auto">
                <a:spcBef>
                  <a:spcPts val="0"/>
                </a:spcBef>
                <a:spcAft>
                  <a:spcPts val="0"/>
                </a:spcAft>
                <a:defRPr/>
              </a:pPr>
              <a:endParaRPr lang="ar-SA">
                <a:latin typeface="+mn-lt"/>
                <a:cs typeface="+mn-cs"/>
              </a:endParaRPr>
            </a:p>
          </p:txBody>
        </p:sp>
        <p:sp>
          <p:nvSpPr>
            <p:cNvPr id="66580" name="Text Box 25"/>
            <p:cNvSpPr txBox="1">
              <a:spLocks noChangeArrowheads="1"/>
            </p:cNvSpPr>
            <p:nvPr/>
          </p:nvSpPr>
          <p:spPr bwMode="auto">
            <a:xfrm>
              <a:off x="3276600" y="4800600"/>
              <a:ext cx="2895600" cy="366713"/>
            </a:xfrm>
            <a:prstGeom prst="rect">
              <a:avLst/>
            </a:prstGeom>
            <a:noFill/>
            <a:ln w="9525">
              <a:noFill/>
              <a:miter lim="800000"/>
              <a:headEnd/>
              <a:tailEnd/>
            </a:ln>
          </p:spPr>
          <p:txBody>
            <a:bodyPr>
              <a:spAutoFit/>
            </a:bodyPr>
            <a:lstStyle/>
            <a:p>
              <a:pPr algn="ctr" rtl="0">
                <a:spcBef>
                  <a:spcPct val="50000"/>
                </a:spcBef>
              </a:pPr>
              <a:r>
                <a:rPr lang="en-US" b="1" dirty="0">
                  <a:solidFill>
                    <a:srgbClr val="0070C0"/>
                  </a:solidFill>
                  <a:latin typeface="Times New Roman" pitchFamily="18" charset="0"/>
                  <a:cs typeface="Times New Roman" pitchFamily="18" charset="0"/>
                </a:rPr>
                <a:t>PHYSICAL CONTROLS</a:t>
              </a:r>
            </a:p>
          </p:txBody>
        </p:sp>
      </p:grpSp>
      <p:sp>
        <p:nvSpPr>
          <p:cNvPr id="26" name="Title 25"/>
          <p:cNvSpPr>
            <a:spLocks noGrp="1"/>
          </p:cNvSpPr>
          <p:nvPr>
            <p:ph type="title"/>
          </p:nvPr>
        </p:nvSpPr>
        <p:spPr/>
        <p:txBody>
          <a:bodyPr>
            <a:normAutofit fontScale="90000"/>
          </a:bodyPr>
          <a:lstStyle/>
          <a:p>
            <a:pPr eaLnBrk="1" fontAlgn="auto" hangingPunct="1">
              <a:spcAft>
                <a:spcPts val="0"/>
              </a:spcAft>
              <a:defRPr/>
            </a:pPr>
            <a:r>
              <a:rPr lang="en-US" b="1" dirty="0" smtClean="0">
                <a:solidFill>
                  <a:srgbClr val="C00000"/>
                </a:solidFill>
                <a:latin typeface="Times New Roman" pitchFamily="18" charset="0"/>
                <a:cs typeface="Times New Roman" pitchFamily="18" charset="0"/>
              </a:rPr>
              <a:t>C.3. Controls:</a:t>
            </a:r>
            <a:br>
              <a:rPr lang="en-US" b="1" dirty="0" smtClean="0">
                <a:solidFill>
                  <a:srgbClr val="C00000"/>
                </a:solidFill>
                <a:latin typeface="Times New Roman" pitchFamily="18" charset="0"/>
                <a:cs typeface="Times New Roman" pitchFamily="18" charset="0"/>
              </a:rPr>
            </a:br>
            <a:r>
              <a:rPr lang="en-US" b="1" dirty="0" smtClean="0">
                <a:solidFill>
                  <a:srgbClr val="C00000"/>
                </a:solidFill>
                <a:latin typeface="Times New Roman" pitchFamily="18" charset="0"/>
                <a:cs typeface="Times New Roman" pitchFamily="18" charset="0"/>
              </a:rPr>
              <a:t>Methods of Defense</a:t>
            </a:r>
            <a:endParaRPr lang="en-US" b="1" dirty="0">
              <a:solidFill>
                <a:srgbClr val="C00000"/>
              </a:solidFill>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83B01937-10A0-4FAE-B482-F7FC6E0BD41A}" type="slidenum">
              <a:rPr lang="ar-SA">
                <a:solidFill>
                  <a:srgbClr val="CBA523"/>
                </a:solidFill>
                <a:cs typeface="Arial" charset="0"/>
              </a:rPr>
              <a:pPr fontAlgn="base">
                <a:spcBef>
                  <a:spcPct val="0"/>
                </a:spcBef>
                <a:spcAft>
                  <a:spcPct val="0"/>
                </a:spcAft>
                <a:defRPr/>
              </a:pPr>
              <a:t>36</a:t>
            </a:fld>
            <a:endParaRPr lang="en-US">
              <a:solidFill>
                <a:srgbClr val="CBA523"/>
              </a:solidFill>
              <a:cs typeface="Arial" charset="0"/>
            </a:endParaRPr>
          </a:p>
        </p:txBody>
      </p:sp>
    </p:spTree>
    <p:extLst>
      <p:ext uri="{BB962C8B-B14F-4D97-AF65-F5344CB8AC3E}">
        <p14:creationId xmlns:p14="http://schemas.microsoft.com/office/powerpoint/2010/main" val="8715287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7"/>
          <p:cNvSpPr>
            <a:spLocks noGrp="1"/>
          </p:cNvSpPr>
          <p:nvPr>
            <p:ph type="title"/>
          </p:nvPr>
        </p:nvSpPr>
        <p:spPr/>
        <p:txBody>
          <a:bodyPr/>
          <a:lstStyle/>
          <a:p>
            <a:pPr eaLnBrk="1" hangingPunct="1"/>
            <a:r>
              <a:rPr lang="en-US" sz="3000" b="1" dirty="0" smtClean="0">
                <a:solidFill>
                  <a:srgbClr val="C00000"/>
                </a:solidFill>
                <a:latin typeface="Times New Roman" pitchFamily="18" charset="0"/>
                <a:cs typeface="Times New Roman" pitchFamily="18" charset="0"/>
              </a:rPr>
              <a:t>C.3. Controls:</a:t>
            </a:r>
            <a:br>
              <a:rPr lang="en-US" sz="3000" b="1" dirty="0" smtClean="0">
                <a:solidFill>
                  <a:srgbClr val="C00000"/>
                </a:solidFill>
                <a:latin typeface="Times New Roman" pitchFamily="18" charset="0"/>
                <a:cs typeface="Times New Roman" pitchFamily="18" charset="0"/>
              </a:rPr>
            </a:br>
            <a:r>
              <a:rPr lang="en-US" sz="3000" b="1" dirty="0" smtClean="0">
                <a:solidFill>
                  <a:srgbClr val="C00000"/>
                </a:solidFill>
                <a:latin typeface="Times New Roman" pitchFamily="18" charset="0"/>
                <a:cs typeface="Times New Roman" pitchFamily="18" charset="0"/>
              </a:rPr>
              <a:t>What makes a system secure?</a:t>
            </a:r>
          </a:p>
        </p:txBody>
      </p:sp>
      <p:sp>
        <p:nvSpPr>
          <p:cNvPr id="47107" name="Rectangle 3"/>
          <p:cNvSpPr>
            <a:spLocks noGrp="1" noChangeArrowheads="1"/>
          </p:cNvSpPr>
          <p:nvPr>
            <p:ph idx="1"/>
          </p:nvPr>
        </p:nvSpPr>
        <p:spPr/>
        <p:txBody>
          <a:bodyPr>
            <a:normAutofit fontScale="92500" lnSpcReduction="20000"/>
          </a:bodyPr>
          <a:lstStyle/>
          <a:p>
            <a:pPr marL="274320" indent="-274320" algn="just" rtl="0" eaLnBrk="1" fontAlgn="auto" hangingPunct="1">
              <a:spcAft>
                <a:spcPts val="0"/>
              </a:spcAft>
              <a:buNone/>
              <a:defRPr/>
            </a:pPr>
            <a:r>
              <a:rPr lang="en-US" u="sng" dirty="0" smtClean="0">
                <a:latin typeface="Times New Roman" pitchFamily="18" charset="0"/>
                <a:cs typeface="Times New Roman" pitchFamily="18" charset="0"/>
              </a:rPr>
              <a:t>1. System Access Control:</a:t>
            </a:r>
            <a:r>
              <a:rPr lang="en-US" dirty="0" smtClean="0">
                <a:latin typeface="Times New Roman" pitchFamily="18" charset="0"/>
                <a:cs typeface="Times New Roman" pitchFamily="18" charset="0"/>
              </a:rPr>
              <a:t> Ensuring that unauthorized users don’t get into the system.</a:t>
            </a:r>
          </a:p>
          <a:p>
            <a:pPr marL="274320" indent="-274320" algn="just" rtl="0" eaLnBrk="1" fontAlgn="auto" hangingPunct="1">
              <a:spcAft>
                <a:spcPts val="0"/>
              </a:spcAft>
              <a:buNone/>
              <a:defRPr/>
            </a:pPr>
            <a:r>
              <a:rPr lang="en-US" u="sng" dirty="0" smtClean="0">
                <a:latin typeface="Times New Roman" pitchFamily="18" charset="0"/>
                <a:cs typeface="Times New Roman" pitchFamily="18" charset="0"/>
              </a:rPr>
              <a:t>2. Data Access Controls:</a:t>
            </a:r>
            <a:r>
              <a:rPr lang="en-US" dirty="0" smtClean="0">
                <a:latin typeface="Times New Roman" pitchFamily="18" charset="0"/>
                <a:cs typeface="Times New Roman" pitchFamily="18" charset="0"/>
              </a:rPr>
              <a:t> Monitoring who can access what data, and for what purpose.</a:t>
            </a:r>
          </a:p>
          <a:p>
            <a:pPr marL="274320" indent="-274320" algn="just" rtl="0" eaLnBrk="1" fontAlgn="auto" hangingPunct="1">
              <a:spcAft>
                <a:spcPts val="0"/>
              </a:spcAft>
              <a:buNone/>
              <a:defRPr/>
            </a:pPr>
            <a:r>
              <a:rPr lang="en-US" u="sng" dirty="0" smtClean="0">
                <a:latin typeface="Times New Roman" pitchFamily="18" charset="0"/>
                <a:cs typeface="Times New Roman" pitchFamily="18" charset="0"/>
              </a:rPr>
              <a:t>3. System and Security Administration:</a:t>
            </a:r>
            <a:r>
              <a:rPr lang="en-US" dirty="0" smtClean="0">
                <a:latin typeface="Times New Roman" pitchFamily="18" charset="0"/>
                <a:cs typeface="Times New Roman" pitchFamily="18" charset="0"/>
              </a:rPr>
              <a:t> Performing the offline procedures that make or break a secure system </a:t>
            </a:r>
          </a:p>
          <a:p>
            <a:pPr marL="548640" lvl="1" indent="-274320" algn="just" rtl="0" eaLnBrk="1" fontAlgn="auto" hangingPunct="1">
              <a:spcAft>
                <a:spcPts val="0"/>
              </a:spcAft>
              <a:buNone/>
              <a:defRPr/>
            </a:pPr>
            <a:r>
              <a:rPr lang="en-US" dirty="0" smtClean="0">
                <a:latin typeface="Times New Roman" pitchFamily="18" charset="0"/>
                <a:cs typeface="Times New Roman" pitchFamily="18" charset="0"/>
              </a:rPr>
              <a:t>~ by clearly stated system administrator responsibilities,</a:t>
            </a:r>
          </a:p>
          <a:p>
            <a:pPr marL="548640" lvl="1" indent="-274320" algn="just" rtl="0" eaLnBrk="1" fontAlgn="auto" hangingPunct="1">
              <a:spcAft>
                <a:spcPts val="0"/>
              </a:spcAft>
              <a:buNone/>
              <a:defRPr/>
            </a:pPr>
            <a:r>
              <a:rPr lang="en-US" dirty="0" smtClean="0">
                <a:latin typeface="Times New Roman" pitchFamily="18" charset="0"/>
                <a:cs typeface="Times New Roman" pitchFamily="18" charset="0"/>
              </a:rPr>
              <a:t>~ by training users appropriately etc.</a:t>
            </a:r>
          </a:p>
          <a:p>
            <a:pPr marL="274320" indent="-274320" algn="just" rtl="0" eaLnBrk="1" fontAlgn="auto" hangingPunct="1">
              <a:spcAft>
                <a:spcPts val="0"/>
              </a:spcAft>
              <a:buNone/>
              <a:defRPr/>
            </a:pPr>
            <a:r>
              <a:rPr lang="en-US" u="sng" dirty="0" smtClean="0">
                <a:latin typeface="Times New Roman" pitchFamily="18" charset="0"/>
                <a:cs typeface="Times New Roman" pitchFamily="18" charset="0"/>
              </a:rPr>
              <a:t>4. System Design:</a:t>
            </a:r>
            <a:r>
              <a:rPr lang="en-US" dirty="0" smtClean="0">
                <a:latin typeface="Times New Roman" pitchFamily="18" charset="0"/>
                <a:cs typeface="Times New Roman" pitchFamily="18" charset="0"/>
              </a:rPr>
              <a:t> Taking advantage of basic h/w and s/w security characteristics.</a:t>
            </a:r>
            <a:endParaRPr lang="en-US" dirty="0">
              <a:latin typeface="Times New Roman" pitchFamily="18" charset="0"/>
              <a:cs typeface="Times New Roman" pitchFamily="18" charset="0"/>
            </a:endParaRPr>
          </a:p>
        </p:txBody>
      </p:sp>
      <p:sp>
        <p:nvSpPr>
          <p:cNvPr id="2" name="Slide Number Placeholder 1"/>
          <p:cNvSpPr>
            <a:spLocks noGrp="1"/>
          </p:cNvSpPr>
          <p:nvPr>
            <p:ph type="sldNum" sz="quarter" idx="12"/>
          </p:nvPr>
        </p:nvSpPr>
        <p:spPr/>
        <p:txBody>
          <a:bodyPr wrap="square" tIns="45720" bIns="45720" numCol="1" anchorCtr="0" compatLnSpc="1">
            <a:prstTxWarp prst="textNoShape">
              <a:avLst/>
            </a:prstTxWarp>
          </a:bodyPr>
          <a:lstStyle/>
          <a:p>
            <a:pPr fontAlgn="base">
              <a:spcBef>
                <a:spcPct val="0"/>
              </a:spcBef>
              <a:spcAft>
                <a:spcPct val="0"/>
              </a:spcAft>
              <a:defRPr/>
            </a:pPr>
            <a:fld id="{95C26CA9-8FCC-4475-9E3D-37269F800217}" type="slidenum">
              <a:rPr lang="ar-SA">
                <a:solidFill>
                  <a:srgbClr val="CBA523"/>
                </a:solidFill>
                <a:cs typeface="Arial" charset="0"/>
              </a:rPr>
              <a:pPr fontAlgn="base">
                <a:spcBef>
                  <a:spcPct val="0"/>
                </a:spcBef>
                <a:spcAft>
                  <a:spcPct val="0"/>
                </a:spcAft>
                <a:defRPr/>
              </a:pPr>
              <a:t>37</a:t>
            </a:fld>
            <a:endParaRPr lang="en-US">
              <a:solidFill>
                <a:srgbClr val="CBA523"/>
              </a:solidFill>
              <a:cs typeface="Arial" charset="0"/>
            </a:endParaRPr>
          </a:p>
        </p:txBody>
      </p:sp>
    </p:spTree>
    <p:extLst>
      <p:ext uri="{BB962C8B-B14F-4D97-AF65-F5344CB8AC3E}">
        <p14:creationId xmlns:p14="http://schemas.microsoft.com/office/powerpoint/2010/main" val="22118987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E45D8DF-781C-49CA-BCF0-348CDDBDD47B}" type="slidenum">
              <a:rPr lang="en-US" altLang="en-US"/>
              <a:pPr/>
              <a:t>38</a:t>
            </a:fld>
            <a:endParaRPr lang="en-US" altLang="en-US"/>
          </a:p>
        </p:txBody>
      </p:sp>
      <p:sp>
        <p:nvSpPr>
          <p:cNvPr id="358408" name="Rectangle 8"/>
          <p:cNvSpPr>
            <a:spLocks noGrp="1" noChangeArrowheads="1"/>
          </p:cNvSpPr>
          <p:nvPr>
            <p:ph type="title"/>
          </p:nvPr>
        </p:nvSpPr>
        <p:spPr/>
        <p:txBody>
          <a:bodyPr/>
          <a:lstStyle/>
          <a:p>
            <a:r>
              <a:rPr lang="en-US" altLang="en-US" sz="3600"/>
              <a:t>Approaches to Information Security Implementation: Bottom-Up Approach</a:t>
            </a:r>
          </a:p>
        </p:txBody>
      </p:sp>
      <p:sp>
        <p:nvSpPr>
          <p:cNvPr id="358409" name="Rectangle 9"/>
          <p:cNvSpPr>
            <a:spLocks noGrp="1" noChangeArrowheads="1"/>
          </p:cNvSpPr>
          <p:nvPr>
            <p:ph type="body" idx="1"/>
          </p:nvPr>
        </p:nvSpPr>
        <p:spPr>
          <a:xfrm>
            <a:off x="533400" y="1524000"/>
            <a:ext cx="8077200" cy="4800600"/>
          </a:xfrm>
        </p:spPr>
        <p:txBody>
          <a:bodyPr/>
          <a:lstStyle/>
          <a:p>
            <a:pPr>
              <a:spcBef>
                <a:spcPct val="100000"/>
              </a:spcBef>
            </a:pPr>
            <a:r>
              <a:rPr lang="en-US" altLang="en-US" sz="2800"/>
              <a:t>Grassroots effort: systems administrators attempt to improve security of their systems</a:t>
            </a:r>
          </a:p>
          <a:p>
            <a:pPr>
              <a:spcBef>
                <a:spcPct val="100000"/>
              </a:spcBef>
            </a:pPr>
            <a:r>
              <a:rPr lang="en-US" altLang="en-US" sz="2800"/>
              <a:t>Key advantage: technical expertise of individual administrators</a:t>
            </a:r>
          </a:p>
          <a:p>
            <a:pPr>
              <a:spcBef>
                <a:spcPct val="100000"/>
              </a:spcBef>
            </a:pPr>
            <a:r>
              <a:rPr lang="en-US" altLang="en-US" sz="2800"/>
              <a:t>Seldom works, as it lacks a number of critical features:</a:t>
            </a:r>
          </a:p>
          <a:p>
            <a:pPr lvl="1">
              <a:spcBef>
                <a:spcPct val="100000"/>
              </a:spcBef>
            </a:pPr>
            <a:r>
              <a:rPr lang="en-US" altLang="en-US" sz="2600"/>
              <a:t>Participant support </a:t>
            </a:r>
          </a:p>
          <a:p>
            <a:pPr lvl="1">
              <a:spcBef>
                <a:spcPct val="100000"/>
              </a:spcBef>
            </a:pPr>
            <a:r>
              <a:rPr lang="en-US" altLang="en-US" sz="2600"/>
              <a:t>Organizational staying power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15085CA-0D4C-4B3B-833C-FD7035640E7A}" type="slidenum">
              <a:rPr lang="en-US" altLang="en-US"/>
              <a:pPr/>
              <a:t>39</a:t>
            </a:fld>
            <a:endParaRPr lang="en-US" altLang="en-US"/>
          </a:p>
        </p:txBody>
      </p:sp>
      <p:pic>
        <p:nvPicPr>
          <p:cNvPr id="359472" name="Picture 4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6244" r="7500"/>
          <a:stretch>
            <a:fillRect/>
          </a:stretch>
        </p:blipFill>
        <p:spPr>
          <a:xfrm>
            <a:off x="990600" y="914400"/>
            <a:ext cx="7239000" cy="4383088"/>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24DDBAE-336F-4DF9-97EC-9A45B365E1C3}" type="slidenum">
              <a:rPr lang="en-US" altLang="en-US"/>
              <a:pPr/>
              <a:t>40</a:t>
            </a:fld>
            <a:endParaRPr lang="en-US" altLang="en-US"/>
          </a:p>
        </p:txBody>
      </p:sp>
      <p:sp>
        <p:nvSpPr>
          <p:cNvPr id="360456" name="Rectangle 8"/>
          <p:cNvSpPr>
            <a:spLocks noGrp="1" noChangeArrowheads="1"/>
          </p:cNvSpPr>
          <p:nvPr>
            <p:ph type="title"/>
          </p:nvPr>
        </p:nvSpPr>
        <p:spPr/>
        <p:txBody>
          <a:bodyPr/>
          <a:lstStyle/>
          <a:p>
            <a:r>
              <a:rPr lang="en-US" altLang="en-US" sz="3600"/>
              <a:t>Approaches to Information Security Implementation: Top-Down Approach</a:t>
            </a:r>
          </a:p>
        </p:txBody>
      </p:sp>
      <p:sp>
        <p:nvSpPr>
          <p:cNvPr id="360457" name="Rectangle 9"/>
          <p:cNvSpPr>
            <a:spLocks noGrp="1" noChangeArrowheads="1"/>
          </p:cNvSpPr>
          <p:nvPr>
            <p:ph type="body" idx="1"/>
          </p:nvPr>
        </p:nvSpPr>
        <p:spPr>
          <a:xfrm>
            <a:off x="609600" y="1752600"/>
            <a:ext cx="8001000" cy="4572000"/>
          </a:xfrm>
        </p:spPr>
        <p:txBody>
          <a:bodyPr/>
          <a:lstStyle/>
          <a:p>
            <a:pPr>
              <a:spcBef>
                <a:spcPct val="100000"/>
              </a:spcBef>
            </a:pPr>
            <a:r>
              <a:rPr lang="en-US" altLang="en-US" sz="2800"/>
              <a:t>Initiated by upper management</a:t>
            </a:r>
          </a:p>
          <a:p>
            <a:pPr lvl="1">
              <a:spcBef>
                <a:spcPct val="100000"/>
              </a:spcBef>
            </a:pPr>
            <a:r>
              <a:rPr lang="en-US" altLang="en-US" sz="2600"/>
              <a:t>Issue policy, procedures and processes</a:t>
            </a:r>
          </a:p>
          <a:p>
            <a:pPr lvl="1">
              <a:spcBef>
                <a:spcPct val="100000"/>
              </a:spcBef>
            </a:pPr>
            <a:r>
              <a:rPr lang="en-US" altLang="en-US" sz="2600"/>
              <a:t>Dictate goals and expected outcomes of project</a:t>
            </a:r>
          </a:p>
          <a:p>
            <a:pPr lvl="1">
              <a:spcBef>
                <a:spcPct val="100000"/>
              </a:spcBef>
            </a:pPr>
            <a:r>
              <a:rPr lang="en-US" altLang="en-US" sz="2600"/>
              <a:t>Determine accountability for each required action</a:t>
            </a:r>
          </a:p>
          <a:p>
            <a:pPr>
              <a:spcBef>
                <a:spcPct val="100000"/>
              </a:spcBef>
            </a:pPr>
            <a:r>
              <a:rPr lang="en-US" altLang="en-US" sz="2800"/>
              <a:t>The most successful also involve formal development strategy referred to as systems development life cycle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89F7DB3-D2F4-491B-8C8B-4B25C5834605}" type="slidenum">
              <a:rPr lang="en-US" altLang="en-US"/>
              <a:pPr/>
              <a:t>41</a:t>
            </a:fld>
            <a:endParaRPr lang="en-US" altLang="en-US"/>
          </a:p>
        </p:txBody>
      </p:sp>
      <p:sp>
        <p:nvSpPr>
          <p:cNvPr id="361480" name="Rectangle 8"/>
          <p:cNvSpPr>
            <a:spLocks noGrp="1" noChangeArrowheads="1"/>
          </p:cNvSpPr>
          <p:nvPr>
            <p:ph type="title"/>
          </p:nvPr>
        </p:nvSpPr>
        <p:spPr>
          <a:xfrm>
            <a:off x="685800" y="304800"/>
            <a:ext cx="8229600" cy="838200"/>
          </a:xfrm>
        </p:spPr>
        <p:txBody>
          <a:bodyPr/>
          <a:lstStyle/>
          <a:p>
            <a:r>
              <a:rPr lang="en-US" altLang="en-US" sz="3600"/>
              <a:t>The Systems Development Life Cycle</a:t>
            </a:r>
          </a:p>
        </p:txBody>
      </p:sp>
      <p:sp>
        <p:nvSpPr>
          <p:cNvPr id="361481" name="Rectangle 9"/>
          <p:cNvSpPr>
            <a:spLocks noGrp="1" noChangeArrowheads="1"/>
          </p:cNvSpPr>
          <p:nvPr>
            <p:ph type="body" idx="1"/>
          </p:nvPr>
        </p:nvSpPr>
        <p:spPr>
          <a:xfrm>
            <a:off x="609600" y="1295400"/>
            <a:ext cx="8229600" cy="5029200"/>
          </a:xfrm>
        </p:spPr>
        <p:txBody>
          <a:bodyPr/>
          <a:lstStyle/>
          <a:p>
            <a:pPr>
              <a:spcBef>
                <a:spcPct val="30000"/>
              </a:spcBef>
            </a:pPr>
            <a:r>
              <a:rPr lang="en-US" altLang="en-US" sz="2800"/>
              <a:t>Systems development life cycle (SDLC) is methodology and design for implementation of information security within an organization</a:t>
            </a:r>
          </a:p>
          <a:p>
            <a:pPr>
              <a:spcBef>
                <a:spcPct val="30000"/>
              </a:spcBef>
            </a:pPr>
            <a:r>
              <a:rPr lang="en-US" altLang="en-US" sz="2800"/>
              <a:t>Methodology is formal approach to problem-solving based on structured sequence of procedures</a:t>
            </a:r>
          </a:p>
          <a:p>
            <a:pPr>
              <a:spcBef>
                <a:spcPct val="30000"/>
              </a:spcBef>
            </a:pPr>
            <a:r>
              <a:rPr lang="en-US" altLang="en-US" sz="2800"/>
              <a:t>Using a methodology</a:t>
            </a:r>
          </a:p>
          <a:p>
            <a:pPr lvl="1">
              <a:spcBef>
                <a:spcPct val="30000"/>
              </a:spcBef>
            </a:pPr>
            <a:r>
              <a:rPr lang="en-US" altLang="en-US" sz="2600"/>
              <a:t>ensures a rigorous process</a:t>
            </a:r>
          </a:p>
          <a:p>
            <a:pPr lvl="1">
              <a:spcBef>
                <a:spcPct val="30000"/>
              </a:spcBef>
            </a:pPr>
            <a:r>
              <a:rPr lang="en-US" altLang="en-US" sz="2600"/>
              <a:t>avoids missing steps</a:t>
            </a:r>
          </a:p>
          <a:p>
            <a:pPr>
              <a:spcBef>
                <a:spcPct val="30000"/>
              </a:spcBef>
            </a:pPr>
            <a:r>
              <a:rPr lang="en-US" altLang="en-US" sz="2800"/>
              <a:t>Goal is creating a comprehensive security posture/program</a:t>
            </a:r>
          </a:p>
          <a:p>
            <a:pPr>
              <a:spcBef>
                <a:spcPct val="30000"/>
              </a:spcBef>
            </a:pPr>
            <a:r>
              <a:rPr lang="en-US" altLang="en-US" sz="2800"/>
              <a:t>Traditional SDLC consists of six general phases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FFF3E673-252D-45C0-AA94-5E9D8A35243A}" type="slidenum">
              <a:rPr lang="en-US" altLang="en-US"/>
              <a:pPr/>
              <a:t>42</a:t>
            </a:fld>
            <a:endParaRPr lang="en-US" altLang="en-US"/>
          </a:p>
        </p:txBody>
      </p:sp>
      <p:pic>
        <p:nvPicPr>
          <p:cNvPr id="364572" name="Picture 2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740" t="2689" r="1740"/>
          <a:stretch>
            <a:fillRect/>
          </a:stretch>
        </p:blipFill>
        <p:spPr>
          <a:xfrm>
            <a:off x="990600" y="620713"/>
            <a:ext cx="7391400" cy="4865687"/>
          </a:xfrm>
          <a:noFill/>
          <a:ln/>
          <a:extLst>
            <a:ext uri="{91240B29-F687-4F45-9708-019B960494DF}">
              <a14:hiddenLine xmlns:a14="http://schemas.microsoft.com/office/drawing/2010/main" w="12700" cap="sq" cmpd="sng">
                <a:solidFill>
                  <a:schemeClr val="tx1"/>
                </a:solidFill>
                <a:prstDash val="solid"/>
                <a:miter lim="800000"/>
                <a:headEnd type="none" w="sm" len="sm"/>
                <a:tailEnd type="none" w="sm" len="sm"/>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FEBE215-47F4-42B2-BBA0-056D0DCA5E0D}" type="slidenum">
              <a:rPr lang="en-US" altLang="en-US"/>
              <a:pPr/>
              <a:t>43</a:t>
            </a:fld>
            <a:endParaRPr lang="en-US" altLang="en-US"/>
          </a:p>
        </p:txBody>
      </p:sp>
      <p:sp>
        <p:nvSpPr>
          <p:cNvPr id="371720" name="Rectangle 8"/>
          <p:cNvSpPr>
            <a:spLocks noGrp="1" noChangeArrowheads="1"/>
          </p:cNvSpPr>
          <p:nvPr>
            <p:ph type="title"/>
          </p:nvPr>
        </p:nvSpPr>
        <p:spPr>
          <a:xfrm>
            <a:off x="685800" y="304800"/>
            <a:ext cx="8077200" cy="838200"/>
          </a:xfrm>
        </p:spPr>
        <p:txBody>
          <a:bodyPr/>
          <a:lstStyle/>
          <a:p>
            <a:r>
              <a:rPr lang="en-US" altLang="en-US" sz="3600"/>
              <a:t>The Security Systems Development Life Cycle</a:t>
            </a:r>
          </a:p>
        </p:txBody>
      </p:sp>
      <p:sp>
        <p:nvSpPr>
          <p:cNvPr id="371721" name="Rectangle 9"/>
          <p:cNvSpPr>
            <a:spLocks noGrp="1" noChangeArrowheads="1"/>
          </p:cNvSpPr>
          <p:nvPr>
            <p:ph type="body" idx="1"/>
          </p:nvPr>
        </p:nvSpPr>
        <p:spPr>
          <a:xfrm>
            <a:off x="685800" y="1524000"/>
            <a:ext cx="7924800" cy="4343400"/>
          </a:xfrm>
        </p:spPr>
        <p:txBody>
          <a:bodyPr/>
          <a:lstStyle/>
          <a:p>
            <a:pPr>
              <a:lnSpc>
                <a:spcPct val="90000"/>
              </a:lnSpc>
              <a:spcBef>
                <a:spcPct val="100000"/>
              </a:spcBef>
            </a:pPr>
            <a:r>
              <a:rPr lang="en-US" altLang="en-US" sz="2800"/>
              <a:t>The same phases used in traditional SDLC may be adapted to support specialized implementation of an IS project</a:t>
            </a:r>
          </a:p>
          <a:p>
            <a:pPr>
              <a:lnSpc>
                <a:spcPct val="90000"/>
              </a:lnSpc>
              <a:spcBef>
                <a:spcPct val="100000"/>
              </a:spcBef>
            </a:pPr>
            <a:r>
              <a:rPr lang="en-US" altLang="en-US" sz="2800"/>
              <a:t>Identification of specific threats and creating controls to counter them</a:t>
            </a:r>
          </a:p>
          <a:p>
            <a:pPr>
              <a:lnSpc>
                <a:spcPct val="90000"/>
              </a:lnSpc>
              <a:spcBef>
                <a:spcPct val="100000"/>
              </a:spcBef>
            </a:pPr>
            <a:r>
              <a:rPr lang="en-US" altLang="en-US" sz="2800"/>
              <a:t>SecSDLC is a coherent program rather than a series of random, seemingly unconnected actions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A4097AE-A01F-4902-A449-7DDCE2C52C47}" type="slidenum">
              <a:rPr lang="en-US" altLang="en-US"/>
              <a:pPr/>
              <a:t>44</a:t>
            </a:fld>
            <a:endParaRPr lang="en-US" altLang="en-US"/>
          </a:p>
        </p:txBody>
      </p:sp>
      <p:sp>
        <p:nvSpPr>
          <p:cNvPr id="372744" name="Rectangle 8"/>
          <p:cNvSpPr>
            <a:spLocks noGrp="1" noChangeArrowheads="1"/>
          </p:cNvSpPr>
          <p:nvPr>
            <p:ph type="title"/>
          </p:nvPr>
        </p:nvSpPr>
        <p:spPr>
          <a:xfrm>
            <a:off x="685800" y="304800"/>
            <a:ext cx="8001000" cy="838200"/>
          </a:xfrm>
        </p:spPr>
        <p:txBody>
          <a:bodyPr/>
          <a:lstStyle/>
          <a:p>
            <a:r>
              <a:rPr lang="en-US" altLang="en-US" sz="3600"/>
              <a:t>The Security Systems Development Life Cycle</a:t>
            </a:r>
          </a:p>
        </p:txBody>
      </p:sp>
      <p:sp>
        <p:nvSpPr>
          <p:cNvPr id="372745" name="Rectangle 9"/>
          <p:cNvSpPr>
            <a:spLocks noGrp="1" noChangeArrowheads="1"/>
          </p:cNvSpPr>
          <p:nvPr>
            <p:ph type="body" idx="1"/>
          </p:nvPr>
        </p:nvSpPr>
        <p:spPr>
          <a:xfrm>
            <a:off x="685800" y="1524000"/>
            <a:ext cx="7924800" cy="4800600"/>
          </a:xfrm>
        </p:spPr>
        <p:txBody>
          <a:bodyPr/>
          <a:lstStyle/>
          <a:p>
            <a:pPr>
              <a:lnSpc>
                <a:spcPct val="90000"/>
              </a:lnSpc>
              <a:spcBef>
                <a:spcPct val="100000"/>
              </a:spcBef>
            </a:pPr>
            <a:r>
              <a:rPr lang="en-US" altLang="en-US" sz="2800"/>
              <a:t>Investigation</a:t>
            </a:r>
          </a:p>
          <a:p>
            <a:pPr lvl="1">
              <a:lnSpc>
                <a:spcPct val="90000"/>
              </a:lnSpc>
              <a:spcBef>
                <a:spcPct val="100000"/>
              </a:spcBef>
            </a:pPr>
            <a:r>
              <a:rPr lang="en-US" altLang="en-US" sz="2400"/>
              <a:t>Identifies process, outcomes, goals, and constraints of the project</a:t>
            </a:r>
          </a:p>
          <a:p>
            <a:pPr lvl="1">
              <a:lnSpc>
                <a:spcPct val="90000"/>
              </a:lnSpc>
              <a:spcBef>
                <a:spcPct val="100000"/>
              </a:spcBef>
            </a:pPr>
            <a:r>
              <a:rPr lang="en-US" altLang="en-US" sz="2400"/>
              <a:t>Begins with enterprise information security policy</a:t>
            </a:r>
          </a:p>
          <a:p>
            <a:pPr>
              <a:lnSpc>
                <a:spcPct val="90000"/>
              </a:lnSpc>
              <a:spcBef>
                <a:spcPct val="100000"/>
              </a:spcBef>
            </a:pPr>
            <a:r>
              <a:rPr lang="en-US" altLang="en-US" sz="2400"/>
              <a:t>Analysis</a:t>
            </a:r>
          </a:p>
          <a:p>
            <a:pPr lvl="1">
              <a:lnSpc>
                <a:spcPct val="90000"/>
              </a:lnSpc>
              <a:spcBef>
                <a:spcPct val="100000"/>
              </a:spcBef>
            </a:pPr>
            <a:r>
              <a:rPr lang="en-US" altLang="en-US" sz="2400"/>
              <a:t>Existing security policies, legal issues, </a:t>
            </a:r>
          </a:p>
          <a:p>
            <a:pPr lvl="1">
              <a:lnSpc>
                <a:spcPct val="90000"/>
              </a:lnSpc>
              <a:spcBef>
                <a:spcPct val="100000"/>
              </a:spcBef>
            </a:pPr>
            <a:r>
              <a:rPr lang="en-US" altLang="en-US" sz="2400"/>
              <a:t>Perform risk analysis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CC7FE26E-66BC-4B6D-8B6C-E36F86D9A7BB}" type="slidenum">
              <a:rPr lang="en-US" altLang="en-US"/>
              <a:pPr/>
              <a:t>45</a:t>
            </a:fld>
            <a:endParaRPr lang="en-US" altLang="en-US"/>
          </a:p>
        </p:txBody>
      </p:sp>
      <p:sp>
        <p:nvSpPr>
          <p:cNvPr id="374792" name="Rectangle 8"/>
          <p:cNvSpPr>
            <a:spLocks noGrp="1" noChangeArrowheads="1"/>
          </p:cNvSpPr>
          <p:nvPr>
            <p:ph type="title"/>
          </p:nvPr>
        </p:nvSpPr>
        <p:spPr>
          <a:xfrm>
            <a:off x="685800" y="304800"/>
            <a:ext cx="8153400" cy="838200"/>
          </a:xfrm>
        </p:spPr>
        <p:txBody>
          <a:bodyPr/>
          <a:lstStyle/>
          <a:p>
            <a:r>
              <a:rPr lang="en-US" altLang="en-US" sz="3600"/>
              <a:t>The Security Systems Development Life Cycle</a:t>
            </a:r>
          </a:p>
        </p:txBody>
      </p:sp>
      <p:sp>
        <p:nvSpPr>
          <p:cNvPr id="374793" name="Rectangle 9"/>
          <p:cNvSpPr>
            <a:spLocks noGrp="1" noChangeArrowheads="1"/>
          </p:cNvSpPr>
          <p:nvPr>
            <p:ph type="body" idx="1"/>
          </p:nvPr>
        </p:nvSpPr>
        <p:spPr>
          <a:xfrm>
            <a:off x="685800" y="1524000"/>
            <a:ext cx="7924800" cy="4800600"/>
          </a:xfrm>
        </p:spPr>
        <p:txBody>
          <a:bodyPr/>
          <a:lstStyle/>
          <a:p>
            <a:pPr>
              <a:lnSpc>
                <a:spcPct val="80000"/>
              </a:lnSpc>
              <a:spcBef>
                <a:spcPct val="100000"/>
              </a:spcBef>
            </a:pPr>
            <a:r>
              <a:rPr lang="en-US" altLang="en-US" sz="2800"/>
              <a:t>Logical Design</a:t>
            </a:r>
            <a:r>
              <a:rPr lang="en-US" altLang="en-US" sz="2400"/>
              <a:t> </a:t>
            </a:r>
          </a:p>
          <a:p>
            <a:pPr lvl="1">
              <a:lnSpc>
                <a:spcPct val="80000"/>
              </a:lnSpc>
              <a:spcBef>
                <a:spcPct val="100000"/>
              </a:spcBef>
            </a:pPr>
            <a:r>
              <a:rPr lang="en-US" altLang="en-US" sz="2400"/>
              <a:t>Creates and develops blueprints for information security</a:t>
            </a:r>
          </a:p>
          <a:p>
            <a:pPr lvl="1">
              <a:lnSpc>
                <a:spcPct val="80000"/>
              </a:lnSpc>
              <a:spcBef>
                <a:spcPct val="100000"/>
              </a:spcBef>
            </a:pPr>
            <a:r>
              <a:rPr lang="en-US" altLang="en-US" sz="2400"/>
              <a:t>Incident response actions: </a:t>
            </a:r>
            <a:r>
              <a:rPr lang="en-US" altLang="en-US" sz="2600"/>
              <a:t>Continuity planning, Incident response, Disaster recovery</a:t>
            </a:r>
          </a:p>
          <a:p>
            <a:pPr lvl="1">
              <a:lnSpc>
                <a:spcPct val="80000"/>
              </a:lnSpc>
              <a:spcBef>
                <a:spcPct val="100000"/>
              </a:spcBef>
            </a:pPr>
            <a:r>
              <a:rPr lang="en-US" altLang="en-US" sz="2400"/>
              <a:t>Feasibility analysis to determine whether project should continue or be outsourced</a:t>
            </a:r>
          </a:p>
          <a:p>
            <a:pPr>
              <a:lnSpc>
                <a:spcPct val="80000"/>
              </a:lnSpc>
              <a:spcBef>
                <a:spcPct val="100000"/>
              </a:spcBef>
            </a:pPr>
            <a:r>
              <a:rPr lang="en-US" altLang="en-US" sz="2800"/>
              <a:t>Physical Design</a:t>
            </a:r>
          </a:p>
          <a:p>
            <a:pPr lvl="1">
              <a:lnSpc>
                <a:spcPct val="80000"/>
              </a:lnSpc>
              <a:spcBef>
                <a:spcPct val="100000"/>
              </a:spcBef>
            </a:pPr>
            <a:r>
              <a:rPr lang="en-US" altLang="en-US" sz="2400"/>
              <a:t>Needed security technology is evaluated, alternatives generated, and final design selected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2535BB5-59EB-45E8-AA89-5C70C9F1C502}" type="slidenum">
              <a:rPr lang="en-US" altLang="en-US"/>
              <a:pPr/>
              <a:t>46</a:t>
            </a:fld>
            <a:endParaRPr lang="en-US" altLang="en-US"/>
          </a:p>
        </p:txBody>
      </p:sp>
      <p:sp>
        <p:nvSpPr>
          <p:cNvPr id="376840" name="Rectangle 8"/>
          <p:cNvSpPr>
            <a:spLocks noGrp="1" noChangeArrowheads="1"/>
          </p:cNvSpPr>
          <p:nvPr>
            <p:ph type="title"/>
          </p:nvPr>
        </p:nvSpPr>
        <p:spPr>
          <a:xfrm>
            <a:off x="762000" y="304800"/>
            <a:ext cx="7924800" cy="838200"/>
          </a:xfrm>
        </p:spPr>
        <p:txBody>
          <a:bodyPr/>
          <a:lstStyle/>
          <a:p>
            <a:r>
              <a:rPr lang="en-US" altLang="en-US" sz="3600"/>
              <a:t>The Security Systems Development Life Cycle</a:t>
            </a:r>
          </a:p>
        </p:txBody>
      </p:sp>
      <p:sp>
        <p:nvSpPr>
          <p:cNvPr id="376841" name="Rectangle 9"/>
          <p:cNvSpPr>
            <a:spLocks noGrp="1" noChangeArrowheads="1"/>
          </p:cNvSpPr>
          <p:nvPr>
            <p:ph type="body" idx="1"/>
          </p:nvPr>
        </p:nvSpPr>
        <p:spPr>
          <a:xfrm>
            <a:off x="609600" y="1219200"/>
            <a:ext cx="8001000" cy="5105400"/>
          </a:xfrm>
        </p:spPr>
        <p:txBody>
          <a:bodyPr/>
          <a:lstStyle/>
          <a:p>
            <a:pPr>
              <a:lnSpc>
                <a:spcPct val="80000"/>
              </a:lnSpc>
              <a:spcBef>
                <a:spcPct val="100000"/>
              </a:spcBef>
            </a:pPr>
            <a:r>
              <a:rPr lang="en-US" altLang="en-US" sz="2400"/>
              <a:t>Implementation</a:t>
            </a:r>
            <a:endParaRPr lang="en-US" altLang="en-US" sz="2800"/>
          </a:p>
          <a:p>
            <a:pPr lvl="1">
              <a:lnSpc>
                <a:spcPct val="80000"/>
              </a:lnSpc>
              <a:spcBef>
                <a:spcPct val="55000"/>
              </a:spcBef>
            </a:pPr>
            <a:r>
              <a:rPr lang="en-US" altLang="en-US" sz="2400"/>
              <a:t>Security solutions are acquired, tested, implemented, and tested again</a:t>
            </a:r>
          </a:p>
          <a:p>
            <a:pPr lvl="1">
              <a:lnSpc>
                <a:spcPct val="80000"/>
              </a:lnSpc>
              <a:spcBef>
                <a:spcPct val="55000"/>
              </a:spcBef>
            </a:pPr>
            <a:r>
              <a:rPr lang="en-US" altLang="en-US" sz="2400"/>
              <a:t>Personnel issues evaluated; specific training and education programs conducted</a:t>
            </a:r>
          </a:p>
          <a:p>
            <a:pPr lvl="1">
              <a:lnSpc>
                <a:spcPct val="80000"/>
              </a:lnSpc>
              <a:spcBef>
                <a:spcPct val="55000"/>
              </a:spcBef>
            </a:pPr>
            <a:r>
              <a:rPr lang="en-US" altLang="en-US" sz="2400"/>
              <a:t>Entire tested package is presented to management for final approval</a:t>
            </a:r>
          </a:p>
          <a:p>
            <a:pPr>
              <a:lnSpc>
                <a:spcPct val="80000"/>
              </a:lnSpc>
              <a:spcBef>
                <a:spcPct val="100000"/>
              </a:spcBef>
            </a:pPr>
            <a:r>
              <a:rPr lang="en-US" altLang="en-US" sz="2400"/>
              <a:t>Maintenance and Change</a:t>
            </a:r>
          </a:p>
          <a:p>
            <a:pPr lvl="1">
              <a:lnSpc>
                <a:spcPct val="80000"/>
              </a:lnSpc>
            </a:pPr>
            <a:r>
              <a:rPr lang="en-US" altLang="en-US" sz="2400"/>
              <a:t>Most important</a:t>
            </a:r>
          </a:p>
          <a:p>
            <a:pPr lvl="1">
              <a:lnSpc>
                <a:spcPct val="80000"/>
              </a:lnSpc>
            </a:pPr>
            <a:r>
              <a:rPr lang="en-US" altLang="en-US" sz="2400"/>
              <a:t>Constant changing threats</a:t>
            </a:r>
          </a:p>
          <a:p>
            <a:pPr lvl="1">
              <a:lnSpc>
                <a:spcPct val="80000"/>
              </a:lnSpc>
            </a:pPr>
            <a:r>
              <a:rPr lang="en-US" altLang="en-US" sz="2400"/>
              <a:t>Constant monitoring, testing updating and implementing change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AB60604-92D7-426F-8DEA-D5BB282BCF27}" type="slidenum">
              <a:rPr lang="en-US" altLang="en-US"/>
              <a:pPr/>
              <a:t>47</a:t>
            </a:fld>
            <a:endParaRPr lang="en-US" altLang="en-US"/>
          </a:p>
        </p:txBody>
      </p:sp>
      <p:sp>
        <p:nvSpPr>
          <p:cNvPr id="494598" name="Rectangle 6"/>
          <p:cNvSpPr>
            <a:spLocks noGrp="1" noChangeArrowheads="1"/>
          </p:cNvSpPr>
          <p:nvPr>
            <p:ph type="title"/>
          </p:nvPr>
        </p:nvSpPr>
        <p:spPr/>
        <p:txBody>
          <a:bodyPr/>
          <a:lstStyle/>
          <a:p>
            <a:r>
              <a:rPr lang="en-US" altLang="en-US" sz="3600"/>
              <a:t>Summary</a:t>
            </a:r>
          </a:p>
        </p:txBody>
      </p:sp>
      <p:sp>
        <p:nvSpPr>
          <p:cNvPr id="494599" name="Rectangle 7"/>
          <p:cNvSpPr>
            <a:spLocks noGrp="1" noChangeArrowheads="1"/>
          </p:cNvSpPr>
          <p:nvPr>
            <p:ph type="body" idx="1"/>
          </p:nvPr>
        </p:nvSpPr>
        <p:spPr>
          <a:xfrm>
            <a:off x="685800" y="1524000"/>
            <a:ext cx="7924800" cy="4800600"/>
          </a:xfrm>
        </p:spPr>
        <p:txBody>
          <a:bodyPr/>
          <a:lstStyle/>
          <a:p>
            <a:pPr>
              <a:lnSpc>
                <a:spcPct val="90000"/>
              </a:lnSpc>
              <a:spcBef>
                <a:spcPct val="100000"/>
              </a:spcBef>
            </a:pPr>
            <a:r>
              <a:rPr lang="en-US" altLang="en-US" sz="2800"/>
              <a:t>Information security is a “well-informed sense of assurance that the information risks and controls are in balance.”</a:t>
            </a:r>
          </a:p>
          <a:p>
            <a:pPr>
              <a:lnSpc>
                <a:spcPct val="90000"/>
              </a:lnSpc>
              <a:spcBef>
                <a:spcPct val="100000"/>
              </a:spcBef>
            </a:pPr>
            <a:r>
              <a:rPr lang="en-US" altLang="en-US" sz="2800"/>
              <a:t>Computer security began immediately after first mainframes were developed </a:t>
            </a:r>
          </a:p>
          <a:p>
            <a:pPr>
              <a:lnSpc>
                <a:spcPct val="90000"/>
              </a:lnSpc>
              <a:spcBef>
                <a:spcPct val="100000"/>
              </a:spcBef>
            </a:pPr>
            <a:r>
              <a:rPr lang="en-US" altLang="en-US" sz="2800"/>
              <a:t>Successful organizations have multiple layers of security in place: physical, personal, operations, communications, network, and information.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1470025"/>
          </a:xfrm>
        </p:spPr>
        <p:txBody>
          <a:bodyPr/>
          <a:lstStyle/>
          <a:p>
            <a:r>
              <a:rPr lang="en-US" b="1" dirty="0" smtClean="0">
                <a:solidFill>
                  <a:srgbClr val="C00000"/>
                </a:solidFill>
                <a:latin typeface="Times New Roman" pitchFamily="18" charset="0"/>
                <a:cs typeface="Times New Roman" pitchFamily="18" charset="0"/>
              </a:rPr>
              <a:t>QUIZ 1</a:t>
            </a:r>
            <a:endParaRPr lang="ar-SA" dirty="0"/>
          </a:p>
        </p:txBody>
      </p:sp>
      <p:sp>
        <p:nvSpPr>
          <p:cNvPr id="3" name="Subtitle 2"/>
          <p:cNvSpPr>
            <a:spLocks noGrp="1"/>
          </p:cNvSpPr>
          <p:nvPr>
            <p:ph type="subTitle" idx="1"/>
          </p:nvPr>
        </p:nvSpPr>
        <p:spPr>
          <a:xfrm>
            <a:off x="609600" y="1676400"/>
            <a:ext cx="8305800" cy="2209800"/>
          </a:xfrm>
        </p:spPr>
        <p:txBody>
          <a:bodyPr>
            <a:normAutofit/>
          </a:bodyPr>
          <a:lstStyle/>
          <a:p>
            <a:pPr algn="l" rtl="0"/>
            <a:r>
              <a:rPr lang="en-US" dirty="0" smtClean="0">
                <a:latin typeface="Times New Roman" pitchFamily="18" charset="0"/>
                <a:cs typeface="Times New Roman" pitchFamily="18" charset="0"/>
              </a:rPr>
              <a:t>1. Define Threats, Vulnerabilities, Controls</a:t>
            </a:r>
          </a:p>
          <a:p>
            <a:pPr algn="l" rtl="0"/>
            <a:r>
              <a:rPr lang="en-US" dirty="0" smtClean="0">
                <a:latin typeface="Times New Roman" pitchFamily="18" charset="0"/>
                <a:cs typeface="Times New Roman" pitchFamily="18" charset="0"/>
              </a:rPr>
              <a:t>2. What are the types of Threats?</a:t>
            </a:r>
          </a:p>
          <a:p>
            <a:pPr algn="l" rtl="0"/>
            <a:r>
              <a:rPr lang="en-US" dirty="0" smtClean="0">
                <a:latin typeface="Times New Roman" pitchFamily="18" charset="0"/>
                <a:cs typeface="Times New Roman" pitchFamily="18" charset="0"/>
              </a:rPr>
              <a:t>3. What are the methods of defense from Threats</a:t>
            </a:r>
          </a:p>
          <a:p>
            <a:pPr algn="l" rtl="0"/>
            <a:endParaRPr lang="ar-SA" dirty="0"/>
          </a:p>
        </p:txBody>
      </p:sp>
      <p:sp>
        <p:nvSpPr>
          <p:cNvPr id="4" name="Slide Number Placeholder 3"/>
          <p:cNvSpPr>
            <a:spLocks noGrp="1"/>
          </p:cNvSpPr>
          <p:nvPr>
            <p:ph type="sldNum" sz="quarter" idx="4294967295"/>
          </p:nvPr>
        </p:nvSpPr>
        <p:spPr>
          <a:xfrm>
            <a:off x="457200" y="6356350"/>
            <a:ext cx="2133600" cy="365125"/>
          </a:xfrm>
          <a:prstGeom prst="rect">
            <a:avLst/>
          </a:prstGeom>
        </p:spPr>
        <p:txBody>
          <a:bodyPr/>
          <a:lstStyle/>
          <a:p>
            <a:pPr>
              <a:defRPr/>
            </a:pPr>
            <a:fld id="{F05382A0-6664-4257-A990-86B730029989}" type="slidenum">
              <a:rPr lang="en-US" smtClean="0"/>
              <a:pPr>
                <a:defRPr/>
              </a:pPr>
              <a:t>48</a:t>
            </a:fld>
            <a:endParaRPr lang="en-US" dirty="0"/>
          </a:p>
        </p:txBody>
      </p:sp>
    </p:spTree>
    <p:extLst>
      <p:ext uri="{BB962C8B-B14F-4D97-AF65-F5344CB8AC3E}">
        <p14:creationId xmlns:p14="http://schemas.microsoft.com/office/powerpoint/2010/main" val="3372682420"/>
      </p:ext>
    </p:extLst>
  </p:cSld>
  <p:clrMapOvr>
    <a:masterClrMapping/>
  </p:clrMapOvr>
</p:sld>
</file>

<file path=ppt/theme/theme1.xml><?xml version="1.0" encoding="utf-8"?>
<a:theme xmlns:a="http://schemas.openxmlformats.org/drawingml/2006/main" name="ch01 3.ppt">
  <a:themeElements>
    <a:clrScheme name="ch01 3.ppt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fontScheme name="ch01 3.ppt">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h01 3.ppt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ch01 3.ppt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ch01 3.ppt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ch01 3.ppt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ch01 3.ppt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ch01 3.ppt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Harris:Desktop Folder:ch01 3.ppt</Template>
  <TotalTime>313</TotalTime>
  <Words>2757</Words>
  <Application>Microsoft Office PowerPoint</Application>
  <PresentationFormat>On-screen Show (4:3)</PresentationFormat>
  <Paragraphs>380</Paragraphs>
  <Slides>48</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宋体</vt:lpstr>
      <vt:lpstr>38</vt:lpstr>
      <vt:lpstr>Arial</vt:lpstr>
      <vt:lpstr>Arial Narrow</vt:lpstr>
      <vt:lpstr>Georgia</vt:lpstr>
      <vt:lpstr>Roboto Slab</vt:lpstr>
      <vt:lpstr>Tahoma</vt:lpstr>
      <vt:lpstr>Times New Roman</vt:lpstr>
      <vt:lpstr>Wingdings</vt:lpstr>
      <vt:lpstr>Wingdings 2</vt:lpstr>
      <vt:lpstr>ch01 3.ppt</vt:lpstr>
      <vt:lpstr>INFT 413: ADVANCED INFORMATION SECURITY</vt:lpstr>
      <vt:lpstr>Lecture One </vt:lpstr>
      <vt:lpstr>Security</vt:lpstr>
      <vt:lpstr>Security</vt:lpstr>
      <vt:lpstr>Security</vt:lpstr>
      <vt:lpstr>Information Security</vt:lpstr>
      <vt:lpstr>Information Security</vt:lpstr>
      <vt:lpstr>What is Information Security?</vt:lpstr>
      <vt:lpstr>PowerPoint Presentation</vt:lpstr>
      <vt:lpstr>The confidentiality, integrity, and availability triad </vt:lpstr>
      <vt:lpstr>When is any System Secure?</vt:lpstr>
      <vt:lpstr>When is any System Secure</vt:lpstr>
      <vt:lpstr>Confidentiality</vt:lpstr>
      <vt:lpstr>Integrity</vt:lpstr>
      <vt:lpstr>Availability</vt:lpstr>
      <vt:lpstr>Availability</vt:lpstr>
      <vt:lpstr>Relationship of Security Goals</vt:lpstr>
      <vt:lpstr>Critical Characteristics of Information</vt:lpstr>
      <vt:lpstr>Critical Characteristics of Information</vt:lpstr>
      <vt:lpstr>Components of an Information System</vt:lpstr>
      <vt:lpstr>Components of an Information System</vt:lpstr>
      <vt:lpstr>Threats, Vulnerabilities and Controls</vt:lpstr>
      <vt:lpstr>Threats, Vulnerabilities and Controls</vt:lpstr>
      <vt:lpstr>Threats</vt:lpstr>
      <vt:lpstr>Threats: Types</vt:lpstr>
      <vt:lpstr>Threats: Types</vt:lpstr>
      <vt:lpstr>Threats: Types</vt:lpstr>
      <vt:lpstr>Threats: Types</vt:lpstr>
      <vt:lpstr>Threats:  Examples</vt:lpstr>
      <vt:lpstr>Vulnerabilities</vt:lpstr>
      <vt:lpstr>C.2. Vulnerabilities:  Example 1: Building</vt:lpstr>
      <vt:lpstr>C.2. Vulnerabilities:  Example 2: Within the Office</vt:lpstr>
      <vt:lpstr>C.2. Vulnerabilities:  Example 3: Computer System</vt:lpstr>
      <vt:lpstr>C.2. Vulnerabilities:  Example 4: Software</vt:lpstr>
      <vt:lpstr>Controls</vt:lpstr>
      <vt:lpstr>C.3. Controls: Methods of Defense</vt:lpstr>
      <vt:lpstr>C.3. Controls: What makes a system secure?</vt:lpstr>
      <vt:lpstr>Approaches to Information Security Implementation: Bottom-Up Approach</vt:lpstr>
      <vt:lpstr>PowerPoint Presentation</vt:lpstr>
      <vt:lpstr>Approaches to Information Security Implementation: Top-Down Approach</vt:lpstr>
      <vt:lpstr>The Systems Development Life Cycle</vt:lpstr>
      <vt:lpstr>PowerPoint Presentation</vt:lpstr>
      <vt:lpstr>The Security Systems Development Life Cycle</vt:lpstr>
      <vt:lpstr>The Security Systems Development Life Cycle</vt:lpstr>
      <vt:lpstr>The Security Systems Development Life Cycle</vt:lpstr>
      <vt:lpstr>The Security Systems Development Life Cycle</vt:lpstr>
      <vt:lpstr>Summary</vt:lpstr>
      <vt:lpstr>QUIZ 1</vt:lpstr>
    </vt:vector>
  </TitlesOfParts>
  <Company>Argosy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Scott Harris</dc:creator>
  <cp:lastModifiedBy>Microsoft account</cp:lastModifiedBy>
  <cp:revision>112</cp:revision>
  <dcterms:created xsi:type="dcterms:W3CDTF">2004-11-16T16:24:31Z</dcterms:created>
  <dcterms:modified xsi:type="dcterms:W3CDTF">2023-02-10T18:01:36Z</dcterms:modified>
</cp:coreProperties>
</file>