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sldIdLst>
    <p:sldId id="256" r:id="rId2"/>
    <p:sldId id="257" r:id="rId3"/>
    <p:sldId id="258" r:id="rId4"/>
    <p:sldId id="311" r:id="rId5"/>
    <p:sldId id="312" r:id="rId6"/>
    <p:sldId id="313" r:id="rId7"/>
    <p:sldId id="314" r:id="rId8"/>
    <p:sldId id="315"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49" r:id="rId42"/>
    <p:sldId id="350" r:id="rId43"/>
    <p:sldId id="351" r:id="rId44"/>
    <p:sldId id="352" r:id="rId45"/>
    <p:sldId id="353" r:id="rId46"/>
    <p:sldId id="354" r:id="rId47"/>
    <p:sldId id="355" r:id="rId48"/>
    <p:sldId id="356" r:id="rId49"/>
    <p:sldId id="357" r:id="rId50"/>
    <p:sldId id="358" r:id="rId51"/>
    <p:sldId id="359" r:id="rId52"/>
    <p:sldId id="360" r:id="rId53"/>
    <p:sldId id="361" r:id="rId54"/>
    <p:sldId id="362" r:id="rId55"/>
    <p:sldId id="363" r:id="rId56"/>
    <p:sldId id="316"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3" autoAdjust="0"/>
    <p:restoredTop sz="94660"/>
  </p:normalViewPr>
  <p:slideViewPr>
    <p:cSldViewPr snapToGrid="0">
      <p:cViewPr>
        <p:scale>
          <a:sx n="66" d="100"/>
          <a:sy n="66" d="100"/>
        </p:scale>
        <p:origin x="720"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E5503E-1846-4FE0-9074-74CAA1DB0B1F}" type="datetimeFigureOut">
              <a:rPr lang="en-US" smtClean="0"/>
              <a:t>2/15/2023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02D49C-F839-4304-B4C6-D66D215C04A4}" type="slidenum">
              <a:rPr lang="en-US" smtClean="0"/>
              <a:t>‹#›</a:t>
            </a:fld>
            <a:endParaRPr lang="en-US"/>
          </a:p>
        </p:txBody>
      </p:sp>
    </p:spTree>
    <p:extLst>
      <p:ext uri="{BB962C8B-B14F-4D97-AF65-F5344CB8AC3E}">
        <p14:creationId xmlns:p14="http://schemas.microsoft.com/office/powerpoint/2010/main" val="2974392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An important part of any organization’s approach to implementing security are the policies, procedures, standards, and guidelines that are established to detail what users and administrators should be doing to maintain the security of the systems and network. Collectively, these documents provide the guidance needed to determine how security will be implemented in the organization.</a:t>
            </a:r>
          </a:p>
        </p:txBody>
      </p:sp>
      <p:sp>
        <p:nvSpPr>
          <p:cNvPr id="22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Arial" panose="020B0604020202020204" pitchFamily="34" charset="0"/>
                <a:ea typeface="ＭＳ Ｐゴシック" panose="020B0600070205080204" pitchFamily="34" charset="-128"/>
              </a:defRPr>
            </a:lvl1pPr>
            <a:lvl2pPr marL="738188" indent="-284163" defTabSz="938213">
              <a:spcBef>
                <a:spcPct val="30000"/>
              </a:spcBef>
              <a:defRPr sz="1200">
                <a:solidFill>
                  <a:schemeClr val="tx1"/>
                </a:solidFill>
                <a:latin typeface="Arial" panose="020B0604020202020204" pitchFamily="34" charset="0"/>
                <a:ea typeface="ＭＳ Ｐゴシック" panose="020B0600070205080204" pitchFamily="34" charset="-128"/>
              </a:defRPr>
            </a:lvl2pPr>
            <a:lvl3pPr marL="1136650" indent="-227013" defTabSz="938213">
              <a:spcBef>
                <a:spcPct val="30000"/>
              </a:spcBef>
              <a:defRPr sz="1200">
                <a:solidFill>
                  <a:schemeClr val="tx1"/>
                </a:solidFill>
                <a:latin typeface="Arial" panose="020B0604020202020204" pitchFamily="34" charset="0"/>
                <a:ea typeface="ヒラギノ角ゴ Pro W3" pitchFamily="-112" charset="-128"/>
              </a:defRPr>
            </a:lvl3pPr>
            <a:lvl4pPr marL="1592263" indent="-227013" defTabSz="938213">
              <a:spcBef>
                <a:spcPct val="30000"/>
              </a:spcBef>
              <a:defRPr sz="1200">
                <a:solidFill>
                  <a:schemeClr val="tx1"/>
                </a:solidFill>
                <a:latin typeface="Arial" panose="020B0604020202020204" pitchFamily="34" charset="0"/>
                <a:ea typeface="ヒラギノ角ゴ Pro W3" pitchFamily="-112" charset="-128"/>
              </a:defRPr>
            </a:lvl4pPr>
            <a:lvl5pPr marL="2047875" indent="-227013" defTabSz="938213">
              <a:spcBef>
                <a:spcPct val="30000"/>
              </a:spcBef>
              <a:defRPr sz="1200">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9pPr>
          </a:lstStyle>
          <a:p>
            <a:pPr>
              <a:spcBef>
                <a:spcPct val="0"/>
              </a:spcBef>
            </a:pPr>
            <a:fld id="{B48FA7AC-336A-44AE-82AD-D7CD3C4DD2C5}" type="slidenum">
              <a:rPr lang="en-US" altLang="en-US" smtClean="0">
                <a:ea typeface="ヒラギノ角ゴ Pro W3" pitchFamily="-112" charset="-128"/>
              </a:rPr>
              <a:pPr>
                <a:spcBef>
                  <a:spcPct val="0"/>
                </a:spcBef>
              </a:pPr>
              <a:t>4</a:t>
            </a:fld>
            <a:endParaRPr lang="en-US" altLang="en-US" dirty="0">
              <a:ea typeface="ヒラギノ角ゴ Pro W3" pitchFamily="-112" charset="-128"/>
            </a:endParaRPr>
          </a:p>
        </p:txBody>
      </p:sp>
    </p:spTree>
    <p:extLst>
      <p:ext uri="{BB962C8B-B14F-4D97-AF65-F5344CB8AC3E}">
        <p14:creationId xmlns:p14="http://schemas.microsoft.com/office/powerpoint/2010/main" val="3031672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endParaRPr>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Arial" panose="020B0604020202020204" pitchFamily="34" charset="0"/>
                <a:ea typeface="ＭＳ Ｐゴシック" panose="020B0600070205080204" pitchFamily="34" charset="-128"/>
              </a:defRPr>
            </a:lvl1pPr>
            <a:lvl2pPr marL="738188" indent="-284163" defTabSz="938213">
              <a:spcBef>
                <a:spcPct val="30000"/>
              </a:spcBef>
              <a:defRPr sz="1200">
                <a:solidFill>
                  <a:schemeClr val="tx1"/>
                </a:solidFill>
                <a:latin typeface="Arial" panose="020B0604020202020204" pitchFamily="34" charset="0"/>
                <a:ea typeface="ＭＳ Ｐゴシック" panose="020B0600070205080204" pitchFamily="34" charset="-128"/>
              </a:defRPr>
            </a:lvl2pPr>
            <a:lvl3pPr marL="1136650" indent="-227013" defTabSz="938213">
              <a:spcBef>
                <a:spcPct val="30000"/>
              </a:spcBef>
              <a:defRPr sz="1200">
                <a:solidFill>
                  <a:schemeClr val="tx1"/>
                </a:solidFill>
                <a:latin typeface="Arial" panose="020B0604020202020204" pitchFamily="34" charset="0"/>
                <a:ea typeface="ヒラギノ角ゴ Pro W3" pitchFamily="-112" charset="-128"/>
              </a:defRPr>
            </a:lvl3pPr>
            <a:lvl4pPr marL="1592263" indent="-227013" defTabSz="938213">
              <a:spcBef>
                <a:spcPct val="30000"/>
              </a:spcBef>
              <a:defRPr sz="1200">
                <a:solidFill>
                  <a:schemeClr val="tx1"/>
                </a:solidFill>
                <a:latin typeface="Arial" panose="020B0604020202020204" pitchFamily="34" charset="0"/>
                <a:ea typeface="ヒラギノ角ゴ Pro W3" pitchFamily="-112" charset="-128"/>
              </a:defRPr>
            </a:lvl4pPr>
            <a:lvl5pPr marL="2047875" indent="-227013" defTabSz="938213">
              <a:spcBef>
                <a:spcPct val="30000"/>
              </a:spcBef>
              <a:defRPr sz="1200">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9pPr>
          </a:lstStyle>
          <a:p>
            <a:pPr>
              <a:spcBef>
                <a:spcPct val="0"/>
              </a:spcBef>
            </a:pPr>
            <a:fld id="{3BBFE9D3-A4DD-48F1-B036-4395D6463F7C}" type="slidenum">
              <a:rPr lang="en-US" altLang="en-US" smtClean="0">
                <a:ea typeface="ヒラギノ角ゴ Pro W3" pitchFamily="-112" charset="-128"/>
              </a:rPr>
              <a:pPr>
                <a:spcBef>
                  <a:spcPct val="0"/>
                </a:spcBef>
              </a:pPr>
              <a:t>5</a:t>
            </a:fld>
            <a:endParaRPr lang="en-US" altLang="en-US" dirty="0">
              <a:ea typeface="ヒラギノ角ゴ Pro W3" pitchFamily="-112" charset="-128"/>
            </a:endParaRPr>
          </a:p>
        </p:txBody>
      </p:sp>
    </p:spTree>
    <p:extLst>
      <p:ext uri="{BB962C8B-B14F-4D97-AF65-F5344CB8AC3E}">
        <p14:creationId xmlns:p14="http://schemas.microsoft.com/office/powerpoint/2010/main" val="903638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Just as the network itself constantly changes, the policies, procedures, standards, and guidelines should be included in living documents that are periodically evaluated and changed as necessary. The constant monitoring of the network and the periodic review of the relevant documents are part of the process that is the operational model. When applied to policies, this process results in what is known as the </a:t>
            </a:r>
            <a:r>
              <a:rPr lang="en-US" altLang="en-US" i="1" dirty="0">
                <a:latin typeface="Arial" panose="020B0604020202020204" pitchFamily="34" charset="0"/>
                <a:ea typeface="ＭＳ Ｐゴシック" panose="020B0600070205080204" pitchFamily="34" charset="-128"/>
              </a:rPr>
              <a:t>policy lifecycle.</a:t>
            </a:r>
            <a:endParaRPr lang="en-US" altLang="en-US"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A </a:t>
            </a:r>
            <a:r>
              <a:rPr lang="en-US" altLang="en-US" i="1" dirty="0">
                <a:latin typeface="Arial" panose="020B0604020202020204" pitchFamily="34" charset="0"/>
                <a:ea typeface="ＭＳ Ｐゴシック" panose="020B0600070205080204" pitchFamily="34" charset="-128"/>
              </a:rPr>
              <a:t>vulnerability assessment </a:t>
            </a:r>
            <a:r>
              <a:rPr lang="en-US" altLang="en-US" dirty="0">
                <a:latin typeface="Arial" panose="020B0604020202020204" pitchFamily="34" charset="0"/>
                <a:ea typeface="ＭＳ Ｐゴシック" panose="020B0600070205080204" pitchFamily="34" charset="-128"/>
              </a:rPr>
              <a:t>is an attempt to identify and prioritize the list of vulnerabilities within a system or network.</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A </a:t>
            </a:r>
            <a:r>
              <a:rPr lang="en-US" altLang="en-US" i="1" dirty="0">
                <a:latin typeface="Arial" panose="020B0604020202020204" pitchFamily="34" charset="0"/>
                <a:ea typeface="ＭＳ Ｐゴシック" panose="020B0600070205080204" pitchFamily="34" charset="-128"/>
              </a:rPr>
              <a:t>penetration test </a:t>
            </a:r>
            <a:r>
              <a:rPr lang="en-US" altLang="en-US" dirty="0">
                <a:latin typeface="Arial" panose="020B0604020202020204" pitchFamily="34" charset="0"/>
                <a:ea typeface="ＭＳ Ｐゴシック" panose="020B0600070205080204" pitchFamily="34" charset="-128"/>
              </a:rPr>
              <a:t>is a method to check the security of a system by simulating an attack by a malicious individual to ensure the security is adequate.</a:t>
            </a:r>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Arial" panose="020B0604020202020204" pitchFamily="34" charset="0"/>
                <a:ea typeface="ＭＳ Ｐゴシック" panose="020B0600070205080204" pitchFamily="34" charset="-128"/>
              </a:defRPr>
            </a:lvl1pPr>
            <a:lvl2pPr marL="738188" indent="-284163" defTabSz="938213">
              <a:spcBef>
                <a:spcPct val="30000"/>
              </a:spcBef>
              <a:defRPr sz="1200">
                <a:solidFill>
                  <a:schemeClr val="tx1"/>
                </a:solidFill>
                <a:latin typeface="Arial" panose="020B0604020202020204" pitchFamily="34" charset="0"/>
                <a:ea typeface="ＭＳ Ｐゴシック" panose="020B0600070205080204" pitchFamily="34" charset="-128"/>
              </a:defRPr>
            </a:lvl2pPr>
            <a:lvl3pPr marL="1136650" indent="-227013" defTabSz="938213">
              <a:spcBef>
                <a:spcPct val="30000"/>
              </a:spcBef>
              <a:defRPr sz="1200">
                <a:solidFill>
                  <a:schemeClr val="tx1"/>
                </a:solidFill>
                <a:latin typeface="Arial" panose="020B0604020202020204" pitchFamily="34" charset="0"/>
                <a:ea typeface="ヒラギノ角ゴ Pro W3" pitchFamily="-112" charset="-128"/>
              </a:defRPr>
            </a:lvl3pPr>
            <a:lvl4pPr marL="1592263" indent="-227013" defTabSz="938213">
              <a:spcBef>
                <a:spcPct val="30000"/>
              </a:spcBef>
              <a:defRPr sz="1200">
                <a:solidFill>
                  <a:schemeClr val="tx1"/>
                </a:solidFill>
                <a:latin typeface="Arial" panose="020B0604020202020204" pitchFamily="34" charset="0"/>
                <a:ea typeface="ヒラギノ角ゴ Pro W3" pitchFamily="-112" charset="-128"/>
              </a:defRPr>
            </a:lvl4pPr>
            <a:lvl5pPr marL="2047875" indent="-227013" defTabSz="938213">
              <a:spcBef>
                <a:spcPct val="30000"/>
              </a:spcBef>
              <a:defRPr sz="1200">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9pPr>
          </a:lstStyle>
          <a:p>
            <a:pPr>
              <a:spcBef>
                <a:spcPct val="0"/>
              </a:spcBef>
            </a:pPr>
            <a:fld id="{B424259D-4815-464D-A14C-E4844575BB1E}" type="slidenum">
              <a:rPr lang="en-US" altLang="en-US" smtClean="0">
                <a:ea typeface="ヒラギノ角ゴ Pro W3" pitchFamily="-112" charset="-128"/>
              </a:rPr>
              <a:pPr>
                <a:spcBef>
                  <a:spcPct val="0"/>
                </a:spcBef>
              </a:pPr>
              <a:t>6</a:t>
            </a:fld>
            <a:endParaRPr lang="en-US" altLang="en-US" dirty="0">
              <a:ea typeface="ヒラギノ角ゴ Pro W3" pitchFamily="-112" charset="-128"/>
            </a:endParaRPr>
          </a:p>
        </p:txBody>
      </p:sp>
    </p:spTree>
    <p:extLst>
      <p:ext uri="{BB962C8B-B14F-4D97-AF65-F5344CB8AC3E}">
        <p14:creationId xmlns:p14="http://schemas.microsoft.com/office/powerpoint/2010/main" val="3362560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Modifications can be prompted by a number of different events, including new legislation, updated versions of software or hardware, implementation of new software or hardware, or improvements to the infrastructure.</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A change management process should include various stages, including a method to request a change to the infrastructure, a review and approval process for the request, an examination of the consequences of the change, resolution (or mitigation) of any detrimental effects the change might incur, implementation of the change, and documentation of the process as it related to the change.</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937A2DA9-A694-464B-8357-8A2F634A5573}" type="slidenum">
              <a:rPr lang="en-US" altLang="en-US" smtClean="0"/>
              <a:pPr/>
              <a:t>8</a:t>
            </a:fld>
            <a:endParaRPr lang="en-US" altLang="en-US" dirty="0"/>
          </a:p>
        </p:txBody>
      </p:sp>
    </p:spTree>
    <p:extLst>
      <p:ext uri="{BB962C8B-B14F-4D97-AF65-F5344CB8AC3E}">
        <p14:creationId xmlns:p14="http://schemas.microsoft.com/office/powerpoint/2010/main" val="2036262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Data ownership requirements include backup responsibilities.</a:t>
            </a:r>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5A95C9D2-C563-49F5-9200-7D1D4FD85F02}" type="slidenum">
              <a:rPr lang="en-US" altLang="en-US" smtClean="0"/>
              <a:pPr/>
              <a:t>12</a:t>
            </a:fld>
            <a:endParaRPr lang="en-US" altLang="en-US" dirty="0"/>
          </a:p>
        </p:txBody>
      </p:sp>
    </p:spTree>
    <p:extLst>
      <p:ext uri="{BB962C8B-B14F-4D97-AF65-F5344CB8AC3E}">
        <p14:creationId xmlns:p14="http://schemas.microsoft.com/office/powerpoint/2010/main" val="3124932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A key component of IT security is the protection of the information processed and stored on the computer systems and network. Organizations deal with many different types of information, and they need to recognize that not all information is of equal importance or sensitivity. This requires classification of information into various categories, each with its own requirements for its handling.</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A key component of IT security is the protection of the information processed and stored on the computer systems and network. Organizations deal with many different types of information, and they need to recognize that not all information is of equal importance or sensitivity.</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Each policy for the classification of information should describe how it should be protected, who may have access to it, who has the authority to release it and how, and how it should be destroyed. All employees of the organization should be trained in the procedures for handling the information that they are authorized to access. Discretionary and mandatory access control techniques use classifications as a method to identify who may have access to what resources.</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C6BB6EC6-F6B6-4644-A317-7FB93508CBA2}" type="slidenum">
              <a:rPr lang="en-US" altLang="en-US" smtClean="0"/>
              <a:pPr/>
              <a:t>13</a:t>
            </a:fld>
            <a:endParaRPr lang="en-US" altLang="en-US" dirty="0"/>
          </a:p>
        </p:txBody>
      </p:sp>
    </p:spTree>
    <p:extLst>
      <p:ext uri="{BB962C8B-B14F-4D97-AF65-F5344CB8AC3E}">
        <p14:creationId xmlns:p14="http://schemas.microsoft.com/office/powerpoint/2010/main" val="2333042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Effective data classification programs include data labeling, which enables personnel working with the data to know whether it is sensitive and to understand the levels of protection required.</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When the data is inside an information-processing system, the protections should be designed into the system. But when the data leaves this cocoon of protection, whether by printing, downloading, or copying, it becomes necessary to ensure continued protection by other means. This is where data labeling assists users in fulfilling their responsibilities.</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Personnel are intimately involved in several specific tasks associated with data handling and data destruction/disposal and, if properly trained, can act as a security control. Untrained or inadequately trained personnel will not be a productive security control and, in fact, can be a source of potential compromise.</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4F2BFB4C-E911-4744-86C4-CC9B10CF3D08}" type="slidenum">
              <a:rPr lang="en-US" altLang="en-US" smtClean="0"/>
              <a:pPr/>
              <a:t>14</a:t>
            </a:fld>
            <a:endParaRPr lang="en-US" altLang="en-US" dirty="0"/>
          </a:p>
        </p:txBody>
      </p:sp>
    </p:spTree>
    <p:extLst>
      <p:ext uri="{BB962C8B-B14F-4D97-AF65-F5344CB8AC3E}">
        <p14:creationId xmlns:p14="http://schemas.microsoft.com/office/powerpoint/2010/main" val="2900386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Many potential intruders have learned the value of dumpster diving. An organization must be concerned about not only paper trash and discarded objects, but also the information stored on discarded objects such as computers. Several government organizations have been embarrassed when old computers sold to salvagers proved to contain sensitive documents on their hard drives. It is critical for every organization to have a strong </a:t>
            </a:r>
            <a:r>
              <a:rPr lang="en-US" altLang="en-US" i="1" dirty="0">
                <a:latin typeface="Arial" panose="020B0604020202020204" pitchFamily="34" charset="0"/>
                <a:ea typeface="ＭＳ Ｐゴシック" panose="020B0600070205080204" pitchFamily="34" charset="-128"/>
              </a:rPr>
              <a:t>disposal and destruction policy </a:t>
            </a:r>
            <a:r>
              <a:rPr lang="en-US" altLang="en-US" dirty="0">
                <a:latin typeface="Arial" panose="020B0604020202020204" pitchFamily="34" charset="0"/>
                <a:ea typeface="ＭＳ Ｐゴシック" panose="020B0600070205080204" pitchFamily="34" charset="-128"/>
              </a:rPr>
              <a:t>and related procedures.</a:t>
            </a:r>
          </a:p>
          <a:p>
            <a:r>
              <a:rPr lang="en-US" altLang="en-US" dirty="0">
                <a:latin typeface="Arial" panose="020B0604020202020204" pitchFamily="34" charset="0"/>
                <a:ea typeface="ＭＳ Ｐゴシック" panose="020B0600070205080204" pitchFamily="34" charset="-128"/>
              </a:rPr>
              <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A58468B6-134F-4460-BD85-DDA42001C26E}" type="slidenum">
              <a:rPr lang="en-US" altLang="en-US" smtClean="0"/>
              <a:pPr/>
              <a:t>16</a:t>
            </a:fld>
            <a:endParaRPr lang="en-US" altLang="en-US" dirty="0"/>
          </a:p>
        </p:txBody>
      </p:sp>
    </p:spTree>
    <p:extLst>
      <p:ext uri="{BB962C8B-B14F-4D97-AF65-F5344CB8AC3E}">
        <p14:creationId xmlns:p14="http://schemas.microsoft.com/office/powerpoint/2010/main" val="2971462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A58468B6-134F-4460-BD85-DDA42001C26E}" type="slidenum">
              <a:rPr lang="en-US" altLang="en-US" smtClean="0"/>
              <a:pPr/>
              <a:t>17</a:t>
            </a:fld>
            <a:endParaRPr lang="en-US" altLang="en-US" dirty="0"/>
          </a:p>
        </p:txBody>
      </p:sp>
    </p:spTree>
    <p:extLst>
      <p:ext uri="{BB962C8B-B14F-4D97-AF65-F5344CB8AC3E}">
        <p14:creationId xmlns:p14="http://schemas.microsoft.com/office/powerpoint/2010/main" val="4194491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A58468B6-134F-4460-BD85-DDA42001C26E}" type="slidenum">
              <a:rPr lang="en-US" altLang="en-US" smtClean="0"/>
              <a:pPr/>
              <a:t>18</a:t>
            </a:fld>
            <a:endParaRPr lang="en-US" altLang="en-US" dirty="0"/>
          </a:p>
        </p:txBody>
      </p:sp>
    </p:spTree>
    <p:extLst>
      <p:ext uri="{BB962C8B-B14F-4D97-AF65-F5344CB8AC3E}">
        <p14:creationId xmlns:p14="http://schemas.microsoft.com/office/powerpoint/2010/main" val="4058801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A58468B6-134F-4460-BD85-DDA42001C26E}" type="slidenum">
              <a:rPr lang="en-US" altLang="en-US" smtClean="0"/>
              <a:pPr/>
              <a:t>19</a:t>
            </a:fld>
            <a:endParaRPr lang="en-US" altLang="en-US" dirty="0"/>
          </a:p>
        </p:txBody>
      </p:sp>
    </p:spTree>
    <p:extLst>
      <p:ext uri="{BB962C8B-B14F-4D97-AF65-F5344CB8AC3E}">
        <p14:creationId xmlns:p14="http://schemas.microsoft.com/office/powerpoint/2010/main" val="4220190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A58468B6-134F-4460-BD85-DDA42001C26E}" type="slidenum">
              <a:rPr lang="en-US" altLang="en-US" smtClean="0"/>
              <a:pPr/>
              <a:t>20</a:t>
            </a:fld>
            <a:endParaRPr lang="en-US" altLang="en-US" dirty="0"/>
          </a:p>
        </p:txBody>
      </p:sp>
    </p:spTree>
    <p:extLst>
      <p:ext uri="{BB962C8B-B14F-4D97-AF65-F5344CB8AC3E}">
        <p14:creationId xmlns:p14="http://schemas.microsoft.com/office/powerpoint/2010/main" val="2614448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By outlining a code of ethics, the organization can encourage an environment that is conducive to integrity and high ethical standards. For additional ideas on possible codes of ethics, check professional organizations such as the Institute for Electrical and Electronics Engineers (IEEE), the Association for Computing Machinery (ACM), or the Information Systems Security Association (ISSA).</a:t>
            </a:r>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2849153C-5CA0-45CE-85E8-9E9450E42DF8}" type="slidenum">
              <a:rPr lang="en-US" altLang="en-US" smtClean="0"/>
              <a:pPr/>
              <a:t>22</a:t>
            </a:fld>
            <a:endParaRPr lang="en-US" altLang="en-US" dirty="0"/>
          </a:p>
        </p:txBody>
      </p:sp>
    </p:spTree>
    <p:extLst>
      <p:ext uri="{BB962C8B-B14F-4D97-AF65-F5344CB8AC3E}">
        <p14:creationId xmlns:p14="http://schemas.microsoft.com/office/powerpoint/2010/main" val="902357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u="sng" dirty="0">
                <a:latin typeface="Arial" panose="020B0604020202020204" pitchFamily="34" charset="0"/>
                <a:ea typeface="ＭＳ Ｐゴシック" panose="020B0600070205080204" pitchFamily="34" charset="-128"/>
              </a:rPr>
              <a:t>Benefit of job rotation</a:t>
            </a:r>
            <a:r>
              <a:rPr lang="en-US" altLang="en-US" dirty="0">
                <a:latin typeface="Arial" panose="020B0604020202020204" pitchFamily="34" charset="0"/>
                <a:ea typeface="ＭＳ Ｐゴシック" panose="020B0600070205080204" pitchFamily="34" charset="-128"/>
              </a:rPr>
              <a:t>:</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If all security tasks are the domain of one employee, and that individual leaves suddenly, security at the organization could suffer. On the other hand, if security tasks are understood by many different individuals, the loss of any one individual has less of an impact on the organization.</a:t>
            </a: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6431E113-99B9-4D42-9320-882CE3E74C92}" type="slidenum">
              <a:rPr lang="en-US" altLang="en-US" smtClean="0"/>
              <a:pPr/>
              <a:t>23</a:t>
            </a:fld>
            <a:endParaRPr lang="en-US" altLang="en-US" dirty="0"/>
          </a:p>
        </p:txBody>
      </p:sp>
    </p:spTree>
    <p:extLst>
      <p:ext uri="{BB962C8B-B14F-4D97-AF65-F5344CB8AC3E}">
        <p14:creationId xmlns:p14="http://schemas.microsoft.com/office/powerpoint/2010/main" val="7133166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It is becoming common for organizations to run background checks on prospective employees and to check the references prospective employees supply. Frequently, organizations require drug testing, check for any past criminal activity, verify claimed educational credentials, and confirm reported work history. For highly sensitive environments, special security background investigations can also be required.</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If the change can be construed as a negative personnel action (such as a demotion), supervisors should be alerted to watch for changes in behavior that might indicate the employee is contemplating or conducting unauthorized activity. It is likely that the employee will be upset, and whether he acts on this to the detriment of the company is something that needs to be guarded against. In the case of a demotion, the individual may also lose certain privileges or access rights, and these changes should be made quickly so as to lessen the likelihood that the employee will destroy previously accessible data if he becomes disgruntled and decides to take revenge on the organization. </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If the employee is promoted, privileges may still change, but the need to make the change to access privileges may not be as urgent, though it should still be accomplished as quickly as possible. If the move is a lateral one, changes may also need to take place, and again they should be accomplished as quickly as possible.</a:t>
            </a: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2B0C88C9-F321-4C52-A194-70890C0C35C7}" type="slidenum">
              <a:rPr lang="en-US" altLang="en-US" smtClean="0"/>
              <a:pPr/>
              <a:t>24</a:t>
            </a:fld>
            <a:endParaRPr lang="en-US" altLang="en-US" dirty="0"/>
          </a:p>
        </p:txBody>
      </p:sp>
    </p:spTree>
    <p:extLst>
      <p:ext uri="{BB962C8B-B14F-4D97-AF65-F5344CB8AC3E}">
        <p14:creationId xmlns:p14="http://schemas.microsoft.com/office/powerpoint/2010/main" val="23595706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An employee leaving an organization can be either a positive or a negative action.</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Combinations should be quickly changed once an employee has been informed of their termination. Access cards, keys, and badges should be collected; the employee should be escorted to her desk and watched as she packs personal belongings; and then she should be escorted from the building.</a:t>
            </a:r>
          </a:p>
          <a:p>
            <a:endParaRPr lang="en-US" altLang="en-US" dirty="0">
              <a:latin typeface="Arial" panose="020B0604020202020204" pitchFamily="34" charset="0"/>
              <a:ea typeface="ＭＳ Ｐゴシック" panose="020B0600070205080204" pitchFamily="34" charset="-128"/>
            </a:endParaRPr>
          </a:p>
          <a:p>
            <a:r>
              <a:rPr lang="en-US" altLang="en-US" u="sng" dirty="0">
                <a:latin typeface="Arial" panose="020B0604020202020204" pitchFamily="34" charset="0"/>
                <a:ea typeface="ＭＳ Ｐゴシック" panose="020B0600070205080204" pitchFamily="34" charset="-128"/>
              </a:rPr>
              <a:t>Note:</a:t>
            </a:r>
            <a:r>
              <a:rPr lang="en-US" altLang="en-US" dirty="0">
                <a:latin typeface="Arial" panose="020B0604020202020204" pitchFamily="34" charset="0"/>
                <a:ea typeface="ＭＳ Ｐゴシック" panose="020B0600070205080204" pitchFamily="34" charset="-128"/>
              </a:rPr>
              <a:t> It is better to give a potentially disgruntled employee several weeks of paid vacation than to have him trash sensitive files to which he has access. Because employees typically know the pattern of management behavior with respect to termination, doing the right thing will pay dividends in the future for a firm.</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53F08AB2-FA5F-4444-96B9-17DB8F9A2A2A}" type="slidenum">
              <a:rPr lang="en-US" altLang="en-US" smtClean="0"/>
              <a:pPr/>
              <a:t>25</a:t>
            </a:fld>
            <a:endParaRPr lang="en-US" altLang="en-US" dirty="0"/>
          </a:p>
        </p:txBody>
      </p:sp>
    </p:spTree>
    <p:extLst>
      <p:ext uri="{BB962C8B-B14F-4D97-AF65-F5344CB8AC3E}">
        <p14:creationId xmlns:p14="http://schemas.microsoft.com/office/powerpoint/2010/main" val="2555331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Just as it is important to manage the on- and off-boarding processes of company personnel, it is important to consider the same types of elements when making arrangements with third parties. Agreements with business partners tend to be fairly specific with respect to terms associated with mutual expectations associated with the process of the business. Considerations regarding the on-boarding and off-boarding processes are important, especially the off-boarding. When a contract arrangement with a third party comes to an end, issues as to data retention and destruction by the third party need to be addressed. These considerations need to be made prior to the establishment of the relationship, not added at the time that it is coming to an end.</a:t>
            </a:r>
          </a:p>
          <a:p>
            <a:endParaRPr lang="en-US" altLang="en-US" dirty="0">
              <a:latin typeface="Arial" panose="020B0604020202020204" pitchFamily="34" charset="0"/>
              <a:ea typeface="ＭＳ Ｐゴシック" panose="020B0600070205080204" pitchFamily="34" charset="-128"/>
            </a:endParaRPr>
          </a:p>
          <a:p>
            <a:r>
              <a:rPr lang="en-US" altLang="en-US" u="sng" dirty="0">
                <a:latin typeface="Arial" panose="020B0604020202020204" pitchFamily="34" charset="0"/>
                <a:ea typeface="ＭＳ Ｐゴシック" panose="020B0600070205080204" pitchFamily="34" charset="-128"/>
              </a:rPr>
              <a:t>Note</a:t>
            </a:r>
            <a:r>
              <a:rPr lang="en-US" altLang="en-US" dirty="0">
                <a:latin typeface="Arial" panose="020B0604020202020204" pitchFamily="34" charset="0"/>
                <a:ea typeface="ＭＳ Ｐゴシック" panose="020B0600070205080204" pitchFamily="34" charset="-128"/>
              </a:rPr>
              <a:t>: On-boarding and off-boarding business procedures should be well documented to ensure compliance with legal requirements.</a:t>
            </a: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8732F5E2-B24A-40C1-A3BE-32E940C917F3}" type="slidenum">
              <a:rPr lang="en-US" altLang="en-US" smtClean="0"/>
              <a:pPr/>
              <a:t>26</a:t>
            </a:fld>
            <a:endParaRPr lang="en-US" altLang="en-US" dirty="0"/>
          </a:p>
        </p:txBody>
      </p:sp>
    </p:spTree>
    <p:extLst>
      <p:ext uri="{BB962C8B-B14F-4D97-AF65-F5344CB8AC3E}">
        <p14:creationId xmlns:p14="http://schemas.microsoft.com/office/powerpoint/2010/main" val="31244381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Organizations have provided vacation time to their employees for many years. Few, however, force employees to take this time if they don’t want to. From a security standpoint, an employee who never takes time off might be involved in nefarious activity, such as fraud or  embezzlement, and might be afraid that if he leaves on vacation, the organization will discover his illicit activities. As a result, requiring employees to use their vacation time through a policy of mandatory vacations can be security protection mechanism. Using mandatory vacations as a tool to detect fraud will require that somebody else also be trained in the functions of the employee who is on vacation. Having a second person familiar with security procedures is also a good policy in case something happens to the primary employee.</a:t>
            </a: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1BDAC93A-E404-4C68-BEE8-52DC579504B8}" type="slidenum">
              <a:rPr lang="en-US" altLang="en-US" smtClean="0"/>
              <a:pPr/>
              <a:t>27</a:t>
            </a:fld>
            <a:endParaRPr lang="en-US" altLang="en-US" dirty="0"/>
          </a:p>
        </p:txBody>
      </p:sp>
    </p:spTree>
    <p:extLst>
      <p:ext uri="{BB962C8B-B14F-4D97-AF65-F5344CB8AC3E}">
        <p14:creationId xmlns:p14="http://schemas.microsoft.com/office/powerpoint/2010/main" val="1965617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The rise of social media networks has changed many aspects of business. Whether used for marketing, communications, customer relations, or some other purpose, social media networks can be considered a form of third party. One of the challenges in working with social media networks and/or applications is their terms of use. While a relationship with a typical third party involves a negotiated set of agreements with respect to requirements, there is no negotiation with social media networks. The only option is to adopt their terms of service, so it is important to understand the implications of these terms with respect to the business use of the social network.</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5168CD25-EBAF-4D99-A38D-091EEE529699}" type="slidenum">
              <a:rPr lang="en-US" altLang="en-US" smtClean="0"/>
              <a:pPr/>
              <a:t>28</a:t>
            </a:fld>
            <a:endParaRPr lang="en-US" altLang="en-US" dirty="0"/>
          </a:p>
        </p:txBody>
      </p:sp>
    </p:spTree>
    <p:extLst>
      <p:ext uri="{BB962C8B-B14F-4D97-AF65-F5344CB8AC3E}">
        <p14:creationId xmlns:p14="http://schemas.microsoft.com/office/powerpoint/2010/main" val="3552934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The AUP should clearly delineate what activities are not allowed. It should address issues such as the use of resources to conduct personal business, installation of hardware or software, remote access to systems and networks, the copying of company-owned software, and the responsibility of users to protect company assets, including data, software, and hardware. Statements regarding possible penalties for ignoring any of the policies (such as termination) should also be included.</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Related to appropriate use of the organization’s computer systems and networks by employees is the appropriate use by the organization. The most important of such issues is whether the organization considers it appropriate to monitor the employees’ use of the systems and network.</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If monitoring is considered appropriate, the organization should include a statement to this effect in the banner that appears at login. This repeatedly warns employees, and possible intruders, that their actions are subject to monitoring and that any misuse of the system will not be tolerated. Should the organization need to use in a civil or criminal case any information gathered during monitoring, the issue of whether the employee had an expectation of privacy, or whether it was even legal for the organization to be monitoring, is simplified if the organization can point to a statement that is always displayed that instructs users that use of the system constitutes consent to monitoring. Before any monitoring is conducted, or the actual wording on the warning message is created, the organization’s legal counsel should be consulted to determine the appropriate way to address this issue in the particular jurisdiction.</a:t>
            </a:r>
          </a:p>
          <a:p>
            <a:endParaRPr lang="en-US" altLang="en-US"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21101439-AB8C-48E1-A4CF-463257EB942C}" type="slidenum">
              <a:rPr lang="en-US" altLang="en-US" smtClean="0"/>
              <a:pPr/>
              <a:t>29</a:t>
            </a:fld>
            <a:endParaRPr lang="en-US" altLang="en-US" dirty="0"/>
          </a:p>
        </p:txBody>
      </p:sp>
    </p:spTree>
    <p:extLst>
      <p:ext uri="{BB962C8B-B14F-4D97-AF65-F5344CB8AC3E}">
        <p14:creationId xmlns:p14="http://schemas.microsoft.com/office/powerpoint/2010/main" val="411674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The Internet provides a tremendous temptation for employees to waste hours as they surf the Web for the scores of games from the previous night, conduct quick online stock transactions, or read the review of the latest blockbuster movie everyone is talking about. In addition, allowing employees to visit sites that may be considered offensive to others (such as pornographic or hate sites) can open the company to accusations of condoning a hostile work environment and result in legal liability.</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082AEEF7-7C37-457E-9B51-E06C6BD21F19}" type="slidenum">
              <a:rPr lang="en-US" altLang="en-US" smtClean="0"/>
              <a:pPr/>
              <a:t>30</a:t>
            </a:fld>
            <a:endParaRPr lang="en-US" altLang="en-US" dirty="0"/>
          </a:p>
        </p:txBody>
      </p:sp>
    </p:spTree>
    <p:extLst>
      <p:ext uri="{BB962C8B-B14F-4D97-AF65-F5344CB8AC3E}">
        <p14:creationId xmlns:p14="http://schemas.microsoft.com/office/powerpoint/2010/main" val="21222241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This policy should spell out whether nonwork e-mail traffic is allowed at all or is at least severely restricted. It needs to cover the type of message that would be considered inappropriate to send to other employees (for example, no offensive language, no sex-related or ethnic jokes, no harassment, and so on). The policy should also specify any disclaimers that must be attached to an employee’s message sent to an individual outside the company. The policy should remind employees of the risks of clicking on links in e-mails, or opening attachments, as these can be social engineering attacks.</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A941DF81-4FEE-48D5-AF10-9793D0702BCA}" type="slidenum">
              <a:rPr lang="en-US" altLang="en-US" smtClean="0"/>
              <a:pPr/>
              <a:t>31</a:t>
            </a:fld>
            <a:endParaRPr lang="en-US" altLang="en-US" dirty="0"/>
          </a:p>
        </p:txBody>
      </p:sp>
    </p:spTree>
    <p:extLst>
      <p:ext uri="{BB962C8B-B14F-4D97-AF65-F5344CB8AC3E}">
        <p14:creationId xmlns:p14="http://schemas.microsoft.com/office/powerpoint/2010/main" val="37188260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Preventing access to information is also important in the work area. Even leaving the desk area and going to the bathroom can leave information exposed and subject to compromise.</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All of these elements that demonstrate the need for a clean desk are lost if employees do not make them personal. Training for clean desk activities needs to make the issue a personal one, where consequences are understood and the workplace reinforces the positive activity.</a:t>
            </a: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50C8BF5E-0DC6-470D-94A5-BED0F72A389B}" type="slidenum">
              <a:rPr lang="en-US" altLang="en-US" smtClean="0"/>
              <a:pPr/>
              <a:t>32</a:t>
            </a:fld>
            <a:endParaRPr lang="en-US" altLang="en-US" dirty="0"/>
          </a:p>
        </p:txBody>
      </p:sp>
    </p:spTree>
    <p:extLst>
      <p:ext uri="{BB962C8B-B14F-4D97-AF65-F5344CB8AC3E}">
        <p14:creationId xmlns:p14="http://schemas.microsoft.com/office/powerpoint/2010/main" val="28196665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Everyone seems to have a smartphone, a tablet, or other personal Internet device that they use in their personal lives. Bringing these to work is a natural extension of one’s normal activities, but this raises the question of what policies are appropriate before a firm allows these devices to connect to the corporate network and access company data. Like all other policies, planning is needed to define the appropriate pathway to the company objectives. Personal devices offer cost savings and positive user acceptance, and in many cases these factors make allowing BYOD a sensible decision.</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Devices need to be maintained in a current, up-to-date software posture, and with certain security features, such as screen locks and passwords enabled. Remote wipe and other features should be enabled, and highly sensitive data, especially in aggregate, should not be allowed on the devices. Users should have specific training as to what is allowed and what isn’t and should be made aware of the increased responsibility associated with a mobile means of accessing corporate resources. </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In some cases it may be necessary to define a policy associated with personally owned devices. This policy will describe the rules and regulations associated with use of personally owned devices with respect to corporate data, network connectivity, and security risks.</a:t>
            </a: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D88A9EA1-F05E-4DDA-BF9E-16E80F94370D}" type="slidenum">
              <a:rPr lang="en-US" altLang="en-US" smtClean="0"/>
              <a:pPr/>
              <a:t>33</a:t>
            </a:fld>
            <a:endParaRPr lang="en-US" altLang="en-US" dirty="0"/>
          </a:p>
        </p:txBody>
      </p:sp>
    </p:spTree>
    <p:extLst>
      <p:ext uri="{BB962C8B-B14F-4D97-AF65-F5344CB8AC3E}">
        <p14:creationId xmlns:p14="http://schemas.microsoft.com/office/powerpoint/2010/main" val="1566395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Customers place an enormous amount of trust in organizations to which they provide personal information. These customers expect their information to be kept secure so that unauthorized individuals will not gain access to it and so that authorized users will not use the information in unintended ways.</a:t>
            </a:r>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59EB410F-AE9A-41B0-B949-CBC516CF920C}" type="slidenum">
              <a:rPr lang="en-US" altLang="en-US" smtClean="0"/>
              <a:pPr/>
              <a:t>34</a:t>
            </a:fld>
            <a:endParaRPr lang="en-US" altLang="en-US" dirty="0"/>
          </a:p>
        </p:txBody>
      </p:sp>
    </p:spTree>
    <p:extLst>
      <p:ext uri="{BB962C8B-B14F-4D97-AF65-F5344CB8AC3E}">
        <p14:creationId xmlns:p14="http://schemas.microsoft.com/office/powerpoint/2010/main" val="34321193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u="sng" dirty="0">
                <a:latin typeface="Arial" panose="020B0604020202020204" pitchFamily="34" charset="0"/>
                <a:ea typeface="ＭＳ Ｐゴシック" panose="020B0600070205080204" pitchFamily="34" charset="-128"/>
              </a:rPr>
              <a:t>Note</a:t>
            </a:r>
            <a:r>
              <a:rPr lang="en-US" altLang="en-US" dirty="0">
                <a:latin typeface="Arial" panose="020B0604020202020204" pitchFamily="34" charset="0"/>
                <a:ea typeface="ＭＳ Ｐゴシック" panose="020B0600070205080204" pitchFamily="34" charset="-128"/>
              </a:rPr>
              <a:t>: </a:t>
            </a:r>
            <a:r>
              <a:rPr lang="en-US" altLang="en-US" b="1" i="0" dirty="0">
                <a:latin typeface="Arial" panose="020B0604020202020204" pitchFamily="34" charset="0"/>
                <a:ea typeface="ＭＳ Ｐゴシック" panose="020B0600070205080204" pitchFamily="34" charset="-128"/>
              </a:rPr>
              <a:t>Due diligence </a:t>
            </a:r>
            <a:r>
              <a:rPr lang="en-US" altLang="en-US" dirty="0">
                <a:latin typeface="Arial" panose="020B0604020202020204" pitchFamily="34" charset="0"/>
                <a:ea typeface="ＭＳ Ｐゴシック" panose="020B0600070205080204" pitchFamily="34" charset="-128"/>
              </a:rPr>
              <a:t>is the application of a specific standard of care. </a:t>
            </a:r>
            <a:r>
              <a:rPr lang="en-US" altLang="en-US" b="1" i="0" dirty="0">
                <a:latin typeface="Arial" panose="020B0604020202020204" pitchFamily="34" charset="0"/>
                <a:ea typeface="ＭＳ Ｐゴシック" panose="020B0600070205080204" pitchFamily="34" charset="-128"/>
              </a:rPr>
              <a:t>Due care </a:t>
            </a:r>
            <a:r>
              <a:rPr lang="en-US" altLang="en-US" dirty="0">
                <a:latin typeface="Arial" panose="020B0604020202020204" pitchFamily="34" charset="0"/>
                <a:ea typeface="ＭＳ Ｐゴシック" panose="020B0600070205080204" pitchFamily="34" charset="-128"/>
              </a:rPr>
              <a:t>is the degree of care that an ordinary person would exercise.</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An organization must take reasonable precautions before entering a business transaction or it might be found to have acted irresponsibly. In terms of security, organizations are expected to take reasonable precautions to protect the information that they maintain on individuals. Should a person suffer a loss as a result of negligence on the part of an organization in terms of its security, that person typically can bring a legal suit against the organization.</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The organization will need to show that it had taken reasonable precautions to protect the information, and that, despite these precautions, an unforeseen security event occurred that caused the injury to the other party. Since this is so subjective, it is hard to describe what would be considered reasonable, but many sectors have a set of “security best practices” for their industry, which provides a basis for organizations in that sector to start from. If the organization decides not to follow any of the best practices accepted by the industry, it needs to be prepared to justify its reasons in court should an incident occur. If the sector the organization is in has regulatory requirements, justifying why the mandated security practices were not followed will be much more difficult (if not impossible).</a:t>
            </a:r>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4E590715-8500-4DCF-B8A8-F94456CD9CD2}" type="slidenum">
              <a:rPr lang="en-US" altLang="en-US" smtClean="0"/>
              <a:pPr/>
              <a:t>35</a:t>
            </a:fld>
            <a:endParaRPr lang="en-US" altLang="en-US" dirty="0"/>
          </a:p>
        </p:txBody>
      </p:sp>
    </p:spTree>
    <p:extLst>
      <p:ext uri="{BB962C8B-B14F-4D97-AF65-F5344CB8AC3E}">
        <p14:creationId xmlns:p14="http://schemas.microsoft.com/office/powerpoint/2010/main" val="11464035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Of interest is the recognition by courts of a series of rights that are not explicitly specified by the Constitution but that the courts have decided are implicit in the concepts embodied by the Constitution. An example of this is an individual’s right to privacy. </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From an organization’s point of view, due process may come into play during an administrative action that adversely affects an employee. Before an employee is terminated, for example, were all of the employee’s rights protected? An actual example pertains to the rights of privacy regarding employees’ e-mail messages.</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As the number of cases involving employers examining employee e-mails grows, case law continues to be established and the courts eventually will settle on what rights an employee can expect. The best thing an employer can do if faced with this sort of situation is to work closely with HR staff to ensure that appropriate policies are followed and that those policies are in keeping with current laws and regulations.</a:t>
            </a:r>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1CB32890-C62D-4676-BDBC-7619CF0012ED}" type="slidenum">
              <a:rPr lang="en-US" altLang="en-US" smtClean="0"/>
              <a:pPr/>
              <a:t>36</a:t>
            </a:fld>
            <a:endParaRPr lang="en-US" altLang="en-US" dirty="0"/>
          </a:p>
        </p:txBody>
      </p:sp>
    </p:spTree>
    <p:extLst>
      <p:ext uri="{BB962C8B-B14F-4D97-AF65-F5344CB8AC3E}">
        <p14:creationId xmlns:p14="http://schemas.microsoft.com/office/powerpoint/2010/main" val="20643816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No matter how careful an organization is, eventually a security incident of some sort will occur. When it happens, how effectively the organization responds to it will depend greatly on how prepared it is to handle incidents.</a:t>
            </a:r>
          </a:p>
          <a:p>
            <a:r>
              <a:rPr lang="en-US" altLang="en-US" dirty="0">
                <a:latin typeface="Arial" panose="020B0604020202020204" pitchFamily="34" charset="0"/>
                <a:ea typeface="ＭＳ Ｐゴシック" panose="020B0600070205080204" pitchFamily="34" charset="-128"/>
              </a:rPr>
              <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AF22F1F5-3988-4930-BEE7-1E0ABCE64AE3}" type="slidenum">
              <a:rPr lang="en-US" altLang="en-US" smtClean="0"/>
              <a:pPr/>
              <a:t>37</a:t>
            </a:fld>
            <a:endParaRPr lang="en-US" altLang="en-US" dirty="0"/>
          </a:p>
        </p:txBody>
      </p:sp>
    </p:spTree>
    <p:extLst>
      <p:ext uri="{BB962C8B-B14F-4D97-AF65-F5344CB8AC3E}">
        <p14:creationId xmlns:p14="http://schemas.microsoft.com/office/powerpoint/2010/main" val="22924150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Properly trained employees are able to perform their duties in a more effective manner, including their duties associated with information security. The extent of information security training will vary depending on the organization’s environment and the level of threat, but initial employee security training at the time of being hired is important, as is periodic refresher training. A strong security education and awareness training program can go a long way toward reducing the chance that a social engineering attack will be successful.</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13046F52-F827-46CA-B622-F0F2FCE0CB22}" type="slidenum">
              <a:rPr lang="en-US" altLang="en-US" smtClean="0"/>
              <a:pPr/>
              <a:t>38</a:t>
            </a:fld>
            <a:endParaRPr lang="en-US" altLang="en-US" dirty="0"/>
          </a:p>
        </p:txBody>
      </p:sp>
    </p:spTree>
    <p:extLst>
      <p:ext uri="{BB962C8B-B14F-4D97-AF65-F5344CB8AC3E}">
        <p14:creationId xmlns:p14="http://schemas.microsoft.com/office/powerpoint/2010/main" val="8728708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If employees are going to be expected to comply with the organization’s security policy, they must be properly trained in its purpose, meaning, and objectives. Training with respect to the information security policy, individual responsibilities, and expectations is something that requires periodic reinforcement through refresher training.</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Because the security policy is a high-level directive that sets the overall support and executive direction with respect to security, it is important that the meaning of this message be translated and supported. Second-level policies such as password, access, information handling, and acceptable use policies also need to be covered. The collection of policies should paint a picture describing the desired security culture of the organization. The training should be designed to ensure that people see and understand the whole picture, not just the elements.</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56051131-F0B7-40D6-AFF6-8B18EADA5471}" type="slidenum">
              <a:rPr lang="en-US" altLang="en-US" smtClean="0"/>
              <a:pPr/>
              <a:t>39</a:t>
            </a:fld>
            <a:endParaRPr lang="en-US" altLang="en-US" dirty="0"/>
          </a:p>
        </p:txBody>
      </p:sp>
    </p:spTree>
    <p:extLst>
      <p:ext uri="{BB962C8B-B14F-4D97-AF65-F5344CB8AC3E}">
        <p14:creationId xmlns:p14="http://schemas.microsoft.com/office/powerpoint/2010/main" val="15470529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If a person has job responsibilities that may impact information security, then role-specific training is needed to ensure that the individual understands the responsibilities as they relate to information security. Some roles, such as system administrator or developer, have clearly defined information security responsibilities. The roles of others, such as project manager or purchasing manager, have information security impacts that are less obvious, but these roles require training as well. In fact, the less-obvious but wider-impact roles of middle management can have a large effect on the information security culture, and thus if a specific outcome is desired, it requires training.</a:t>
            </a:r>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334756BF-B141-46EF-BB78-FEF6D6FE27CD}" type="slidenum">
              <a:rPr lang="en-US" altLang="en-US" smtClean="0"/>
              <a:pPr/>
              <a:t>40</a:t>
            </a:fld>
            <a:endParaRPr lang="en-US" altLang="en-US" dirty="0"/>
          </a:p>
        </p:txBody>
      </p:sp>
    </p:spTree>
    <p:extLst>
      <p:ext uri="{BB962C8B-B14F-4D97-AF65-F5344CB8AC3E}">
        <p14:creationId xmlns:p14="http://schemas.microsoft.com/office/powerpoint/2010/main" val="2075709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There is a wide array of laws, regulations, contractual requirements, standards, and best practices associated with information security. Each places its own set of requirements upon an organization and its personnel. The only effective way for an organization to address these requirements is to build them into their own policies and procedures. Training to one’s own policies and procedures would then translate into coverage of these external requirements.</a:t>
            </a:r>
          </a:p>
        </p:txBody>
      </p:sp>
      <p:sp>
        <p:nvSpPr>
          <p:cNvPr id="83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D0B0F7AA-A718-4B1A-9DAC-974056A43287}" type="slidenum">
              <a:rPr lang="en-US" altLang="en-US" smtClean="0"/>
              <a:pPr/>
              <a:t>41</a:t>
            </a:fld>
            <a:endParaRPr lang="en-US" altLang="en-US" dirty="0"/>
          </a:p>
        </p:txBody>
      </p:sp>
    </p:spTree>
    <p:extLst>
      <p:ext uri="{BB962C8B-B14F-4D97-AF65-F5344CB8AC3E}">
        <p14:creationId xmlns:p14="http://schemas.microsoft.com/office/powerpoint/2010/main" val="36128584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endParaRPr>
          </a:p>
        </p:txBody>
      </p:sp>
      <p:sp>
        <p:nvSpPr>
          <p:cNvPr id="83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D0B0F7AA-A718-4B1A-9DAC-974056A43287}" type="slidenum">
              <a:rPr lang="en-US" altLang="en-US" smtClean="0"/>
              <a:pPr/>
              <a:t>42</a:t>
            </a:fld>
            <a:endParaRPr lang="en-US" altLang="en-US" dirty="0"/>
          </a:p>
        </p:txBody>
      </p:sp>
    </p:spTree>
    <p:extLst>
      <p:ext uri="{BB962C8B-B14F-4D97-AF65-F5344CB8AC3E}">
        <p14:creationId xmlns:p14="http://schemas.microsoft.com/office/powerpoint/2010/main" val="10301609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dirty="0"/>
              <a:t>Basic responsibilities:</a:t>
            </a:r>
          </a:p>
          <a:p>
            <a:pPr>
              <a:defRPr/>
            </a:pPr>
            <a:endParaRPr lang="en-US" dirty="0"/>
          </a:p>
          <a:p>
            <a:pPr marL="170713" indent="-170713">
              <a:buFont typeface="Arial" panose="020B0604020202020204" pitchFamily="34" charset="0"/>
              <a:buChar char="•"/>
              <a:defRPr/>
            </a:pPr>
            <a:r>
              <a:rPr lang="en-US" dirty="0"/>
              <a:t>Lock the door to your office or workspace, including drawers and cabinets.</a:t>
            </a:r>
          </a:p>
          <a:p>
            <a:pPr marL="170713" indent="-170713">
              <a:buFont typeface="Arial" panose="020B0604020202020204" pitchFamily="34" charset="0"/>
              <a:buChar char="•"/>
              <a:defRPr/>
            </a:pPr>
            <a:r>
              <a:rPr lang="en-US" dirty="0"/>
              <a:t>Do not leave sensitive information inside your car unprotected.</a:t>
            </a:r>
          </a:p>
          <a:p>
            <a:pPr marL="170713" indent="-170713">
              <a:buFont typeface="Arial" panose="020B0604020202020204" pitchFamily="34" charset="0"/>
              <a:buChar char="•"/>
              <a:defRPr/>
            </a:pPr>
            <a:r>
              <a:rPr lang="en-US" dirty="0"/>
              <a:t>Secure storage media containing sensitive information in a secure storage device.</a:t>
            </a:r>
          </a:p>
          <a:p>
            <a:pPr marL="170713" indent="-170713">
              <a:buFont typeface="Arial" panose="020B0604020202020204" pitchFamily="34" charset="0"/>
              <a:buChar char="•"/>
              <a:defRPr/>
            </a:pPr>
            <a:r>
              <a:rPr lang="en-US" dirty="0"/>
              <a:t>Shred paper containing organizational information before discarding it.</a:t>
            </a:r>
          </a:p>
          <a:p>
            <a:pPr marL="170713" indent="-170713">
              <a:buFont typeface="Arial" panose="020B0604020202020204" pitchFamily="34" charset="0"/>
              <a:buChar char="•"/>
              <a:defRPr/>
            </a:pPr>
            <a:r>
              <a:rPr lang="en-US" dirty="0"/>
              <a:t>Do not divulge sensitive information to individuals (including other employees) who do not have an authorized need to know it. Do not discuss sensitive information with family members. (The most common violation of this rule occurs in regard to HR information, as employees, especially supervisors, may complain to their spouse or friends about other employees or about problems that are occurring at work.)</a:t>
            </a:r>
          </a:p>
          <a:p>
            <a:pPr marL="170713" indent="-170713">
              <a:buFont typeface="Arial" panose="020B0604020202020204" pitchFamily="34" charset="0"/>
              <a:buChar char="•"/>
              <a:defRPr/>
            </a:pPr>
            <a:r>
              <a:rPr lang="en-US" dirty="0"/>
              <a:t>Protect laptops and other mobile devices that contain sensitive or important organization information wherever the device may be stored or left. (It’s a good idea to ensure that sensitive information is encrypted on the laptop or mobile device so that, should the equipment be lost or stolen, the information remains safe.)</a:t>
            </a:r>
          </a:p>
          <a:p>
            <a:pPr marL="170713" indent="-170713">
              <a:buFont typeface="Arial" panose="020B0604020202020204" pitchFamily="34" charset="0"/>
              <a:buChar char="•"/>
              <a:defRPr/>
            </a:pPr>
            <a:r>
              <a:rPr lang="en-US" dirty="0"/>
              <a:t>Be aware of who is around you when discussing sensitive corporate information. Does everybody within earshot have the need to hear this information? Enforce corporate access control procedures. Be alert to, and do not allow, piggybacking, shoulder surfing, or access without the proper credentials.</a:t>
            </a:r>
          </a:p>
          <a:p>
            <a:pPr marL="170713" indent="-170713">
              <a:buFont typeface="Arial" panose="020B0604020202020204" pitchFamily="34" charset="0"/>
              <a:buChar char="•"/>
              <a:defRPr/>
            </a:pPr>
            <a:r>
              <a:rPr lang="en-US" dirty="0"/>
              <a:t>Be aware of the correct procedures to report suspected or actual violations of security policies.</a:t>
            </a:r>
          </a:p>
          <a:p>
            <a:pPr marL="170713" indent="-170713">
              <a:buFont typeface="Arial" panose="020B0604020202020204" pitchFamily="34" charset="0"/>
              <a:buChar char="•"/>
              <a:defRPr/>
            </a:pPr>
            <a:r>
              <a:rPr lang="en-US" dirty="0"/>
              <a:t>Follow procedures established to enforce good password security practices. Passwords are such a critical element that they are frequently the ultimate target of a social engineering attack. Though such password procedures may seem too oppressive or strict, they are often the best line of defense.</a:t>
            </a:r>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8E48F75A-7A4A-4AD9-ABF8-39A58E7D9E13}" type="slidenum">
              <a:rPr lang="en-US" altLang="en-US" smtClean="0"/>
              <a:pPr/>
              <a:t>43</a:t>
            </a:fld>
            <a:endParaRPr lang="en-US" altLang="en-US" dirty="0"/>
          </a:p>
        </p:txBody>
      </p:sp>
    </p:spTree>
    <p:extLst>
      <p:ext uri="{BB962C8B-B14F-4D97-AF65-F5344CB8AC3E}">
        <p14:creationId xmlns:p14="http://schemas.microsoft.com/office/powerpoint/2010/main" val="681423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Numerous forms of legal agreements and contracts are used in business, but with respect to security, some of the most common ones are the service level agreement, business partnership agreement, memorandum of understanding, and interconnection security agreement.</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911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8980A385-914F-4754-9499-F76241930321}" type="slidenum">
              <a:rPr lang="en-US" altLang="en-US" smtClean="0"/>
              <a:pPr/>
              <a:t>45</a:t>
            </a:fld>
            <a:endParaRPr lang="en-US" altLang="en-US" dirty="0"/>
          </a:p>
        </p:txBody>
      </p:sp>
    </p:spTree>
    <p:extLst>
      <p:ext uri="{BB962C8B-B14F-4D97-AF65-F5344CB8AC3E}">
        <p14:creationId xmlns:p14="http://schemas.microsoft.com/office/powerpoint/2010/main" val="5340780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SLAs essentially set the requisite level of performance of a given contractual service. SLAs are typically included as part of a service contract and set the level of technical expectations. An SLA can define specific services, the performance level associated with a service, issue management and resolution, and so on. SLAs are negotiated between customer and supplier and represent the agreed-upon terms. An organization contracting with a service provider should remember to include in the agreement a section describing the service provider’s responsibility in terms of business continuity and disaster recovery. The provider’s backup plans and processes for restoring lost data should also be clearly described.</a:t>
            </a:r>
          </a:p>
        </p:txBody>
      </p:sp>
      <p:sp>
        <p:nvSpPr>
          <p:cNvPr id="931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BF88BFF0-7773-40CB-80D8-9B00E6A87580}" type="slidenum">
              <a:rPr lang="en-US" altLang="en-US" smtClean="0"/>
              <a:pPr/>
              <a:t>46</a:t>
            </a:fld>
            <a:endParaRPr lang="en-US" altLang="en-US" dirty="0"/>
          </a:p>
        </p:txBody>
      </p:sp>
    </p:spTree>
    <p:extLst>
      <p:ext uri="{BB962C8B-B14F-4D97-AF65-F5344CB8AC3E}">
        <p14:creationId xmlns:p14="http://schemas.microsoft.com/office/powerpoint/2010/main" val="29978824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Note: The security perimeter, with its several layers of security, along with additional security mechanisms that may be implemented on each system (such as user IDs/passwords), creates what is sometimes known as </a:t>
            </a:r>
            <a:r>
              <a:rPr lang="en-US" altLang="en-US" i="1" dirty="0">
                <a:latin typeface="Arial" panose="020B0604020202020204" pitchFamily="34" charset="0"/>
                <a:ea typeface="ＭＳ Ｐゴシック" panose="020B0600070205080204" pitchFamily="34" charset="-128"/>
              </a:rPr>
              <a:t>defense-in-depth. </a:t>
            </a:r>
            <a:r>
              <a:rPr lang="en-US" altLang="en-US" dirty="0">
                <a:latin typeface="Arial" panose="020B0604020202020204" pitchFamily="34" charset="0"/>
                <a:ea typeface="ＭＳ Ｐゴシック" panose="020B0600070205080204" pitchFamily="34" charset="-128"/>
              </a:rPr>
              <a:t>This implies that security is enhanced when there are multiple layers of security (the depth) through which an attacker would have to penetrate to reach the desired goal.</a:t>
            </a:r>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092D853E-EB8D-4DAE-A68B-6CF0749285EE}" type="slidenum">
              <a:rPr lang="en-US" altLang="en-US" smtClean="0"/>
              <a:pPr/>
              <a:t>50</a:t>
            </a:fld>
            <a:endParaRPr lang="en-US" altLang="en-US" dirty="0"/>
          </a:p>
        </p:txBody>
      </p:sp>
    </p:spTree>
    <p:extLst>
      <p:ext uri="{BB962C8B-B14F-4D97-AF65-F5344CB8AC3E}">
        <p14:creationId xmlns:p14="http://schemas.microsoft.com/office/powerpoint/2010/main" val="30682649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If the average administrator were asked to draw a diagram depicting the various components of their network, the diagram would probably look something like Figure 3.1.</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A very simple depiction—an actual network can have numerous subnets and extranets as well as wireless access points—but the basic components are present. Beyond this security perimeter is the corporate network.</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p:txBody>
      </p:sp>
      <p:sp>
        <p:nvSpPr>
          <p:cNvPr id="1003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34FAAC80-07EC-48E6-8FED-9CBD2097CAAF}" type="slidenum">
              <a:rPr lang="en-US" altLang="en-US" smtClean="0"/>
              <a:pPr/>
              <a:t>51</a:t>
            </a:fld>
            <a:endParaRPr lang="en-US" altLang="en-US" dirty="0"/>
          </a:p>
        </p:txBody>
      </p:sp>
    </p:spTree>
    <p:extLst>
      <p:ext uri="{BB962C8B-B14F-4D97-AF65-F5344CB8AC3E}">
        <p14:creationId xmlns:p14="http://schemas.microsoft.com/office/powerpoint/2010/main" val="27863592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Most experts will agree that the biggest danger to any organization does not come from external attacks but rather from the insider—a disgruntled employee or somebody else who has physical access to the facility. Given physical access to an office, the knowledgeable attacker will quickly find the information needed to gain access to the organization’s computer systems and network. Consequently, every organization also needs security policies, procedures, and guidelines that cover physical security, and every security administrator should be concerned with these as well. While physical security (which can include such things as locks, cameras, guards and entry points, alarm systems, and physical barriers) will probably not fall under the purview of the security administrator, the operational state of the organization’s physical security measures is just as important as many of the other network-centric measures.</a:t>
            </a:r>
          </a:p>
          <a:p>
            <a:endParaRPr lang="en-US" altLang="en-US" dirty="0">
              <a:latin typeface="Arial" panose="020B0604020202020204" pitchFamily="34" charset="0"/>
              <a:ea typeface="ＭＳ Ｐゴシック" panose="020B0600070205080204" pitchFamily="34" charset="-128"/>
            </a:endParaRPr>
          </a:p>
          <a:p>
            <a:r>
              <a:rPr lang="en-US" altLang="en-US" u="sng" dirty="0">
                <a:latin typeface="Arial" panose="020B0604020202020204" pitchFamily="34" charset="0"/>
                <a:ea typeface="ＭＳ Ｐゴシック" panose="020B0600070205080204" pitchFamily="34" charset="-128"/>
              </a:rPr>
              <a:t>Note</a:t>
            </a:r>
            <a:r>
              <a:rPr lang="en-US" altLang="en-US" dirty="0">
                <a:latin typeface="Arial" panose="020B0604020202020204" pitchFamily="34" charset="0"/>
                <a:ea typeface="ＭＳ Ｐゴシック" panose="020B0600070205080204" pitchFamily="34" charset="-128"/>
              </a:rPr>
              <a:t>: An increasing number of organizations are implementing VoIP solutions to bring the telephone and computer networks together. While there are some tremendous advantages to doing this in terms of both increased capabilities and potential monetary savings, bringing the two networks together may also introduce additional security concerns. Another common method to access organizational networks today is through wireless access points. These may be provided by the organization itself to enhance productivity, or they may be attached to the network by users without organizational approval. The impact of all of these additional methods that can be used to access a network is to increase the complexity of the security problem.</a:t>
            </a:r>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CFF658A8-4D38-4523-97DB-4687FBE8CB98}" type="slidenum">
              <a:rPr lang="en-US" altLang="en-US" smtClean="0"/>
              <a:pPr/>
              <a:t>52</a:t>
            </a:fld>
            <a:endParaRPr lang="en-US" altLang="en-US" dirty="0"/>
          </a:p>
        </p:txBody>
      </p:sp>
    </p:spTree>
    <p:extLst>
      <p:ext uri="{BB962C8B-B14F-4D97-AF65-F5344CB8AC3E}">
        <p14:creationId xmlns:p14="http://schemas.microsoft.com/office/powerpoint/2010/main" val="29839435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dirty="0"/>
              <a:t>Questions such as the following should be addressed:</a:t>
            </a:r>
          </a:p>
          <a:p>
            <a:pPr>
              <a:defRPr/>
            </a:pPr>
            <a:endParaRPr lang="en-US" dirty="0"/>
          </a:p>
          <a:p>
            <a:pPr marL="170713" indent="-170713">
              <a:buFont typeface="Arial" panose="020B0604020202020204" pitchFamily="34" charset="0"/>
              <a:buChar char="•"/>
              <a:defRPr/>
            </a:pPr>
            <a:r>
              <a:rPr lang="en-US" dirty="0"/>
              <a:t>Is there a false ceiling with tiles that can be easily removed?</a:t>
            </a:r>
          </a:p>
          <a:p>
            <a:pPr marL="170713" indent="-170713">
              <a:buFont typeface="Arial" panose="020B0604020202020204" pitchFamily="34" charset="0"/>
              <a:buChar char="•"/>
              <a:defRPr/>
            </a:pPr>
            <a:r>
              <a:rPr lang="en-US" dirty="0"/>
              <a:t>Do the walls extend to the actual ceiling or only to a false ceiling?</a:t>
            </a:r>
          </a:p>
          <a:p>
            <a:pPr marL="170713" indent="-170713">
              <a:buFont typeface="Arial" panose="020B0604020202020204" pitchFamily="34" charset="0"/>
              <a:buChar char="•"/>
              <a:defRPr/>
            </a:pPr>
            <a:r>
              <a:rPr lang="en-US" dirty="0"/>
              <a:t>Is there a raised floor?</a:t>
            </a:r>
          </a:p>
          <a:p>
            <a:pPr marL="170713" indent="-170713">
              <a:buFont typeface="Arial" panose="020B0604020202020204" pitchFamily="34" charset="0"/>
              <a:buChar char="•"/>
              <a:defRPr/>
            </a:pPr>
            <a:r>
              <a:rPr lang="en-US" dirty="0"/>
              <a:t>Do the walls extend to the actual floor, or do they stop at a raised floor?</a:t>
            </a:r>
          </a:p>
          <a:p>
            <a:pPr marL="170713" indent="-170713">
              <a:buFont typeface="Arial" panose="020B0604020202020204" pitchFamily="34" charset="0"/>
              <a:buChar char="•"/>
              <a:defRPr/>
            </a:pPr>
            <a:r>
              <a:rPr lang="en-US" dirty="0"/>
              <a:t>How are important systems situated?</a:t>
            </a:r>
          </a:p>
          <a:p>
            <a:pPr marL="170713" indent="-170713">
              <a:buFont typeface="Arial" panose="020B0604020202020204" pitchFamily="34" charset="0"/>
              <a:buChar char="•"/>
              <a:defRPr/>
            </a:pPr>
            <a:r>
              <a:rPr lang="en-US" dirty="0"/>
              <a:t>Do the monitors face away from windows, or could the activity of somebody at a system be monitored?</a:t>
            </a:r>
          </a:p>
          <a:p>
            <a:pPr marL="170713" indent="-170713">
              <a:buFont typeface="Arial" panose="020B0604020202020204" pitchFamily="34" charset="0"/>
              <a:buChar char="•"/>
              <a:defRPr/>
            </a:pPr>
            <a:r>
              <a:rPr lang="en-US" dirty="0"/>
              <a:t>Who has access to the facility?</a:t>
            </a:r>
          </a:p>
          <a:p>
            <a:pPr marL="170713" indent="-170713">
              <a:buFont typeface="Arial" panose="020B0604020202020204" pitchFamily="34" charset="0"/>
              <a:buChar char="•"/>
              <a:defRPr/>
            </a:pPr>
            <a:r>
              <a:rPr lang="en-US" dirty="0"/>
              <a:t>What type of access control is there, and are there any guards?</a:t>
            </a:r>
          </a:p>
          <a:p>
            <a:pPr marL="170713" indent="-170713">
              <a:buFont typeface="Arial" panose="020B0604020202020204" pitchFamily="34" charset="0"/>
              <a:buChar char="•"/>
              <a:defRPr/>
            </a:pPr>
            <a:r>
              <a:rPr lang="en-US" dirty="0"/>
              <a:t>Who is allowed unsupervised access to the facility?</a:t>
            </a:r>
          </a:p>
          <a:p>
            <a:pPr marL="170713" indent="-170713">
              <a:buFont typeface="Arial" panose="020B0604020202020204" pitchFamily="34" charset="0"/>
              <a:buChar char="•"/>
              <a:defRPr/>
            </a:pPr>
            <a:r>
              <a:rPr lang="en-US" dirty="0"/>
              <a:t>Is there an alarm system or security camera that covers the area?</a:t>
            </a:r>
          </a:p>
          <a:p>
            <a:pPr marL="170713" indent="-170713">
              <a:buFont typeface="Arial" panose="020B0604020202020204" pitchFamily="34" charset="0"/>
              <a:buChar char="•"/>
              <a:defRPr/>
            </a:pPr>
            <a:r>
              <a:rPr lang="en-US" dirty="0"/>
              <a:t>What procedures govern the monitoring of the alarm system or security camera and the response should unauthorized activity be detected?</a:t>
            </a:r>
          </a:p>
        </p:txBody>
      </p:sp>
      <p:sp>
        <p:nvSpPr>
          <p:cNvPr id="1054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a:solidFill>
                  <a:schemeClr val="tx1"/>
                </a:solidFill>
                <a:latin typeface="Arial" panose="020B0604020202020204" pitchFamily="34" charset="0"/>
                <a:ea typeface="ヒラギノ角ゴ Pro W3" pitchFamily="-112" charset="-128"/>
              </a:defRPr>
            </a:lvl1pPr>
            <a:lvl2pPr marL="738188" indent="-284163" defTabSz="938213">
              <a:defRPr>
                <a:solidFill>
                  <a:schemeClr val="tx1"/>
                </a:solidFill>
                <a:latin typeface="Arial" panose="020B0604020202020204" pitchFamily="34" charset="0"/>
                <a:ea typeface="ヒラギノ角ゴ Pro W3" pitchFamily="-112" charset="-128"/>
              </a:defRPr>
            </a:lvl2pPr>
            <a:lvl3pPr marL="1136650" indent="-227013" defTabSz="938213">
              <a:defRPr>
                <a:solidFill>
                  <a:schemeClr val="tx1"/>
                </a:solidFill>
                <a:latin typeface="Arial" panose="020B0604020202020204" pitchFamily="34" charset="0"/>
                <a:ea typeface="ヒラギノ角ゴ Pro W3" pitchFamily="-112" charset="-128"/>
              </a:defRPr>
            </a:lvl3pPr>
            <a:lvl4pPr marL="1592263" indent="-227013" defTabSz="938213">
              <a:defRPr>
                <a:solidFill>
                  <a:schemeClr val="tx1"/>
                </a:solidFill>
                <a:latin typeface="Arial" panose="020B0604020202020204" pitchFamily="34" charset="0"/>
                <a:ea typeface="ヒラギノ角ゴ Pro W3" pitchFamily="-112" charset="-128"/>
              </a:defRPr>
            </a:lvl4pPr>
            <a:lvl5pPr marL="2047875" indent="-227013" defTabSz="938213">
              <a:defRPr>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0"/>
              </a:spcBef>
              <a:spcAft>
                <a:spcPct val="0"/>
              </a:spcAft>
              <a:defRPr>
                <a:solidFill>
                  <a:schemeClr val="tx1"/>
                </a:solidFill>
                <a:latin typeface="Arial" panose="020B0604020202020204" pitchFamily="34" charset="0"/>
                <a:ea typeface="ヒラギノ角ゴ Pro W3" pitchFamily="-112" charset="-128"/>
              </a:defRPr>
            </a:lvl9pPr>
          </a:lstStyle>
          <a:p>
            <a:fld id="{AA6D825E-5A80-4691-9A12-B17F0AE62019}" type="slidenum">
              <a:rPr lang="en-US" altLang="en-US" smtClean="0"/>
              <a:pPr/>
              <a:t>54</a:t>
            </a:fld>
            <a:endParaRPr lang="en-US" altLang="en-US" dirty="0"/>
          </a:p>
        </p:txBody>
      </p:sp>
    </p:spTree>
    <p:extLst>
      <p:ext uri="{BB962C8B-B14F-4D97-AF65-F5344CB8AC3E}">
        <p14:creationId xmlns:p14="http://schemas.microsoft.com/office/powerpoint/2010/main" val="2339040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a:ln/>
        </p:spPr>
      </p:sp>
      <p:sp>
        <p:nvSpPr>
          <p:cNvPr id="1280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lnSpc>
                <a:spcPct val="80000"/>
              </a:lnSpc>
              <a:buFontTx/>
              <a:buNone/>
            </a:pPr>
            <a:endParaRPr lang="en-US" altLang="en-US" sz="500" dirty="0">
              <a:latin typeface="Calibri" panose="020F0502020204030204" pitchFamily="34" charset="0"/>
              <a:ea typeface="ＭＳ Ｐゴシック" panose="020B0600070205080204" pitchFamily="34" charset="-128"/>
            </a:endParaRPr>
          </a:p>
        </p:txBody>
      </p:sp>
      <p:sp>
        <p:nvSpPr>
          <p:cNvPr id="1280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Arial" panose="020B0604020202020204" pitchFamily="34" charset="0"/>
                <a:ea typeface="ＭＳ Ｐゴシック" panose="020B0600070205080204" pitchFamily="34" charset="-128"/>
              </a:defRPr>
            </a:lvl1pPr>
            <a:lvl2pPr marL="738188" indent="-284163" defTabSz="938213">
              <a:spcBef>
                <a:spcPct val="30000"/>
              </a:spcBef>
              <a:defRPr sz="1200">
                <a:solidFill>
                  <a:schemeClr val="tx1"/>
                </a:solidFill>
                <a:latin typeface="Arial" panose="020B0604020202020204" pitchFamily="34" charset="0"/>
                <a:ea typeface="ＭＳ Ｐゴシック" panose="020B0600070205080204" pitchFamily="34" charset="-128"/>
              </a:defRPr>
            </a:lvl2pPr>
            <a:lvl3pPr marL="1136650" indent="-227013" defTabSz="938213">
              <a:spcBef>
                <a:spcPct val="30000"/>
              </a:spcBef>
              <a:defRPr sz="1200">
                <a:solidFill>
                  <a:schemeClr val="tx1"/>
                </a:solidFill>
                <a:latin typeface="Arial" panose="020B0604020202020204" pitchFamily="34" charset="0"/>
                <a:ea typeface="ヒラギノ角ゴ Pro W3" pitchFamily="-112" charset="-128"/>
              </a:defRPr>
            </a:lvl3pPr>
            <a:lvl4pPr marL="1592263" indent="-227013" defTabSz="938213">
              <a:spcBef>
                <a:spcPct val="30000"/>
              </a:spcBef>
              <a:defRPr sz="1200">
                <a:solidFill>
                  <a:schemeClr val="tx1"/>
                </a:solidFill>
                <a:latin typeface="Arial" panose="020B0604020202020204" pitchFamily="34" charset="0"/>
                <a:ea typeface="ヒラギノ角ゴ Pro W3" pitchFamily="-112" charset="-128"/>
              </a:defRPr>
            </a:lvl4pPr>
            <a:lvl5pPr marL="2047875" indent="-227013" defTabSz="938213">
              <a:spcBef>
                <a:spcPct val="30000"/>
              </a:spcBef>
              <a:defRPr sz="1200">
                <a:solidFill>
                  <a:schemeClr val="tx1"/>
                </a:solidFill>
                <a:latin typeface="Arial" panose="020B0604020202020204" pitchFamily="34" charset="0"/>
                <a:ea typeface="ヒラギノ角ゴ Pro W3" pitchFamily="-112" charset="-128"/>
              </a:defRPr>
            </a:lvl5pPr>
            <a:lvl6pPr marL="25050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6pPr>
            <a:lvl7pPr marL="29622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7pPr>
            <a:lvl8pPr marL="34194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8pPr>
            <a:lvl9pPr marL="3876675" indent="-227013" defTabSz="938213" eaLnBrk="0" fontAlgn="base" hangingPunct="0">
              <a:spcBef>
                <a:spcPct val="30000"/>
              </a:spcBef>
              <a:spcAft>
                <a:spcPct val="0"/>
              </a:spcAft>
              <a:defRPr sz="1200">
                <a:solidFill>
                  <a:schemeClr val="tx1"/>
                </a:solidFill>
                <a:latin typeface="Arial" panose="020B0604020202020204" pitchFamily="34" charset="0"/>
                <a:ea typeface="ヒラギノ角ゴ Pro W3" pitchFamily="-112" charset="-128"/>
              </a:defRPr>
            </a:lvl9pPr>
          </a:lstStyle>
          <a:p>
            <a:pPr>
              <a:spcBef>
                <a:spcPct val="0"/>
              </a:spcBef>
            </a:pPr>
            <a:fld id="{570040A6-E440-4B90-8B6E-9CF0CEECB3C7}" type="slidenum">
              <a:rPr lang="en-US" altLang="en-US" smtClean="0">
                <a:ea typeface="ヒラギノ角ゴ Pro W3" pitchFamily="-112" charset="-128"/>
              </a:rPr>
              <a:pPr>
                <a:spcBef>
                  <a:spcPct val="0"/>
                </a:spcBef>
              </a:pPr>
              <a:t>55</a:t>
            </a:fld>
            <a:endParaRPr lang="en-US" altLang="en-US" dirty="0">
              <a:ea typeface="ヒラギノ角ゴ Pro W3" pitchFamily="-112" charset="-128"/>
            </a:endParaRPr>
          </a:p>
        </p:txBody>
      </p:sp>
    </p:spTree>
    <p:extLst>
      <p:ext uri="{BB962C8B-B14F-4D97-AF65-F5344CB8AC3E}">
        <p14:creationId xmlns:p14="http://schemas.microsoft.com/office/powerpoint/2010/main" val="28255261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smtClean="0"/>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42D97CC6-044D-4159-BCFA-326281C52F73}" type="datetimeFigureOut">
              <a:rPr lang="en-US" smtClean="0"/>
              <a:t>2/15/2023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4147594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D97CC6-044D-4159-BCFA-326281C52F73}" type="datetimeFigureOut">
              <a:rPr lang="en-US" smtClean="0"/>
              <a:t>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4036442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smtClean="0"/>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2D97CC6-044D-4159-BCFA-326281C52F73}" type="datetimeFigureOut">
              <a:rPr lang="en-US" smtClean="0"/>
              <a:t>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3751960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2D97CC6-044D-4159-BCFA-326281C52F73}" type="datetimeFigureOut">
              <a:rPr lang="en-US" smtClean="0"/>
              <a:t>2/15/2023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2843869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2D97CC6-044D-4159-BCFA-326281C52F73}" type="datetimeFigureOut">
              <a:rPr lang="en-US" smtClean="0"/>
              <a:t>2/15/2023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4057137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2D97CC6-044D-4159-BCFA-326281C52F73}" type="datetimeFigureOut">
              <a:rPr lang="en-US" smtClean="0"/>
              <a:t>2/15/2023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1756542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D97CC6-044D-4159-BCFA-326281C52F73}" type="datetimeFigureOut">
              <a:rPr lang="en-US" smtClean="0"/>
              <a:t>2/15/2023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1620607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D97CC6-044D-4159-BCFA-326281C52F73}" type="datetimeFigureOut">
              <a:rPr lang="en-US" smtClean="0"/>
              <a:t>2/15/2023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3761674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D97CC6-044D-4159-BCFA-326281C52F73}" type="datetimeFigureOut">
              <a:rPr lang="en-US" smtClean="0"/>
              <a:t>2/15/2023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171173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D97CC6-044D-4159-BCFA-326281C52F73}" type="datetimeFigureOut">
              <a:rPr lang="en-US" smtClean="0"/>
              <a:t>2/15/2023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66249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D97CC6-044D-4159-BCFA-326281C52F73}" type="datetimeFigureOut">
              <a:rPr lang="en-US" smtClean="0"/>
              <a:t>2/15/2023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3395160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D97CC6-044D-4159-BCFA-326281C52F73}" type="datetimeFigureOut">
              <a:rPr lang="en-US" smtClean="0"/>
              <a:t>2/15/2023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37671A-B410-4B60-8450-DB2BE3297E13}" type="slidenum">
              <a:rPr lang="en-US" smtClean="0"/>
              <a:t>‹#›</a:t>
            </a:fld>
            <a:endParaRPr 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3327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smtClean="0"/>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D97CC6-044D-4159-BCFA-326281C52F73}" type="datetimeFigureOut">
              <a:rPr lang="en-US" smtClean="0"/>
              <a:t>2/15/2023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33526264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2D97CC6-044D-4159-BCFA-326281C52F73}" type="datetimeFigureOut">
              <a:rPr lang="en-US" smtClean="0"/>
              <a:t>2/15/2023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12242398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2D97CC6-044D-4159-BCFA-326281C52F73}" type="datetimeFigureOut">
              <a:rPr lang="en-US" smtClean="0"/>
              <a:t>2/15/2023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1275303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D97CC6-044D-4159-BCFA-326281C52F73}" type="datetimeFigureOut">
              <a:rPr lang="en-US" smtClean="0"/>
              <a:t>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21726341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D97CC6-044D-4159-BCFA-326281C52F73}" type="datetimeFigureOut">
              <a:rPr lang="en-US" smtClean="0"/>
              <a:t>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37671A-B410-4B60-8450-DB2BE3297E13}" type="slidenum">
              <a:rPr lang="en-US" smtClean="0"/>
              <a:t>‹#›</a:t>
            </a:fld>
            <a:endParaRPr lang="en-US"/>
          </a:p>
        </p:txBody>
      </p:sp>
    </p:spTree>
    <p:extLst>
      <p:ext uri="{BB962C8B-B14F-4D97-AF65-F5344CB8AC3E}">
        <p14:creationId xmlns:p14="http://schemas.microsoft.com/office/powerpoint/2010/main" val="144592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2D97CC6-044D-4159-BCFA-326281C52F73}" type="datetimeFigureOut">
              <a:rPr lang="en-US" smtClean="0"/>
              <a:t>2/15/2023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3B37671A-B410-4B60-8450-DB2BE3297E13}" type="slidenum">
              <a:rPr lang="en-US" smtClean="0"/>
              <a:t>‹#›</a:t>
            </a:fld>
            <a:endParaRPr lang="en-US"/>
          </a:p>
        </p:txBody>
      </p:sp>
    </p:spTree>
    <p:extLst>
      <p:ext uri="{BB962C8B-B14F-4D97-AF65-F5344CB8AC3E}">
        <p14:creationId xmlns:p14="http://schemas.microsoft.com/office/powerpoint/2010/main" val="13739036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38299" y="2882901"/>
            <a:ext cx="9144000" cy="1235300"/>
          </a:xfrm>
        </p:spPr>
        <p:txBody>
          <a:bodyPr>
            <a:noAutofit/>
          </a:bodyPr>
          <a:lstStyle/>
          <a:p>
            <a:pPr algn="ctr"/>
            <a:r>
              <a:rPr lang="en-US" sz="8000" dirty="0" smtClean="0">
                <a:latin typeface="Times New Roman" panose="02020603050405020304" pitchFamily="18" charset="0"/>
                <a:cs typeface="Times New Roman" panose="02020603050405020304" pitchFamily="18" charset="0"/>
              </a:rPr>
              <a:t>INFT 413</a:t>
            </a:r>
            <a:endParaRPr lang="en-US" sz="8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7540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0600" y="558801"/>
            <a:ext cx="1752600" cy="5689600"/>
          </a:xfrm>
        </p:spPr>
        <p:txBody>
          <a:bodyPr>
            <a:noAutofit/>
          </a:bodyPr>
          <a:lstStyle/>
          <a:p>
            <a:r>
              <a:rPr lang="en-US" sz="28700" b="1" dirty="0" smtClean="0">
                <a:solidFill>
                  <a:srgbClr val="FF0000"/>
                </a:solidFill>
                <a:latin typeface="Times New Roman" panose="02020603050405020304" pitchFamily="18" charset="0"/>
                <a:cs typeface="Times New Roman" panose="02020603050405020304" pitchFamily="18" charset="0"/>
              </a:rPr>
              <a:t>2</a:t>
            </a:r>
            <a:endParaRPr lang="en-US" sz="287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600700" y="2549525"/>
            <a:ext cx="5943600" cy="2047875"/>
          </a:xfrm>
        </p:spPr>
        <p:txBody>
          <a:bodyPr>
            <a:noAutofit/>
          </a:bodyPr>
          <a:lstStyle/>
          <a:p>
            <a:pPr marL="0" indent="0" algn="ctr">
              <a:buNone/>
            </a:pPr>
            <a:r>
              <a:rPr lang="en-US" sz="4800" b="1" dirty="0" smtClean="0">
                <a:latin typeface="Times New Roman" panose="02020603050405020304" pitchFamily="18" charset="0"/>
                <a:cs typeface="Times New Roman" panose="02020603050405020304" pitchFamily="18" charset="0"/>
              </a:rPr>
              <a:t>ORGANIZATIONAL SECURITY PLANNING</a:t>
            </a:r>
            <a:endParaRPr lang="en-US"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0297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8425"/>
            <a:ext cx="10515600" cy="892175"/>
          </a:xfrm>
        </p:spPr>
        <p:txBody>
          <a:bodyPr/>
          <a:lstStyle/>
          <a:p>
            <a:pPr algn="ctr"/>
            <a:r>
              <a:rPr lang="en-US" altLang="en-US" dirty="0">
                <a:ea typeface="ＭＳ Ｐゴシック" panose="020B0600070205080204" pitchFamily="34" charset="-128"/>
              </a:rPr>
              <a:t>Objectives</a:t>
            </a:r>
            <a:endParaRPr lang="en-US" dirty="0"/>
          </a:p>
        </p:txBody>
      </p:sp>
      <p:sp>
        <p:nvSpPr>
          <p:cNvPr id="3" name="Content Placeholder 2"/>
          <p:cNvSpPr>
            <a:spLocks noGrp="1"/>
          </p:cNvSpPr>
          <p:nvPr>
            <p:ph idx="1"/>
          </p:nvPr>
        </p:nvSpPr>
        <p:spPr>
          <a:xfrm>
            <a:off x="1120000" y="1435100"/>
            <a:ext cx="10233800" cy="4741863"/>
          </a:xfrm>
        </p:spPr>
        <p:txBody>
          <a:bodyPr>
            <a:normAutofit/>
          </a:bodyPr>
          <a:lstStyle/>
          <a:p>
            <a:pPr algn="just"/>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Identify various operational aspects to security in your organization.</a:t>
            </a:r>
          </a:p>
          <a:p>
            <a:pPr algn="just"/>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Identify various policies and procedures in your organization.</a:t>
            </a:r>
          </a:p>
          <a:p>
            <a:pPr algn="just"/>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Identify the security awareness and training needs of an organization.</a:t>
            </a:r>
          </a:p>
          <a:p>
            <a:pPr algn="just"/>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Understand the different types of agreements employed in negotiating security requirements.</a:t>
            </a:r>
          </a:p>
          <a:p>
            <a:pPr algn="just"/>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3152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1231900" y="0"/>
            <a:ext cx="9118600" cy="1193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pPr algn="ctr" eaLnBrk="1" hangingPunct="1"/>
            <a:r>
              <a:rPr lang="en-US" altLang="en-US" sz="4400" b="1" dirty="0">
                <a:latin typeface="Times New Roman" panose="02020603050405020304" pitchFamily="18" charset="0"/>
                <a:cs typeface="Times New Roman" panose="02020603050405020304" pitchFamily="18" charset="0"/>
              </a:rPr>
              <a:t>Policies, Procedures, Standards,</a:t>
            </a:r>
            <a:br>
              <a:rPr lang="en-US" altLang="en-US" sz="4400" b="1" dirty="0">
                <a:latin typeface="Times New Roman" panose="02020603050405020304" pitchFamily="18" charset="0"/>
                <a:cs typeface="Times New Roman" panose="02020603050405020304" pitchFamily="18" charset="0"/>
              </a:rPr>
            </a:br>
            <a:r>
              <a:rPr lang="en-US" altLang="en-US" sz="4400" b="1" dirty="0">
                <a:latin typeface="Times New Roman" panose="02020603050405020304" pitchFamily="18" charset="0"/>
                <a:cs typeface="Times New Roman" panose="02020603050405020304" pitchFamily="18" charset="0"/>
              </a:rPr>
              <a:t>and </a:t>
            </a:r>
            <a:r>
              <a:rPr lang="en-US" altLang="en-US" sz="4400" b="1" dirty="0" smtClean="0">
                <a:latin typeface="Times New Roman" panose="02020603050405020304" pitchFamily="18" charset="0"/>
                <a:cs typeface="Times New Roman" panose="02020603050405020304" pitchFamily="18" charset="0"/>
              </a:rPr>
              <a:t>Guidelines</a:t>
            </a:r>
            <a:endParaRPr lang="en-US" altLang="en-US" sz="4400" b="1" dirty="0">
              <a:latin typeface="Times New Roman" panose="02020603050405020304" pitchFamily="18" charset="0"/>
              <a:cs typeface="Times New Roman" panose="02020603050405020304" pitchFamily="18" charset="0"/>
            </a:endParaRPr>
          </a:p>
        </p:txBody>
      </p:sp>
      <p:sp>
        <p:nvSpPr>
          <p:cNvPr id="21507" name="Content Placeholder 2"/>
          <p:cNvSpPr>
            <a:spLocks noGrp="1"/>
          </p:cNvSpPr>
          <p:nvPr>
            <p:ph idx="1"/>
          </p:nvPr>
        </p:nvSpPr>
        <p:spPr>
          <a:xfrm>
            <a:off x="1231900" y="1798636"/>
            <a:ext cx="9715500" cy="4500564"/>
          </a:xfrm>
        </p:spPr>
        <p:txBody>
          <a:bodyPr>
            <a:normAutofit/>
          </a:bodyPr>
          <a:lstStyle/>
          <a:p>
            <a:pPr algn="just" eaLnBrk="1" hangingPunct="1">
              <a:buFont typeface="Wingdings" panose="05000000000000000000" pitchFamily="2" charset="2"/>
              <a:buChar char="v"/>
            </a:pPr>
            <a:r>
              <a:rPr lang="en-US" altLang="en-US" sz="3200" b="1" dirty="0">
                <a:latin typeface="Times New Roman" panose="02020603050405020304" pitchFamily="18" charset="0"/>
                <a:ea typeface="ＭＳ Ｐゴシック" panose="020B0600070205080204" pitchFamily="34" charset="-128"/>
                <a:cs typeface="Times New Roman" panose="02020603050405020304" pitchFamily="18" charset="0"/>
              </a:rPr>
              <a:t>Policies</a:t>
            </a: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 – high-level, broad statements of what the organization wants to accomplish</a:t>
            </a:r>
          </a:p>
          <a:p>
            <a:pPr lvl="1" algn="just" eaLnBrk="1" hangingPunct="1"/>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Made by management when laying out the organization’s position on some </a:t>
            </a:r>
            <a:r>
              <a:rPr lang="en-US" altLang="en-US" sz="3200" dirty="0" smtClean="0">
                <a:latin typeface="Times New Roman" panose="02020603050405020304" pitchFamily="18" charset="0"/>
                <a:ea typeface="ＭＳ Ｐゴシック" panose="020B0600070205080204" pitchFamily="34" charset="-128"/>
                <a:cs typeface="Times New Roman" panose="02020603050405020304" pitchFamily="18" charset="0"/>
              </a:rPr>
              <a:t>issue</a:t>
            </a:r>
          </a:p>
          <a:p>
            <a:pPr lvl="1" algn="just" eaLnBrk="1" hangingPunct="1"/>
            <a:endPar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buFont typeface="Wingdings" panose="05000000000000000000" pitchFamily="2" charset="2"/>
              <a:buChar char="v"/>
            </a:pPr>
            <a:r>
              <a:rPr lang="en-US" altLang="en-US" sz="3200" b="1" dirty="0">
                <a:latin typeface="Times New Roman" panose="02020603050405020304" pitchFamily="18" charset="0"/>
                <a:ea typeface="ＭＳ Ｐゴシック" panose="020B0600070205080204" pitchFamily="34" charset="-128"/>
                <a:cs typeface="Times New Roman" panose="02020603050405020304" pitchFamily="18" charset="0"/>
              </a:rPr>
              <a:t>Procedures</a:t>
            </a: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 – step-by-step instructions on how to implement policies in the organization</a:t>
            </a:r>
          </a:p>
          <a:p>
            <a:pPr lvl="1" algn="just" eaLnBrk="1" hangingPunct="1"/>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Describe exactly how employees are expected to act in a given situation or to accomplish a specific task</a:t>
            </a:r>
          </a:p>
        </p:txBody>
      </p:sp>
    </p:spTree>
    <p:extLst>
      <p:ext uri="{BB962C8B-B14F-4D97-AF65-F5344CB8AC3E}">
        <p14:creationId xmlns:p14="http://schemas.microsoft.com/office/powerpoint/2010/main" val="2945678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bwMode="auto">
          <a:xfrm>
            <a:off x="1930400" y="0"/>
            <a:ext cx="8229600" cy="121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pPr algn="ctr" eaLnBrk="1" hangingPunct="1"/>
            <a:r>
              <a:rPr lang="en-US" altLang="en-US" sz="4400" b="1" dirty="0">
                <a:latin typeface="Times New Roman" panose="02020603050405020304" pitchFamily="18" charset="0"/>
                <a:cs typeface="Times New Roman" panose="02020603050405020304" pitchFamily="18" charset="0"/>
              </a:rPr>
              <a:t>Policies, Procedures, Standards,</a:t>
            </a:r>
            <a:br>
              <a:rPr lang="en-US" altLang="en-US" sz="4400" b="1" dirty="0">
                <a:latin typeface="Times New Roman" panose="02020603050405020304" pitchFamily="18" charset="0"/>
                <a:cs typeface="Times New Roman" panose="02020603050405020304" pitchFamily="18" charset="0"/>
              </a:rPr>
            </a:br>
            <a:r>
              <a:rPr lang="en-US" altLang="en-US" sz="4400" b="1" dirty="0">
                <a:latin typeface="Times New Roman" panose="02020603050405020304" pitchFamily="18" charset="0"/>
                <a:cs typeface="Times New Roman" panose="02020603050405020304" pitchFamily="18" charset="0"/>
              </a:rPr>
              <a:t>and </a:t>
            </a:r>
            <a:r>
              <a:rPr lang="en-US" altLang="en-US" sz="4400" b="1" dirty="0" smtClean="0">
                <a:latin typeface="Times New Roman" panose="02020603050405020304" pitchFamily="18" charset="0"/>
                <a:cs typeface="Times New Roman" panose="02020603050405020304" pitchFamily="18" charset="0"/>
              </a:rPr>
              <a:t>Guidelines</a:t>
            </a:r>
            <a:endParaRPr lang="en-US" altLang="en-US" sz="4400" b="1" dirty="0">
              <a:latin typeface="Times New Roman" panose="02020603050405020304" pitchFamily="18" charset="0"/>
              <a:cs typeface="Times New Roman" panose="02020603050405020304" pitchFamily="18" charset="0"/>
            </a:endParaRPr>
          </a:p>
        </p:txBody>
      </p:sp>
      <p:sp>
        <p:nvSpPr>
          <p:cNvPr id="23555" name="Content Placeholder 2"/>
          <p:cNvSpPr>
            <a:spLocks noGrp="1"/>
          </p:cNvSpPr>
          <p:nvPr>
            <p:ph idx="1"/>
          </p:nvPr>
        </p:nvSpPr>
        <p:spPr>
          <a:xfrm>
            <a:off x="1549400" y="1587500"/>
            <a:ext cx="9321800" cy="4940300"/>
          </a:xfrm>
        </p:spPr>
        <p:txBody>
          <a:bodyPr>
            <a:normAutofit/>
          </a:bodyPr>
          <a:lstStyle/>
          <a:p>
            <a:pPr algn="just" eaLnBrk="1" hangingPunct="1">
              <a:buFont typeface="Wingdings" panose="05000000000000000000" pitchFamily="2" charset="2"/>
              <a:buChar char="v"/>
            </a:pPr>
            <a:r>
              <a:rPr lang="en-US" altLang="en-US" sz="3200" b="1" dirty="0">
                <a:latin typeface="Times New Roman" panose="02020603050405020304" pitchFamily="18" charset="0"/>
                <a:ea typeface="ＭＳ Ｐゴシック" panose="020B0600070205080204" pitchFamily="34" charset="-128"/>
                <a:cs typeface="Times New Roman" panose="02020603050405020304" pitchFamily="18" charset="0"/>
              </a:rPr>
              <a:t>Standards</a:t>
            </a: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 </a:t>
            </a:r>
            <a:r>
              <a:rPr lang="en-US" altLang="en-US" sz="3200" dirty="0">
                <a:latin typeface="Times New Roman" panose="02020603050405020304" pitchFamily="18" charset="0"/>
                <a:ea typeface="ヒラギノ角ゴ Pro W3" pitchFamily="-112" charset="-128"/>
                <a:cs typeface="Times New Roman" panose="02020603050405020304" pitchFamily="18" charset="0"/>
              </a:rPr>
              <a:t>– </a:t>
            </a: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mandatory elements regarding the implementation of a policy</a:t>
            </a:r>
          </a:p>
          <a:p>
            <a:pPr lvl="1" algn="just" eaLnBrk="1" hangingPunct="1"/>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Accepted specifications providing specific details on how a policy is to be enforced</a:t>
            </a:r>
          </a:p>
          <a:p>
            <a:pPr lvl="1" algn="just" eaLnBrk="1" hangingPunct="1"/>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Possibly externally </a:t>
            </a:r>
            <a:r>
              <a:rPr lang="en-US" altLang="en-US" sz="3200" dirty="0" smtClean="0">
                <a:latin typeface="Times New Roman" panose="02020603050405020304" pitchFamily="18" charset="0"/>
                <a:ea typeface="ＭＳ Ｐゴシック" panose="020B0600070205080204" pitchFamily="34" charset="-128"/>
                <a:cs typeface="Times New Roman" panose="02020603050405020304" pitchFamily="18" charset="0"/>
              </a:rPr>
              <a:t>driven</a:t>
            </a:r>
          </a:p>
          <a:p>
            <a:pPr marL="457200" lvl="1" indent="0" algn="just" eaLnBrk="1" hangingPunct="1">
              <a:buNone/>
            </a:pPr>
            <a:endPar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buFont typeface="Wingdings" panose="05000000000000000000" pitchFamily="2" charset="2"/>
              <a:buChar char="v"/>
              <a:tabLst>
                <a:tab pos="457200" algn="l"/>
              </a:tabLst>
            </a:pPr>
            <a:r>
              <a:rPr lang="en-US" altLang="en-US" sz="3200" b="1" dirty="0">
                <a:latin typeface="Times New Roman" panose="02020603050405020304" pitchFamily="18" charset="0"/>
                <a:ea typeface="ＭＳ Ｐゴシック" panose="020B0600070205080204" pitchFamily="34" charset="-128"/>
                <a:cs typeface="Times New Roman" panose="02020603050405020304" pitchFamily="18" charset="0"/>
              </a:rPr>
              <a:t>Guidelines</a:t>
            </a: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 </a:t>
            </a:r>
            <a:r>
              <a:rPr lang="en-US" altLang="en-US" sz="3200" dirty="0">
                <a:latin typeface="Times New Roman" panose="02020603050405020304" pitchFamily="18" charset="0"/>
                <a:ea typeface="ヒラギノ角ゴ Pro W3" pitchFamily="-112" charset="-128"/>
                <a:cs typeface="Times New Roman" panose="02020603050405020304" pitchFamily="18" charset="0"/>
              </a:rPr>
              <a:t>– </a:t>
            </a: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recommendations relating to a policy</a:t>
            </a:r>
          </a:p>
          <a:p>
            <a:pPr lvl="1" algn="just" eaLnBrk="1" hangingPunct="1"/>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Key term: </a:t>
            </a:r>
            <a:r>
              <a:rPr lang="en-US" altLang="en-US" sz="3200" i="1" dirty="0">
                <a:latin typeface="Times New Roman" panose="02020603050405020304" pitchFamily="18" charset="0"/>
                <a:ea typeface="ＭＳ Ｐゴシック" panose="020B0600070205080204" pitchFamily="34" charset="-128"/>
                <a:cs typeface="Times New Roman" panose="02020603050405020304" pitchFamily="18" charset="0"/>
              </a:rPr>
              <a:t>recommendations</a:t>
            </a:r>
          </a:p>
          <a:p>
            <a:pPr lvl="2" algn="just" eaLnBrk="1" hangingPunct="1"/>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Not mandatory steps</a:t>
            </a:r>
          </a:p>
        </p:txBody>
      </p:sp>
    </p:spTree>
    <p:extLst>
      <p:ext uri="{BB962C8B-B14F-4D97-AF65-F5344CB8AC3E}">
        <p14:creationId xmlns:p14="http://schemas.microsoft.com/office/powerpoint/2010/main" val="4278480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bwMode="auto">
          <a:xfrm>
            <a:off x="1828800" y="0"/>
            <a:ext cx="8229600" cy="11763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pPr algn="ctr" eaLnBrk="1" hangingPunct="1"/>
            <a:r>
              <a:rPr lang="en-US" altLang="en-US" sz="4400" b="1" dirty="0">
                <a:latin typeface="Times New Roman" panose="02020603050405020304" pitchFamily="18" charset="0"/>
                <a:cs typeface="Times New Roman" panose="02020603050405020304" pitchFamily="18" charset="0"/>
              </a:rPr>
              <a:t>Policies, Procedures, Standards,</a:t>
            </a:r>
            <a:br>
              <a:rPr lang="en-US" altLang="en-US" sz="4400" b="1" dirty="0">
                <a:latin typeface="Times New Roman" panose="02020603050405020304" pitchFamily="18" charset="0"/>
                <a:cs typeface="Times New Roman" panose="02020603050405020304" pitchFamily="18" charset="0"/>
              </a:rPr>
            </a:br>
            <a:r>
              <a:rPr lang="en-US" altLang="en-US" sz="4400" b="1" dirty="0">
                <a:latin typeface="Times New Roman" panose="02020603050405020304" pitchFamily="18" charset="0"/>
                <a:cs typeface="Times New Roman" panose="02020603050405020304" pitchFamily="18" charset="0"/>
              </a:rPr>
              <a:t>and </a:t>
            </a:r>
            <a:r>
              <a:rPr lang="en-US" altLang="en-US" sz="4400" b="1" dirty="0" smtClean="0">
                <a:latin typeface="Times New Roman" panose="02020603050405020304" pitchFamily="18" charset="0"/>
                <a:cs typeface="Times New Roman" panose="02020603050405020304" pitchFamily="18" charset="0"/>
              </a:rPr>
              <a:t>Guidelines</a:t>
            </a:r>
            <a:endParaRPr lang="en-US" altLang="en-US" sz="4400" b="1" dirty="0">
              <a:latin typeface="Times New Roman" panose="02020603050405020304" pitchFamily="18" charset="0"/>
              <a:cs typeface="Times New Roman" panose="02020603050405020304" pitchFamily="18" charset="0"/>
            </a:endParaRPr>
          </a:p>
        </p:txBody>
      </p:sp>
      <p:sp>
        <p:nvSpPr>
          <p:cNvPr id="25603" name="Content Placeholder 2"/>
          <p:cNvSpPr>
            <a:spLocks noGrp="1"/>
          </p:cNvSpPr>
          <p:nvPr>
            <p:ph idx="1"/>
          </p:nvPr>
        </p:nvSpPr>
        <p:spPr>
          <a:xfrm>
            <a:off x="1098550" y="1176337"/>
            <a:ext cx="9690100" cy="5257800"/>
          </a:xfrm>
        </p:spPr>
        <p:txBody>
          <a:bodyPr>
            <a:noAutofit/>
          </a:bodyPr>
          <a:lstStyle/>
          <a:p>
            <a:pPr eaLnBrk="1" hangingPunct="1"/>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Four steps of the policy </a:t>
            </a:r>
            <a:r>
              <a:rPr lang="en-US" altLang="en-US" sz="3200" dirty="0" smtClean="0">
                <a:latin typeface="Times New Roman" panose="02020603050405020304" pitchFamily="18" charset="0"/>
                <a:ea typeface="ＭＳ Ｐゴシック" panose="020B0600070205080204" pitchFamily="34" charset="-128"/>
                <a:cs typeface="Times New Roman" panose="02020603050405020304" pitchFamily="18" charset="0"/>
              </a:rPr>
              <a:t>lifecycle</a:t>
            </a:r>
          </a:p>
          <a:p>
            <a:pPr eaLnBrk="1" hangingPunct="1"/>
            <a:endPar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endParaRPr>
          </a:p>
          <a:p>
            <a:pPr marL="914400" lvl="1" indent="-514350">
              <a:buFont typeface="Calibri" panose="020F0502020204030204" pitchFamily="34" charset="0"/>
              <a:buAutoNum type="arabicPeriod"/>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Plan (adjust) for security in your organization.</a:t>
            </a:r>
          </a:p>
          <a:p>
            <a:pPr marL="1314450" lvl="2" indent="-514350">
              <a:buFont typeface="Wingdings" panose="05000000000000000000" pitchFamily="2" charset="2"/>
              <a:buChar char="ü"/>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D</a:t>
            </a:r>
            <a:r>
              <a:rPr lang="en-US" altLang="en-US" sz="3200" dirty="0">
                <a:latin typeface="Times New Roman" panose="02020603050405020304" pitchFamily="18" charset="0"/>
                <a:cs typeface="Times New Roman" panose="02020603050405020304" pitchFamily="18" charset="0"/>
              </a:rPr>
              <a:t>evelop the policies, procedures, and guidelines</a:t>
            </a:r>
            <a:endPar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endParaRPr>
          </a:p>
          <a:p>
            <a:pPr marL="914400" lvl="1" indent="-514350">
              <a:buFont typeface="Calibri" panose="020F0502020204030204" pitchFamily="34" charset="0"/>
              <a:buAutoNum type="arabicPeriod"/>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Implement the plans.</a:t>
            </a:r>
          </a:p>
          <a:p>
            <a:pPr marL="1314450" lvl="2" indent="-514350">
              <a:buFont typeface="Wingdings" panose="05000000000000000000" pitchFamily="2" charset="2"/>
              <a:buChar char="ü"/>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Includes an</a:t>
            </a:r>
            <a:r>
              <a:rPr lang="en-US" altLang="en-US" sz="3200" dirty="0">
                <a:latin typeface="Times New Roman" panose="02020603050405020304" pitchFamily="18" charset="0"/>
                <a:cs typeface="Times New Roman" panose="02020603050405020304" pitchFamily="18" charset="0"/>
              </a:rPr>
              <a:t> instruction period</a:t>
            </a:r>
            <a:endPar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endParaRPr>
          </a:p>
          <a:p>
            <a:pPr marL="914400" lvl="1" indent="-514350">
              <a:buFont typeface="Calibri" panose="020F0502020204030204" pitchFamily="34" charset="0"/>
              <a:buAutoNum type="arabicPeriod"/>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Monitor the implementation.</a:t>
            </a:r>
          </a:p>
          <a:p>
            <a:pPr marL="1314450" lvl="2" indent="-514350">
              <a:buFont typeface="Wingdings" panose="05000000000000000000" pitchFamily="2" charset="2"/>
              <a:buChar char="ü"/>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Ensure effectiveness</a:t>
            </a:r>
          </a:p>
          <a:p>
            <a:pPr marL="914400" lvl="1" indent="-514350">
              <a:buFont typeface="Calibri" panose="020F0502020204030204" pitchFamily="34" charset="0"/>
              <a:buAutoNum type="arabicPeriod"/>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Evaluate the effectiveness.</a:t>
            </a:r>
          </a:p>
          <a:p>
            <a:pPr marL="1314450" lvl="2" indent="-514350">
              <a:buFont typeface="Wingdings" panose="05000000000000000000" pitchFamily="2" charset="2"/>
              <a:buChar char="ü"/>
            </a:pPr>
            <a:r>
              <a:rPr lang="en-US" altLang="en-US" sz="3200" i="1" dirty="0">
                <a:latin typeface="Times New Roman" panose="02020603050405020304" pitchFamily="18" charset="0"/>
                <a:ea typeface="ＭＳ Ｐゴシック" panose="020B0600070205080204" pitchFamily="34" charset="-128"/>
                <a:cs typeface="Times New Roman" panose="02020603050405020304" pitchFamily="18" charset="0"/>
              </a:rPr>
              <a:t>Vulnerability assessment</a:t>
            </a: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 and </a:t>
            </a:r>
            <a:r>
              <a:rPr lang="en-US" altLang="en-US" sz="3200" i="1" dirty="0">
                <a:latin typeface="Times New Roman" panose="02020603050405020304" pitchFamily="18" charset="0"/>
                <a:cs typeface="Times New Roman" panose="02020603050405020304" pitchFamily="18" charset="0"/>
              </a:rPr>
              <a:t>penetration test</a:t>
            </a:r>
            <a:endParaRPr lang="en-US" altLang="en-US" sz="3200" i="1" dirty="0">
              <a:latin typeface="Times New Roman" panose="02020603050405020304" pitchFamily="18" charset="0"/>
              <a:ea typeface="ＭＳ Ｐゴシック"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683570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bwMode="auto">
          <a:xfrm>
            <a:off x="2273300" y="98425"/>
            <a:ext cx="7264400" cy="714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Security Policies</a:t>
            </a:r>
          </a:p>
        </p:txBody>
      </p:sp>
      <p:sp>
        <p:nvSpPr>
          <p:cNvPr id="27651" name="Content Placeholder 4"/>
          <p:cNvSpPr>
            <a:spLocks noGrp="1"/>
          </p:cNvSpPr>
          <p:nvPr>
            <p:ph idx="1"/>
          </p:nvPr>
        </p:nvSpPr>
        <p:spPr>
          <a:xfrm>
            <a:off x="1120000" y="812800"/>
            <a:ext cx="10233800" cy="5364163"/>
          </a:xfrm>
        </p:spPr>
        <p:txBody>
          <a:bodyPr>
            <a:normAutofit/>
          </a:bodyPr>
          <a:lstStyle/>
          <a:p>
            <a:pPr algn="just" eaLnBrk="1" hangingPunct="1">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Security policy</a:t>
            </a:r>
            <a:r>
              <a:rPr lang="en-US" altLang="en-US" sz="3200" dirty="0">
                <a:latin typeface="Times New Roman" panose="02020603050405020304" pitchFamily="18" charset="0"/>
                <a:cs typeface="Times New Roman" panose="02020603050405020304" pitchFamily="18" charset="0"/>
              </a:rPr>
              <a:t> – a high-level statement produced by senior </a:t>
            </a:r>
            <a:r>
              <a:rPr lang="en-US" altLang="en-US" sz="3200" dirty="0" smtClean="0">
                <a:latin typeface="Times New Roman" panose="02020603050405020304" pitchFamily="18" charset="0"/>
                <a:cs typeface="Times New Roman" panose="02020603050405020304" pitchFamily="18" charset="0"/>
              </a:rPr>
              <a:t>management</a:t>
            </a:r>
          </a:p>
          <a:p>
            <a:pPr marL="0" indent="0" algn="just" eaLnBrk="1" hangingPunct="1">
              <a:buNone/>
            </a:pPr>
            <a:endParaRPr lang="en-US" altLang="en-US" sz="3200" dirty="0">
              <a:latin typeface="Times New Roman" panose="02020603050405020304" pitchFamily="18" charset="0"/>
              <a:cs typeface="Times New Roman" panose="02020603050405020304" pitchFamily="18" charset="0"/>
            </a:endParaRP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Outlines both what security means to the organization and the organization’s goals for security</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Main security policy broken down into additional policies covering specific topics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Should include other policies</a:t>
            </a:r>
          </a:p>
          <a:p>
            <a:pPr lvl="2" algn="just" eaLnBrk="1" hangingPunct="1"/>
            <a:r>
              <a:rPr lang="en-US" altLang="en-US" sz="3200" dirty="0">
                <a:latin typeface="Times New Roman" panose="02020603050405020304" pitchFamily="18" charset="0"/>
                <a:cs typeface="Times New Roman" panose="02020603050405020304" pitchFamily="18" charset="0"/>
              </a:rPr>
              <a:t>Change management, data policies, human resources policies</a:t>
            </a:r>
          </a:p>
        </p:txBody>
      </p:sp>
    </p:spTree>
    <p:extLst>
      <p:ext uri="{BB962C8B-B14F-4D97-AF65-F5344CB8AC3E}">
        <p14:creationId xmlns:p14="http://schemas.microsoft.com/office/powerpoint/2010/main" val="1965852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3"/>
          <p:cNvSpPr>
            <a:spLocks noGrp="1"/>
          </p:cNvSpPr>
          <p:nvPr>
            <p:ph type="title"/>
          </p:nvPr>
        </p:nvSpPr>
        <p:spPr bwMode="auto">
          <a:xfrm>
            <a:off x="2120900" y="0"/>
            <a:ext cx="7658100" cy="7905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Change Management Policy</a:t>
            </a:r>
          </a:p>
        </p:txBody>
      </p:sp>
      <p:sp>
        <p:nvSpPr>
          <p:cNvPr id="28675" name="Content Placeholder 4"/>
          <p:cNvSpPr>
            <a:spLocks noGrp="1"/>
          </p:cNvSpPr>
          <p:nvPr>
            <p:ph idx="1"/>
          </p:nvPr>
        </p:nvSpPr>
        <p:spPr>
          <a:xfrm>
            <a:off x="1066800" y="790575"/>
            <a:ext cx="10045700" cy="5610225"/>
          </a:xfrm>
        </p:spPr>
        <p:txBody>
          <a:bodyPr>
            <a:noAutofit/>
          </a:bodyPr>
          <a:lstStyle/>
          <a:p>
            <a:pPr algn="just" eaLnBrk="1" hangingPunct="1">
              <a:buFont typeface="Wingdings" panose="05000000000000000000" pitchFamily="2" charset="2"/>
              <a:buChar char="v"/>
            </a:pPr>
            <a:r>
              <a:rPr lang="en-US" altLang="en-US" sz="3200" i="1" dirty="0">
                <a:latin typeface="Times New Roman" panose="02020603050405020304" pitchFamily="18" charset="0"/>
                <a:cs typeface="Times New Roman" panose="02020603050405020304" pitchFamily="18" charset="0"/>
              </a:rPr>
              <a:t>Change management </a:t>
            </a:r>
            <a:r>
              <a:rPr lang="en-US" altLang="en-US" sz="3200" dirty="0">
                <a:latin typeface="Times New Roman" panose="02020603050405020304" pitchFamily="18" charset="0"/>
                <a:cs typeface="Times New Roman" panose="02020603050405020304" pitchFamily="18" charset="0"/>
              </a:rPr>
              <a:t>ensures proper procedures followed when modifications to the IT infrastructure are made.</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Modifications prompted by a number of different </a:t>
            </a:r>
            <a:r>
              <a:rPr lang="en-US" altLang="en-US" sz="3200" dirty="0" smtClean="0">
                <a:latin typeface="Times New Roman" panose="02020603050405020304" pitchFamily="18" charset="0"/>
                <a:cs typeface="Times New Roman" panose="02020603050405020304" pitchFamily="18" charset="0"/>
              </a:rPr>
              <a:t>events</a:t>
            </a:r>
          </a:p>
          <a:p>
            <a:pPr lvl="1" algn="just" eaLnBrk="1" hangingPunct="1">
              <a:buFont typeface="Wingdings" panose="05000000000000000000" pitchFamily="2" charset="2"/>
              <a:buChar char="ü"/>
            </a:pPr>
            <a:endParaRPr lang="en-US" altLang="en-US" sz="32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“Management” implies process controlled in some systematic way</a:t>
            </a:r>
            <a:r>
              <a:rPr lang="en-US" altLang="en-US" sz="3200" dirty="0" smtClean="0">
                <a:latin typeface="Times New Roman" panose="02020603050405020304" pitchFamily="18" charset="0"/>
                <a:cs typeface="Times New Roman" panose="02020603050405020304" pitchFamily="18" charset="0"/>
              </a:rPr>
              <a:t>.</a:t>
            </a:r>
          </a:p>
          <a:p>
            <a:pPr algn="just" eaLnBrk="1" hangingPunct="1">
              <a:buFont typeface="Wingdings" panose="05000000000000000000" pitchFamily="2" charset="2"/>
              <a:buChar char="v"/>
            </a:pPr>
            <a:endParaRPr lang="en-US" altLang="en-US" sz="32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Change management process includes various stages:</a:t>
            </a:r>
          </a:p>
          <a:p>
            <a:pPr lvl="1" algn="just" eaLnBrk="1" hangingPunct="1">
              <a:buFont typeface="Wingdings" panose="05000000000000000000" pitchFamily="2" charset="2"/>
              <a:buChar char="ü"/>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Request change, review and approve process, examine consequences, implement change, document process</a:t>
            </a:r>
            <a:endParaRPr lang="en-US"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1200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3"/>
          <p:cNvSpPr>
            <a:spLocks noGrp="1"/>
          </p:cNvSpPr>
          <p:nvPr>
            <p:ph type="title"/>
          </p:nvPr>
        </p:nvSpPr>
        <p:spPr bwMode="auto">
          <a:xfrm>
            <a:off x="838200" y="103867"/>
            <a:ext cx="10515600" cy="73796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Data Policies </a:t>
            </a:r>
          </a:p>
        </p:txBody>
      </p:sp>
      <p:sp>
        <p:nvSpPr>
          <p:cNvPr id="30723" name="Content Placeholder 4"/>
          <p:cNvSpPr>
            <a:spLocks noGrp="1"/>
          </p:cNvSpPr>
          <p:nvPr>
            <p:ph idx="1"/>
          </p:nvPr>
        </p:nvSpPr>
        <p:spPr>
          <a:xfrm>
            <a:off x="1120000" y="1175657"/>
            <a:ext cx="10233800" cy="5001306"/>
          </a:xfrm>
        </p:spPr>
        <p:txBody>
          <a:bodyPr>
            <a:normAutofit/>
          </a:bodyPr>
          <a:lstStyle/>
          <a:p>
            <a:pPr algn="just" eaLnBrk="1" hangingPunct="1"/>
            <a:r>
              <a:rPr lang="en-US" altLang="en-US" sz="3200" dirty="0">
                <a:latin typeface="Times New Roman" panose="02020603050405020304" pitchFamily="18" charset="0"/>
                <a:cs typeface="Times New Roman" panose="02020603050405020304" pitchFamily="18" charset="0"/>
              </a:rPr>
              <a:t>Data can be shared for the purpose of processing or storage</a:t>
            </a:r>
            <a:r>
              <a:rPr lang="en-US" altLang="en-US" sz="3200" dirty="0" smtClean="0">
                <a:latin typeface="Times New Roman" panose="02020603050405020304" pitchFamily="18" charset="0"/>
                <a:cs typeface="Times New Roman" panose="02020603050405020304" pitchFamily="18" charset="0"/>
              </a:rPr>
              <a:t>.</a:t>
            </a:r>
          </a:p>
          <a:p>
            <a:pPr algn="just" eaLnBrk="1" hangingPunct="1"/>
            <a:endParaRPr lang="en-US" altLang="en-US" sz="3200" dirty="0">
              <a:latin typeface="Times New Roman" panose="02020603050405020304" pitchFamily="18" charset="0"/>
              <a:cs typeface="Times New Roman" panose="02020603050405020304" pitchFamily="18" charset="0"/>
            </a:endParaRPr>
          </a:p>
          <a:p>
            <a:pPr algn="just" eaLnBrk="1" hangingPunct="1"/>
            <a:r>
              <a:rPr lang="en-US" altLang="en-US" sz="3200" dirty="0">
                <a:latin typeface="Times New Roman" panose="02020603050405020304" pitchFamily="18" charset="0"/>
                <a:cs typeface="Times New Roman" panose="02020603050405020304" pitchFamily="18" charset="0"/>
              </a:rPr>
              <a:t>Control over data is a significant issue in third-party relationships</a:t>
            </a:r>
            <a:r>
              <a:rPr lang="en-US" altLang="en-US" sz="3200" dirty="0" smtClean="0">
                <a:latin typeface="Times New Roman" panose="02020603050405020304" pitchFamily="18" charset="0"/>
                <a:cs typeface="Times New Roman" panose="02020603050405020304" pitchFamily="18" charset="0"/>
              </a:rPr>
              <a:t>.</a:t>
            </a:r>
          </a:p>
          <a:p>
            <a:pPr algn="just" eaLnBrk="1" hangingPunct="1"/>
            <a:endParaRPr lang="en-US" altLang="en-US" sz="3200" dirty="0">
              <a:latin typeface="Times New Roman" panose="02020603050405020304" pitchFamily="18" charset="0"/>
              <a:cs typeface="Times New Roman" panose="02020603050405020304" pitchFamily="18" charset="0"/>
            </a:endParaRPr>
          </a:p>
          <a:p>
            <a:pPr algn="just" eaLnBrk="1" hangingPunct="1"/>
            <a:r>
              <a:rPr lang="en-US" altLang="en-US" sz="3200" dirty="0">
                <a:latin typeface="Times New Roman" panose="02020603050405020304" pitchFamily="18" charset="0"/>
                <a:cs typeface="Times New Roman" panose="02020603050405020304" pitchFamily="18" charset="0"/>
              </a:rPr>
              <a:t>Who owns the data?</a:t>
            </a:r>
          </a:p>
        </p:txBody>
      </p:sp>
    </p:spTree>
    <p:extLst>
      <p:ext uri="{BB962C8B-B14F-4D97-AF65-F5344CB8AC3E}">
        <p14:creationId xmlns:p14="http://schemas.microsoft.com/office/powerpoint/2010/main" val="1871944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3"/>
          <p:cNvSpPr>
            <a:spLocks noGrp="1"/>
          </p:cNvSpPr>
          <p:nvPr>
            <p:ph type="title"/>
          </p:nvPr>
        </p:nvSpPr>
        <p:spPr bwMode="auto">
          <a:xfrm>
            <a:off x="2264229" y="103869"/>
            <a:ext cx="7507514" cy="7089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Data Policies </a:t>
            </a:r>
          </a:p>
        </p:txBody>
      </p:sp>
      <p:sp>
        <p:nvSpPr>
          <p:cNvPr id="31747" name="Content Placeholder 4"/>
          <p:cNvSpPr>
            <a:spLocks noGrp="1"/>
          </p:cNvSpPr>
          <p:nvPr>
            <p:ph idx="1"/>
          </p:nvPr>
        </p:nvSpPr>
        <p:spPr>
          <a:xfrm>
            <a:off x="1120000" y="812801"/>
            <a:ext cx="10233800" cy="5849256"/>
          </a:xfrm>
        </p:spPr>
        <p:txBody>
          <a:bodyPr>
            <a:noAutofit/>
          </a:bodyPr>
          <a:lstStyle/>
          <a:p>
            <a:pPr algn="just" eaLnBrk="1" hangingPunct="1">
              <a:lnSpc>
                <a:spcPct val="100000"/>
              </a:lnSpc>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Data ownership</a:t>
            </a:r>
          </a:p>
          <a:p>
            <a:pPr lvl="1" algn="just"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Data requires </a:t>
            </a:r>
            <a:r>
              <a:rPr lang="en-US" altLang="en-US" sz="3200" dirty="0" smtClean="0">
                <a:latin typeface="Times New Roman" panose="02020603050405020304" pitchFamily="18" charset="0"/>
                <a:cs typeface="Times New Roman" panose="02020603050405020304" pitchFamily="18" charset="0"/>
              </a:rPr>
              <a:t>an </a:t>
            </a:r>
            <a:r>
              <a:rPr lang="en-US" altLang="en-US" sz="3200" dirty="0">
                <a:latin typeface="Times New Roman" panose="02020603050405020304" pitchFamily="18" charset="0"/>
                <a:cs typeface="Times New Roman" panose="02020603050405020304" pitchFamily="18" charset="0"/>
              </a:rPr>
              <a:t>owner.</a:t>
            </a:r>
          </a:p>
          <a:p>
            <a:pPr lvl="1" algn="just"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Data ownership roles for all data elements need to be defined in the business.</a:t>
            </a:r>
          </a:p>
          <a:p>
            <a:pPr lvl="1" algn="just"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Data ownership is a business function.</a:t>
            </a:r>
          </a:p>
          <a:p>
            <a:pPr lvl="2" algn="just" eaLnBrk="1" hangingPunct="1">
              <a:lnSpc>
                <a:spcPct val="100000"/>
              </a:lnSpc>
            </a:pPr>
            <a:r>
              <a:rPr lang="en-US" altLang="en-US" sz="3200" dirty="0">
                <a:latin typeface="Times New Roman" panose="02020603050405020304" pitchFamily="18" charset="0"/>
                <a:cs typeface="Times New Roman" panose="02020603050405020304" pitchFamily="18" charset="0"/>
              </a:rPr>
              <a:t>The requirements for security, privacy, retention, and other business functions must be established. </a:t>
            </a:r>
          </a:p>
          <a:p>
            <a:pPr lvl="1" algn="just"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Not all data requires the same handling restrictions, but all data requires these characteristics to be defined.</a:t>
            </a:r>
          </a:p>
          <a:p>
            <a:pPr lvl="2" algn="just" eaLnBrk="1" hangingPunct="1">
              <a:lnSpc>
                <a:spcPct val="100000"/>
              </a:lnSpc>
            </a:pPr>
            <a:r>
              <a:rPr lang="en-US" altLang="en-US" sz="3200" dirty="0">
                <a:latin typeface="Times New Roman" panose="02020603050405020304" pitchFamily="18" charset="0"/>
                <a:cs typeface="Times New Roman" panose="02020603050405020304" pitchFamily="18" charset="0"/>
              </a:rPr>
              <a:t>This is the responsibility of the data owner.</a:t>
            </a:r>
          </a:p>
        </p:txBody>
      </p:sp>
    </p:spTree>
    <p:extLst>
      <p:ext uri="{BB962C8B-B14F-4D97-AF65-F5344CB8AC3E}">
        <p14:creationId xmlns:p14="http://schemas.microsoft.com/office/powerpoint/2010/main" val="705918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3"/>
          <p:cNvSpPr>
            <a:spLocks noGrp="1"/>
          </p:cNvSpPr>
          <p:nvPr>
            <p:ph type="title"/>
          </p:nvPr>
        </p:nvSpPr>
        <p:spPr bwMode="auto">
          <a:xfrm>
            <a:off x="1988456" y="0"/>
            <a:ext cx="7667171" cy="854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Data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32771" name="Content Placeholder 4"/>
          <p:cNvSpPr>
            <a:spLocks noGrp="1"/>
          </p:cNvSpPr>
          <p:nvPr>
            <p:ph idx="1"/>
          </p:nvPr>
        </p:nvSpPr>
        <p:spPr>
          <a:xfrm>
            <a:off x="1120000" y="854075"/>
            <a:ext cx="10233800" cy="5322888"/>
          </a:xfrm>
        </p:spPr>
        <p:txBody>
          <a:bodyPr>
            <a:normAutofit/>
          </a:bodyPr>
          <a:lstStyle/>
          <a:p>
            <a:pPr algn="just" eaLnBrk="1" hangingPunct="1">
              <a:lnSpc>
                <a:spcPct val="100000"/>
              </a:lnSpc>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Unauthorized data </a:t>
            </a:r>
            <a:r>
              <a:rPr lang="en-US" altLang="en-US" sz="3200" dirty="0" smtClean="0">
                <a:latin typeface="Times New Roman" panose="02020603050405020304" pitchFamily="18" charset="0"/>
                <a:cs typeface="Times New Roman" panose="02020603050405020304" pitchFamily="18" charset="0"/>
              </a:rPr>
              <a:t>sharing</a:t>
            </a:r>
          </a:p>
          <a:p>
            <a:pPr algn="just" eaLnBrk="1" hangingPunct="1">
              <a:lnSpc>
                <a:spcPct val="100000"/>
              </a:lnSpc>
              <a:buFont typeface="Wingdings" panose="05000000000000000000" pitchFamily="2" charset="2"/>
              <a:buChar char="v"/>
            </a:pPr>
            <a:endParaRPr lang="en-US" altLang="en-US" sz="3200" dirty="0">
              <a:latin typeface="Times New Roman" panose="02020603050405020304" pitchFamily="18" charset="0"/>
              <a:cs typeface="Times New Roman" panose="02020603050405020304" pitchFamily="18" charset="0"/>
            </a:endParaRPr>
          </a:p>
          <a:p>
            <a:pPr lvl="1" algn="just"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Unauthorized data sharing can be a significant issue, and in today’s world, data has value and is frequently used for secondary purposes.</a:t>
            </a:r>
          </a:p>
          <a:p>
            <a:pPr lvl="1" algn="just"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Ensuring that all parties in the relationship understand the data-sharing requirements is an important prerequisite.</a:t>
            </a:r>
          </a:p>
          <a:p>
            <a:pPr lvl="1" algn="just"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Ensuring that all parties understand the security requirements of shared data is important.</a:t>
            </a:r>
          </a:p>
        </p:txBody>
      </p:sp>
    </p:spTree>
    <p:extLst>
      <p:ext uri="{BB962C8B-B14F-4D97-AF65-F5344CB8AC3E}">
        <p14:creationId xmlns:p14="http://schemas.microsoft.com/office/powerpoint/2010/main" val="389273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3"/>
          <p:cNvSpPr>
            <a:spLocks noGrp="1"/>
          </p:cNvSpPr>
          <p:nvPr>
            <p:ph type="title"/>
          </p:nvPr>
        </p:nvSpPr>
        <p:spPr bwMode="auto">
          <a:xfrm>
            <a:off x="2071914" y="190954"/>
            <a:ext cx="7870371" cy="76698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Data Policies </a:t>
            </a:r>
          </a:p>
        </p:txBody>
      </p:sp>
      <p:sp>
        <p:nvSpPr>
          <p:cNvPr id="33795" name="Content Placeholder 4"/>
          <p:cNvSpPr>
            <a:spLocks noGrp="1"/>
          </p:cNvSpPr>
          <p:nvPr>
            <p:ph idx="1"/>
          </p:nvPr>
        </p:nvSpPr>
        <p:spPr>
          <a:xfrm>
            <a:off x="1120000" y="957943"/>
            <a:ext cx="10233800" cy="5704114"/>
          </a:xfrm>
        </p:spPr>
        <p:txBody>
          <a:bodyPr>
            <a:normAutofit/>
          </a:bodyPr>
          <a:lstStyle/>
          <a:p>
            <a:pPr algn="just" eaLnBrk="1" hangingPunct="1">
              <a:lnSpc>
                <a:spcPct val="100000"/>
              </a:lnSpc>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Data backup requirements involve</a:t>
            </a:r>
            <a:r>
              <a:rPr lang="en-US" altLang="en-US" sz="3200" dirty="0" smtClean="0">
                <a:latin typeface="Times New Roman" panose="02020603050405020304" pitchFamily="18" charset="0"/>
                <a:cs typeface="Times New Roman" panose="02020603050405020304" pitchFamily="18" charset="0"/>
              </a:rPr>
              <a:t>:</a:t>
            </a:r>
          </a:p>
          <a:p>
            <a:pPr algn="just" eaLnBrk="1" hangingPunct="1">
              <a:lnSpc>
                <a:spcPct val="100000"/>
              </a:lnSpc>
              <a:buFont typeface="Wingdings" panose="05000000000000000000" pitchFamily="2" charset="2"/>
              <a:buChar char="v"/>
            </a:pPr>
            <a:endParaRPr lang="en-US" altLang="en-US" sz="3200" dirty="0">
              <a:latin typeface="Times New Roman" panose="02020603050405020304" pitchFamily="18" charset="0"/>
              <a:cs typeface="Times New Roman" panose="02020603050405020304" pitchFamily="18" charset="0"/>
            </a:endParaRPr>
          </a:p>
          <a:p>
            <a:pPr lvl="1" algn="just">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Determining level of backup, restore objectives,</a:t>
            </a:r>
            <a:br>
              <a:rPr lang="en-US" altLang="en-US" sz="3200"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and level of protection requirements</a:t>
            </a:r>
          </a:p>
          <a:p>
            <a:pPr lvl="2" algn="just">
              <a:lnSpc>
                <a:spcPct val="100000"/>
              </a:lnSpc>
            </a:pPr>
            <a:r>
              <a:rPr lang="en-US" altLang="en-US" sz="3200" dirty="0">
                <a:latin typeface="Times New Roman" panose="02020603050405020304" pitchFamily="18" charset="0"/>
                <a:cs typeface="Times New Roman" panose="02020603050405020304" pitchFamily="18" charset="0"/>
              </a:rPr>
              <a:t>Can be defined by the data owner and then executed by operational IT </a:t>
            </a:r>
            <a:r>
              <a:rPr lang="en-US" altLang="en-US" sz="3200" dirty="0" smtClean="0">
                <a:latin typeface="Times New Roman" panose="02020603050405020304" pitchFamily="18" charset="0"/>
                <a:cs typeface="Times New Roman" panose="02020603050405020304" pitchFamily="18" charset="0"/>
              </a:rPr>
              <a:t>personnel</a:t>
            </a:r>
          </a:p>
          <a:p>
            <a:pPr lvl="2" algn="just">
              <a:lnSpc>
                <a:spcPct val="100000"/>
              </a:lnSpc>
            </a:pPr>
            <a:endParaRPr lang="en-US" altLang="en-US" sz="3200" dirty="0">
              <a:latin typeface="Times New Roman" panose="02020603050405020304" pitchFamily="18" charset="0"/>
              <a:cs typeface="Times New Roman" panose="02020603050405020304" pitchFamily="18" charset="0"/>
            </a:endParaRPr>
          </a:p>
          <a:p>
            <a:pPr lvl="1" algn="just"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Determining the backup responsibilities and developing the necessary operational procedures to ensure that adequate backups occur are important security elements.</a:t>
            </a:r>
          </a:p>
        </p:txBody>
      </p:sp>
    </p:spTree>
    <p:extLst>
      <p:ext uri="{BB962C8B-B14F-4D97-AF65-F5344CB8AC3E}">
        <p14:creationId xmlns:p14="http://schemas.microsoft.com/office/powerpoint/2010/main" val="51532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3"/>
          <p:cNvSpPr>
            <a:spLocks noGrp="1"/>
          </p:cNvSpPr>
          <p:nvPr>
            <p:ph type="title"/>
          </p:nvPr>
        </p:nvSpPr>
        <p:spPr bwMode="auto">
          <a:xfrm>
            <a:off x="2217057" y="1"/>
            <a:ext cx="7434943" cy="72571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Data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35843" name="Content Placeholder 4"/>
          <p:cNvSpPr>
            <a:spLocks noGrp="1"/>
          </p:cNvSpPr>
          <p:nvPr>
            <p:ph idx="1"/>
          </p:nvPr>
        </p:nvSpPr>
        <p:spPr>
          <a:xfrm>
            <a:off x="769257" y="725715"/>
            <a:ext cx="11117943" cy="5805714"/>
          </a:xfrm>
        </p:spPr>
        <p:txBody>
          <a:bodyPr>
            <a:noAutofit/>
          </a:bodyPr>
          <a:lstStyle/>
          <a:p>
            <a:pPr eaLnBrk="1" hangingPunct="1">
              <a:lnSpc>
                <a:spcPct val="100000"/>
              </a:lnSpc>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Classification of information</a:t>
            </a:r>
          </a:p>
          <a:p>
            <a:pPr lvl="1"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Needed because of different importance or sensitivity</a:t>
            </a:r>
          </a:p>
          <a:p>
            <a:pPr lvl="1"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Factors affecting information classification</a:t>
            </a:r>
          </a:p>
          <a:p>
            <a:pPr lvl="2" eaLnBrk="1" hangingPunct="1">
              <a:lnSpc>
                <a:spcPct val="100000"/>
              </a:lnSpc>
            </a:pPr>
            <a:r>
              <a:rPr lang="en-US" altLang="en-US" sz="3200" dirty="0">
                <a:latin typeface="Times New Roman" panose="02020603050405020304" pitchFamily="18" charset="0"/>
                <a:cs typeface="Times New Roman" panose="02020603050405020304" pitchFamily="18" charset="0"/>
              </a:rPr>
              <a:t>Value to the organization, age, and laws or regulations governing protection</a:t>
            </a:r>
          </a:p>
          <a:p>
            <a:pPr lvl="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Most widely known classification system </a:t>
            </a:r>
            <a:r>
              <a:rPr 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U.S. government</a:t>
            </a:r>
          </a:p>
          <a:p>
            <a:pPr lvl="2" eaLnBrk="1" hangingPunct="1">
              <a:lnSpc>
                <a:spcPct val="100000"/>
              </a:lnSpc>
            </a:pPr>
            <a:r>
              <a:rPr lang="en-US" altLang="en-US" sz="3200" i="1" dirty="0">
                <a:latin typeface="Times New Roman" panose="02020603050405020304" pitchFamily="18" charset="0"/>
                <a:cs typeface="Times New Roman" panose="02020603050405020304" pitchFamily="18" charset="0"/>
              </a:rPr>
              <a:t>Confidential, Secret, </a:t>
            </a:r>
            <a:r>
              <a:rPr lang="en-US" altLang="en-US" sz="3200" dirty="0">
                <a:latin typeface="Times New Roman" panose="02020603050405020304" pitchFamily="18" charset="0"/>
                <a:cs typeface="Times New Roman" panose="02020603050405020304" pitchFamily="18" charset="0"/>
              </a:rPr>
              <a:t>and</a:t>
            </a:r>
            <a:r>
              <a:rPr lang="en-US" altLang="en-US" sz="3200" i="1" dirty="0">
                <a:latin typeface="Times New Roman" panose="02020603050405020304" pitchFamily="18" charset="0"/>
                <a:cs typeface="Times New Roman" panose="02020603050405020304" pitchFamily="18" charset="0"/>
              </a:rPr>
              <a:t> Top Secret</a:t>
            </a:r>
          </a:p>
          <a:p>
            <a:pPr lvl="1"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Business classifications</a:t>
            </a:r>
          </a:p>
          <a:p>
            <a:pPr lvl="2" eaLnBrk="1" hangingPunct="1">
              <a:lnSpc>
                <a:spcPct val="100000"/>
              </a:lnSpc>
            </a:pPr>
            <a:r>
              <a:rPr lang="en-US" altLang="en-US" sz="3200" i="1" dirty="0">
                <a:latin typeface="Times New Roman" panose="02020603050405020304" pitchFamily="18" charset="0"/>
                <a:cs typeface="Times New Roman" panose="02020603050405020304" pitchFamily="18" charset="0"/>
              </a:rPr>
              <a:t>Publicly Releasable, Proprietary, Company Confidential, </a:t>
            </a:r>
            <a:r>
              <a:rPr lang="en-US" altLang="en-US" sz="3200" dirty="0">
                <a:latin typeface="Times New Roman" panose="02020603050405020304" pitchFamily="18" charset="0"/>
                <a:cs typeface="Times New Roman" panose="02020603050405020304" pitchFamily="18" charset="0"/>
              </a:rPr>
              <a:t>and</a:t>
            </a:r>
            <a:r>
              <a:rPr lang="en-US" altLang="en-US" sz="3200" i="1" dirty="0">
                <a:latin typeface="Times New Roman" panose="02020603050405020304" pitchFamily="18" charset="0"/>
                <a:cs typeface="Times New Roman" panose="02020603050405020304" pitchFamily="18" charset="0"/>
              </a:rPr>
              <a:t> For Internal Use Only</a:t>
            </a:r>
          </a:p>
        </p:txBody>
      </p:sp>
    </p:spTree>
    <p:extLst>
      <p:ext uri="{BB962C8B-B14F-4D97-AF65-F5344CB8AC3E}">
        <p14:creationId xmlns:p14="http://schemas.microsoft.com/office/powerpoint/2010/main" val="1249279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3"/>
          <p:cNvSpPr>
            <a:spLocks noGrp="1"/>
          </p:cNvSpPr>
          <p:nvPr>
            <p:ph type="title"/>
          </p:nvPr>
        </p:nvSpPr>
        <p:spPr bwMode="auto">
          <a:xfrm>
            <a:off x="2507343" y="0"/>
            <a:ext cx="6201229" cy="781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Data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37891" name="Content Placeholder 4"/>
          <p:cNvSpPr>
            <a:spLocks noGrp="1"/>
          </p:cNvSpPr>
          <p:nvPr>
            <p:ph idx="1"/>
          </p:nvPr>
        </p:nvSpPr>
        <p:spPr>
          <a:xfrm>
            <a:off x="667655" y="781504"/>
            <a:ext cx="10929257" cy="5789839"/>
          </a:xfrm>
        </p:spPr>
        <p:txBody>
          <a:bodyPr>
            <a:noAutofit/>
          </a:bodyPr>
          <a:lstStyle/>
          <a:p>
            <a:pPr eaLnBrk="1" hangingPunct="1">
              <a:lnSpc>
                <a:spcPct val="100000"/>
              </a:lnSpc>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Data labeling, handling, and disposal</a:t>
            </a:r>
          </a:p>
          <a:p>
            <a:pPr lvl="1"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Data labeling enables an understanding of level of protection required.</a:t>
            </a:r>
          </a:p>
          <a:p>
            <a:pPr lvl="1"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For data inside an information-processing system:</a:t>
            </a:r>
          </a:p>
          <a:p>
            <a:pPr lvl="2" eaLnBrk="1" hangingPunct="1">
              <a:lnSpc>
                <a:spcPct val="100000"/>
              </a:lnSpc>
            </a:pPr>
            <a:r>
              <a:rPr lang="en-US" altLang="en-US" sz="3200" dirty="0">
                <a:latin typeface="Times New Roman" panose="02020603050405020304" pitchFamily="18" charset="0"/>
                <a:cs typeface="Times New Roman" panose="02020603050405020304" pitchFamily="18" charset="0"/>
              </a:rPr>
              <a:t>Protections should be designed into the system</a:t>
            </a:r>
          </a:p>
          <a:p>
            <a:pPr lvl="1"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Data outside system require other means of protection.</a:t>
            </a:r>
          </a:p>
          <a:p>
            <a:pPr lvl="1"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Training ensures labeling occurs and is used and followed.</a:t>
            </a:r>
          </a:p>
          <a:p>
            <a:pPr lvl="2" eaLnBrk="1" hangingPunct="1">
              <a:lnSpc>
                <a:spcPct val="100000"/>
              </a:lnSpc>
            </a:pPr>
            <a:r>
              <a:rPr lang="en-US" altLang="en-US" sz="3200" dirty="0">
                <a:latin typeface="Times New Roman" panose="02020603050405020304" pitchFamily="18" charset="0"/>
                <a:cs typeface="Times New Roman" panose="02020603050405020304" pitchFamily="18" charset="0"/>
              </a:rPr>
              <a:t>Important for users whose roles are impacted by the material</a:t>
            </a:r>
          </a:p>
          <a:p>
            <a:pPr lvl="2" eaLnBrk="1" hangingPunct="1">
              <a:lnSpc>
                <a:spcPct val="100000"/>
              </a:lnSpc>
            </a:pPr>
            <a:r>
              <a:rPr lang="en-US" altLang="en-US" sz="3200" dirty="0">
                <a:latin typeface="Times New Roman" panose="02020603050405020304" pitchFamily="18" charset="0"/>
                <a:cs typeface="Times New Roman" panose="02020603050405020304" pitchFamily="18" charset="0"/>
              </a:rPr>
              <a:t>Important for proper data handling and disposal</a:t>
            </a:r>
          </a:p>
        </p:txBody>
      </p:sp>
    </p:spTree>
    <p:extLst>
      <p:ext uri="{BB962C8B-B14F-4D97-AF65-F5344CB8AC3E}">
        <p14:creationId xmlns:p14="http://schemas.microsoft.com/office/powerpoint/2010/main" val="3883679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3"/>
          <p:cNvSpPr>
            <a:spLocks noGrp="1"/>
          </p:cNvSpPr>
          <p:nvPr>
            <p:ph type="title"/>
          </p:nvPr>
        </p:nvSpPr>
        <p:spPr bwMode="auto">
          <a:xfrm>
            <a:off x="2322286" y="0"/>
            <a:ext cx="6357257" cy="72571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Data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39939" name="Content Placeholder 4"/>
          <p:cNvSpPr>
            <a:spLocks noGrp="1"/>
          </p:cNvSpPr>
          <p:nvPr>
            <p:ph idx="1"/>
          </p:nvPr>
        </p:nvSpPr>
        <p:spPr>
          <a:xfrm>
            <a:off x="1076457" y="1030515"/>
            <a:ext cx="10233800" cy="5160963"/>
          </a:xfrm>
        </p:spPr>
        <p:txBody>
          <a:bodyPr>
            <a:normAutofit/>
          </a:bodyPr>
          <a:lstStyle/>
          <a:p>
            <a:pPr algn="just" eaLnBrk="1" hangingPunct="1">
              <a:lnSpc>
                <a:spcPct val="100000"/>
              </a:lnSpc>
              <a:buFont typeface="Wingdings" panose="05000000000000000000" pitchFamily="2" charset="2"/>
              <a:buChar char="v"/>
            </a:pPr>
            <a:r>
              <a:rPr lang="en-US" altLang="en-US" sz="3200" i="1" dirty="0">
                <a:latin typeface="Times New Roman" panose="02020603050405020304" pitchFamily="18" charset="0"/>
                <a:cs typeface="Times New Roman" panose="02020603050405020304" pitchFamily="18" charset="0"/>
              </a:rPr>
              <a:t>Need to know </a:t>
            </a:r>
            <a:r>
              <a:rPr lang="en-US" altLang="en-US" sz="3200" dirty="0">
                <a:latin typeface="Times New Roman" panose="02020603050405020304" pitchFamily="18" charset="0"/>
                <a:cs typeface="Times New Roman" panose="02020603050405020304" pitchFamily="18" charset="0"/>
              </a:rPr>
              <a:t>goes hand-in-hand with </a:t>
            </a:r>
            <a:r>
              <a:rPr lang="en-US" altLang="en-US" sz="3200" i="1" dirty="0">
                <a:latin typeface="Times New Roman" panose="02020603050405020304" pitchFamily="18" charset="0"/>
                <a:cs typeface="Times New Roman" panose="02020603050405020304" pitchFamily="18" charset="0"/>
              </a:rPr>
              <a:t>least privilege.</a:t>
            </a:r>
          </a:p>
          <a:p>
            <a:pPr algn="just" eaLnBrk="1" hangingPunct="1">
              <a:lnSpc>
                <a:spcPct val="100000"/>
              </a:lnSpc>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Guiding factor is that:</a:t>
            </a:r>
          </a:p>
          <a:p>
            <a:pPr lvl="1" algn="just"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Each individual supplied absolute minimum amount of information and privileges needed to perform work</a:t>
            </a:r>
          </a:p>
          <a:p>
            <a:pPr lvl="2" algn="just">
              <a:lnSpc>
                <a:spcPct val="100000"/>
              </a:lnSpc>
            </a:pPr>
            <a:r>
              <a:rPr lang="en-US" altLang="en-US" sz="3200" dirty="0">
                <a:latin typeface="Times New Roman" panose="02020603050405020304" pitchFamily="18" charset="0"/>
                <a:cs typeface="Times New Roman" panose="02020603050405020304" pitchFamily="18" charset="0"/>
              </a:rPr>
              <a:t>Access requires justified need to know</a:t>
            </a:r>
            <a:r>
              <a:rPr lang="en-US" altLang="en-US" sz="3200" dirty="0" smtClean="0">
                <a:latin typeface="Times New Roman" panose="02020603050405020304" pitchFamily="18" charset="0"/>
                <a:cs typeface="Times New Roman" panose="02020603050405020304" pitchFamily="18" charset="0"/>
              </a:rPr>
              <a:t>.</a:t>
            </a:r>
          </a:p>
          <a:p>
            <a:pPr lvl="2" algn="just">
              <a:lnSpc>
                <a:spcPct val="100000"/>
              </a:lnSpc>
            </a:pPr>
            <a:endParaRPr lang="en-US" altLang="en-US" sz="3200" dirty="0">
              <a:latin typeface="Times New Roman" panose="02020603050405020304" pitchFamily="18" charset="0"/>
              <a:cs typeface="Times New Roman" panose="02020603050405020304" pitchFamily="18" charset="0"/>
            </a:endParaRPr>
          </a:p>
          <a:p>
            <a:pPr algn="just" eaLnBrk="1" hangingPunct="1">
              <a:lnSpc>
                <a:spcPct val="100000"/>
              </a:lnSpc>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Policy should spell out these two principles:</a:t>
            </a:r>
          </a:p>
          <a:p>
            <a:pPr lvl="1" algn="just"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Who in the organization can grant access to information</a:t>
            </a:r>
          </a:p>
          <a:p>
            <a:pPr lvl="1" algn="just" eaLnBrk="1" hangingPunct="1">
              <a:lnSpc>
                <a:spcPct val="10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Who can assign privileges to employees</a:t>
            </a:r>
          </a:p>
        </p:txBody>
      </p:sp>
    </p:spTree>
    <p:extLst>
      <p:ext uri="{BB962C8B-B14F-4D97-AF65-F5344CB8AC3E}">
        <p14:creationId xmlns:p14="http://schemas.microsoft.com/office/powerpoint/2010/main" val="3264818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3"/>
          <p:cNvSpPr>
            <a:spLocks noGrp="1"/>
          </p:cNvSpPr>
          <p:nvPr>
            <p:ph type="title"/>
          </p:nvPr>
        </p:nvSpPr>
        <p:spPr bwMode="auto">
          <a:xfrm>
            <a:off x="2075542" y="43543"/>
            <a:ext cx="7493000" cy="79601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Data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40963" name="Content Placeholder 4"/>
          <p:cNvSpPr>
            <a:spLocks noGrp="1"/>
          </p:cNvSpPr>
          <p:nvPr>
            <p:ph idx="1"/>
          </p:nvPr>
        </p:nvSpPr>
        <p:spPr>
          <a:xfrm>
            <a:off x="1120000" y="943429"/>
            <a:ext cx="10233800" cy="5747656"/>
          </a:xfrm>
        </p:spPr>
        <p:txBody>
          <a:bodyPr>
            <a:normAutofit/>
          </a:bodyPr>
          <a:lstStyle/>
          <a:p>
            <a:pPr algn="just" eaLnBrk="1" hangingPunct="1">
              <a:buFont typeface="Wingdings" panose="05000000000000000000" pitchFamily="2" charset="2"/>
              <a:buChar char="v"/>
            </a:pPr>
            <a:r>
              <a:rPr lang="en-US" altLang="en-US" sz="3200" i="1" dirty="0">
                <a:latin typeface="Times New Roman" panose="02020603050405020304" pitchFamily="18" charset="0"/>
                <a:cs typeface="Times New Roman" panose="02020603050405020304" pitchFamily="18" charset="0"/>
              </a:rPr>
              <a:t>Disposal and destruction </a:t>
            </a:r>
            <a:r>
              <a:rPr lang="en-US" altLang="en-US" sz="3200" i="1" dirty="0" smtClean="0">
                <a:latin typeface="Times New Roman" panose="02020603050405020304" pitchFamily="18" charset="0"/>
                <a:cs typeface="Times New Roman" panose="02020603050405020304" pitchFamily="18" charset="0"/>
              </a:rPr>
              <a:t>policy</a:t>
            </a:r>
          </a:p>
          <a:p>
            <a:pPr algn="just" eaLnBrk="1" hangingPunct="1">
              <a:buFont typeface="Wingdings" panose="05000000000000000000" pitchFamily="2" charset="2"/>
              <a:buChar char="v"/>
            </a:pPr>
            <a:endParaRPr lang="en-US" altLang="en-US" sz="3200" i="1" dirty="0">
              <a:latin typeface="Times New Roman" panose="02020603050405020304" pitchFamily="18" charset="0"/>
              <a:cs typeface="Times New Roman" panose="02020603050405020304" pitchFamily="18" charset="0"/>
            </a:endParaRP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Important papers should be shredded.</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Delete all files and overwrite data on magnetic storage data before discarding.</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Destroy data magnetically using a strong magnetic field to </a:t>
            </a:r>
            <a:r>
              <a:rPr lang="en-US" altLang="en-US" sz="3200" i="1" dirty="0">
                <a:latin typeface="Times New Roman" panose="02020603050405020304" pitchFamily="18" charset="0"/>
                <a:cs typeface="Times New Roman" panose="02020603050405020304" pitchFamily="18" charset="0"/>
              </a:rPr>
              <a:t>degauss </a:t>
            </a:r>
            <a:r>
              <a:rPr lang="en-US" altLang="en-US" sz="3200" dirty="0">
                <a:latin typeface="Times New Roman" panose="02020603050405020304" pitchFamily="18" charset="0"/>
                <a:cs typeface="Times New Roman" panose="02020603050405020304" pitchFamily="18" charset="0"/>
              </a:rPr>
              <a:t>the media.</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File off magnetic material from the surface of a hard drive platter.</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Shred floppy media, CDs and DVDs.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Best practice is to match the action to the risk level.</a:t>
            </a:r>
            <a:endParaRPr lang="en-US" altLang="en-US" sz="3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8514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3"/>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dirty="0">
                <a:latin typeface="Times New Roman" panose="02020603050405020304" pitchFamily="18" charset="0"/>
                <a:cs typeface="Times New Roman" panose="02020603050405020304" pitchFamily="18" charset="0"/>
              </a:rPr>
              <a:t>Password and Account </a:t>
            </a:r>
            <a:r>
              <a:rPr lang="en-US" altLang="en-US" dirty="0" smtClean="0">
                <a:latin typeface="Times New Roman" panose="02020603050405020304" pitchFamily="18" charset="0"/>
                <a:cs typeface="Times New Roman" panose="02020603050405020304" pitchFamily="18" charset="0"/>
              </a:rPr>
              <a:t>Policies</a:t>
            </a:r>
            <a:endParaRPr lang="en-US" altLang="en-US" dirty="0">
              <a:latin typeface="Times New Roman" panose="02020603050405020304" pitchFamily="18" charset="0"/>
              <a:cs typeface="Times New Roman" panose="02020603050405020304" pitchFamily="18" charset="0"/>
            </a:endParaRPr>
          </a:p>
        </p:txBody>
      </p:sp>
      <p:sp>
        <p:nvSpPr>
          <p:cNvPr id="40963" name="Content Placeholder 4"/>
          <p:cNvSpPr>
            <a:spLocks noGrp="1"/>
          </p:cNvSpPr>
          <p:nvPr>
            <p:ph idx="1"/>
          </p:nvPr>
        </p:nvSpPr>
        <p:spPr>
          <a:xfrm>
            <a:off x="1120000" y="1436914"/>
            <a:ext cx="10233800" cy="4740049"/>
          </a:xfrm>
        </p:spPr>
        <p:txBody>
          <a:bodyPr>
            <a:normAutofit/>
          </a:bodyPr>
          <a:lstStyle/>
          <a:p>
            <a:pPr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Average user has 20 passwords</a:t>
            </a:r>
          </a:p>
          <a:p>
            <a:pPr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Password complexity should include</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Minimum length</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Uppercase</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Lowercase</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Numerals</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Non-alphabetic characters</a:t>
            </a:r>
          </a:p>
        </p:txBody>
      </p:sp>
    </p:spTree>
    <p:extLst>
      <p:ext uri="{BB962C8B-B14F-4D97-AF65-F5344CB8AC3E}">
        <p14:creationId xmlns:p14="http://schemas.microsoft.com/office/powerpoint/2010/main" val="1087431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3"/>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Password and Account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40963" name="Content Placeholder 4"/>
          <p:cNvSpPr>
            <a:spLocks noGrp="1"/>
          </p:cNvSpPr>
          <p:nvPr>
            <p:ph idx="1"/>
          </p:nvPr>
        </p:nvSpPr>
        <p:spPr>
          <a:xfrm>
            <a:off x="1120000" y="1204686"/>
            <a:ext cx="10233800" cy="4972277"/>
          </a:xfrm>
        </p:spPr>
        <p:txBody>
          <a:bodyPr>
            <a:norm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Account expiration</a:t>
            </a:r>
          </a:p>
          <a:p>
            <a:pPr lvl="1" algn="just">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Should occur when a user is no longer authorized on a given system</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Manager should notify Human Resources (HR</a:t>
            </a:r>
            <a:r>
              <a:rPr lang="en-US" altLang="en-US" sz="3200" dirty="0" smtClean="0">
                <a:latin typeface="Times New Roman" panose="02020603050405020304" pitchFamily="18" charset="0"/>
                <a:cs typeface="Times New Roman" panose="02020603050405020304" pitchFamily="18" charset="0"/>
              </a:rPr>
              <a:t>)</a:t>
            </a:r>
          </a:p>
          <a:p>
            <a:pPr lvl="1" algn="just" eaLnBrk="1" hangingPunct="1">
              <a:buFont typeface="Wingdings" panose="05000000000000000000" pitchFamily="2" charset="2"/>
              <a:buChar char="ü"/>
            </a:pPr>
            <a:endParaRPr lang="en-US" altLang="en-US" sz="3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Account recovery</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Can be serious, especially if an administrator password is lost</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Need a recovery plan</a:t>
            </a:r>
          </a:p>
        </p:txBody>
      </p:sp>
    </p:spTree>
    <p:extLst>
      <p:ext uri="{BB962C8B-B14F-4D97-AF65-F5344CB8AC3E}">
        <p14:creationId xmlns:p14="http://schemas.microsoft.com/office/powerpoint/2010/main" val="688320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3"/>
          <p:cNvSpPr>
            <a:spLocks noGrp="1"/>
          </p:cNvSpPr>
          <p:nvPr>
            <p:ph type="title"/>
          </p:nvPr>
        </p:nvSpPr>
        <p:spPr bwMode="auto">
          <a:xfrm>
            <a:off x="838200" y="103869"/>
            <a:ext cx="10515600" cy="98470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Password and Account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40963" name="Content Placeholder 4"/>
          <p:cNvSpPr>
            <a:spLocks noGrp="1"/>
          </p:cNvSpPr>
          <p:nvPr>
            <p:ph idx="1"/>
          </p:nvPr>
        </p:nvSpPr>
        <p:spPr>
          <a:xfrm>
            <a:off x="838200" y="1219200"/>
            <a:ext cx="10515600" cy="5088392"/>
          </a:xfrm>
        </p:spPr>
        <p:txBody>
          <a:bodyPr>
            <a:normAutofit/>
          </a:bodyPr>
          <a:lstStyle/>
          <a:p>
            <a:pPr eaLnBrk="1" hangingPunct="1">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Account disablement</a:t>
            </a:r>
          </a:p>
          <a:p>
            <a:pPr lvl="1">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Preferable to removal because removal might result in permission and ownership problems </a:t>
            </a:r>
            <a:endParaRPr lang="en-US" sz="32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endParaRPr lang="en-US" altLang="en-US" sz="3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Account lockout</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Temporary disablement (e.g., if user tries to log on too many times</a:t>
            </a:r>
            <a:r>
              <a:rPr lang="en-US" altLang="en-US" sz="3200" dirty="0" smtClean="0">
                <a:latin typeface="Times New Roman" panose="02020603050405020304" pitchFamily="18" charset="0"/>
                <a:cs typeface="Times New Roman" panose="02020603050405020304" pitchFamily="18" charset="0"/>
              </a:rPr>
              <a:t>)</a:t>
            </a:r>
          </a:p>
          <a:p>
            <a:pPr lvl="1" eaLnBrk="1" hangingPunct="1">
              <a:buFont typeface="Wingdings" panose="05000000000000000000" pitchFamily="2" charset="2"/>
              <a:buChar char="ü"/>
            </a:pPr>
            <a:endParaRPr lang="en-US" altLang="en-US" sz="3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Password history</a:t>
            </a:r>
          </a:p>
          <a:p>
            <a:pPr lvl="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Should prevent users from reusing prior passwords</a:t>
            </a:r>
          </a:p>
        </p:txBody>
      </p:sp>
    </p:spTree>
    <p:extLst>
      <p:ext uri="{BB962C8B-B14F-4D97-AF65-F5344CB8AC3E}">
        <p14:creationId xmlns:p14="http://schemas.microsoft.com/office/powerpoint/2010/main" val="2717075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3"/>
          <p:cNvSpPr>
            <a:spLocks noGrp="1"/>
          </p:cNvSpPr>
          <p:nvPr>
            <p:ph type="title"/>
          </p:nvPr>
        </p:nvSpPr>
        <p:spPr bwMode="auto">
          <a:xfrm>
            <a:off x="838200" y="0"/>
            <a:ext cx="10515600" cy="781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Password and Account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40963" name="Content Placeholder 4"/>
          <p:cNvSpPr>
            <a:spLocks noGrp="1"/>
          </p:cNvSpPr>
          <p:nvPr>
            <p:ph idx="1"/>
          </p:nvPr>
        </p:nvSpPr>
        <p:spPr>
          <a:xfrm>
            <a:off x="1120000" y="1190171"/>
            <a:ext cx="10233800" cy="4986792"/>
          </a:xfrm>
        </p:spPr>
        <p:txBody>
          <a:bodyPr>
            <a:norm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Password reuse</a:t>
            </a:r>
          </a:p>
          <a:p>
            <a:pPr lvl="1" algn="just">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Not a good </a:t>
            </a:r>
            <a:r>
              <a:rPr lang="en-US" sz="3200" dirty="0" smtClean="0">
                <a:latin typeface="Times New Roman" panose="02020603050405020304" pitchFamily="18" charset="0"/>
                <a:cs typeface="Times New Roman" panose="02020603050405020304" pitchFamily="18" charset="0"/>
              </a:rPr>
              <a:t>idea</a:t>
            </a:r>
          </a:p>
          <a:p>
            <a:pPr lvl="1" algn="just">
              <a:buFont typeface="Wingdings" panose="05000000000000000000" pitchFamily="2" charset="2"/>
              <a:buChar char="ü"/>
            </a:pPr>
            <a:endParaRPr lang="en-US" altLang="en-US" sz="3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Password length</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At least 10 characters, with 12 </a:t>
            </a:r>
            <a:r>
              <a:rPr lang="en-US" altLang="en-US" sz="3200" dirty="0" smtClean="0">
                <a:latin typeface="Times New Roman" panose="02020603050405020304" pitchFamily="18" charset="0"/>
                <a:cs typeface="Times New Roman" panose="02020603050405020304" pitchFamily="18" charset="0"/>
              </a:rPr>
              <a:t>preferable</a:t>
            </a:r>
          </a:p>
          <a:p>
            <a:pPr lvl="1" algn="just" eaLnBrk="1" hangingPunct="1">
              <a:buFont typeface="Wingdings" panose="05000000000000000000" pitchFamily="2" charset="2"/>
              <a:buChar char="ü"/>
            </a:pPr>
            <a:endParaRPr lang="en-US" altLang="en-US" sz="3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Protection of Passwords</a:t>
            </a:r>
          </a:p>
          <a:p>
            <a:pPr lvl="1" algn="just">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Should prevent users from writing down or sharing</a:t>
            </a:r>
          </a:p>
        </p:txBody>
      </p:sp>
    </p:spTree>
    <p:extLst>
      <p:ext uri="{BB962C8B-B14F-4D97-AF65-F5344CB8AC3E}">
        <p14:creationId xmlns:p14="http://schemas.microsoft.com/office/powerpoint/2010/main" val="4084445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3"/>
          <p:cNvSpPr>
            <a:spLocks noGrp="1"/>
          </p:cNvSpPr>
          <p:nvPr>
            <p:ph type="title"/>
          </p:nvPr>
        </p:nvSpPr>
        <p:spPr bwMode="auto">
          <a:xfrm>
            <a:off x="852715" y="116114"/>
            <a:ext cx="9481457" cy="8250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Human Resources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43011" name="Content Placeholder 4"/>
          <p:cNvSpPr>
            <a:spLocks noGrp="1"/>
          </p:cNvSpPr>
          <p:nvPr>
            <p:ph idx="1"/>
          </p:nvPr>
        </p:nvSpPr>
        <p:spPr>
          <a:xfrm>
            <a:off x="1192572" y="1173389"/>
            <a:ext cx="10233800" cy="5351917"/>
          </a:xfrm>
        </p:spPr>
        <p:txBody>
          <a:bodyPr>
            <a:norm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Humans are the weakest link in security chain</a:t>
            </a:r>
            <a:r>
              <a:rPr lang="en-US" altLang="en-US" sz="3200" dirty="0" smtClean="0">
                <a:latin typeface="Times New Roman" panose="02020603050405020304" pitchFamily="18" charset="0"/>
                <a:cs typeface="Times New Roman" panose="02020603050405020304" pitchFamily="18" charset="0"/>
              </a:rPr>
              <a:t>.</a:t>
            </a:r>
          </a:p>
          <a:p>
            <a:pPr algn="just" eaLnBrk="1" hangingPunct="1">
              <a:buFont typeface="Wingdings" panose="05000000000000000000" pitchFamily="2" charset="2"/>
              <a:buChar char="v"/>
            </a:pPr>
            <a:endParaRPr lang="en-US" altLang="en-US" sz="32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Three policies are needed:</a:t>
            </a:r>
          </a:p>
          <a:p>
            <a:pPr lvl="1" algn="just" eaLnBrk="1" hangingPunct="1"/>
            <a:r>
              <a:rPr lang="en-US" altLang="en-US" sz="3200" dirty="0">
                <a:latin typeface="Times New Roman" panose="02020603050405020304" pitchFamily="18" charset="0"/>
                <a:cs typeface="Times New Roman" panose="02020603050405020304" pitchFamily="18" charset="0"/>
              </a:rPr>
              <a:t>Policy for hiring of individuals</a:t>
            </a:r>
          </a:p>
          <a:p>
            <a:pPr lvl="1" algn="just" eaLnBrk="1" hangingPunct="1"/>
            <a:r>
              <a:rPr lang="en-US" altLang="en-US" sz="3200" dirty="0">
                <a:latin typeface="Times New Roman" panose="02020603050405020304" pitchFamily="18" charset="0"/>
                <a:cs typeface="Times New Roman" panose="02020603050405020304" pitchFamily="18" charset="0"/>
              </a:rPr>
              <a:t>Policy to keep employees from “disgruntled” category</a:t>
            </a:r>
          </a:p>
          <a:p>
            <a:pPr lvl="1" algn="just" eaLnBrk="1" hangingPunct="1"/>
            <a:r>
              <a:rPr lang="en-US" altLang="en-US" sz="3200" dirty="0">
                <a:latin typeface="Times New Roman" panose="02020603050405020304" pitchFamily="18" charset="0"/>
                <a:cs typeface="Times New Roman" panose="02020603050405020304" pitchFamily="18" charset="0"/>
              </a:rPr>
              <a:t>Policy to address employees leaving </a:t>
            </a:r>
            <a:r>
              <a:rPr lang="en-US" altLang="en-US" sz="3200" dirty="0" smtClean="0">
                <a:latin typeface="Times New Roman" panose="02020603050405020304" pitchFamily="18" charset="0"/>
                <a:cs typeface="Times New Roman" panose="02020603050405020304" pitchFamily="18" charset="0"/>
              </a:rPr>
              <a:t>organization</a:t>
            </a:r>
          </a:p>
          <a:p>
            <a:pPr marL="457200" lvl="1" indent="0" algn="just" eaLnBrk="1" hangingPunct="1">
              <a:buNone/>
            </a:pPr>
            <a:endParaRPr lang="en-US" altLang="en-US" sz="32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Security must be considered in all policies.</a:t>
            </a:r>
          </a:p>
        </p:txBody>
      </p:sp>
    </p:spTree>
    <p:extLst>
      <p:ext uri="{BB962C8B-B14F-4D97-AF65-F5344CB8AC3E}">
        <p14:creationId xmlns:p14="http://schemas.microsoft.com/office/powerpoint/2010/main" val="2779458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3"/>
          <p:cNvSpPr>
            <a:spLocks noGrp="1"/>
          </p:cNvSpPr>
          <p:nvPr>
            <p:ph type="title"/>
          </p:nvPr>
        </p:nvSpPr>
        <p:spPr bwMode="auto">
          <a:xfrm>
            <a:off x="2217057" y="0"/>
            <a:ext cx="8131629" cy="9266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Human Resources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44035" name="Content Placeholder 4"/>
          <p:cNvSpPr>
            <a:spLocks noGrp="1"/>
          </p:cNvSpPr>
          <p:nvPr>
            <p:ph idx="1"/>
          </p:nvPr>
        </p:nvSpPr>
        <p:spPr>
          <a:xfrm>
            <a:off x="696686" y="926645"/>
            <a:ext cx="10856686" cy="5706383"/>
          </a:xfrm>
        </p:spPr>
        <p:txBody>
          <a:bodyPr>
            <a:no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Code of </a:t>
            </a:r>
            <a:r>
              <a:rPr lang="en-US" altLang="en-US" sz="3200" dirty="0" smtClean="0">
                <a:latin typeface="Times New Roman" panose="02020603050405020304" pitchFamily="18" charset="0"/>
                <a:cs typeface="Times New Roman" panose="02020603050405020304" pitchFamily="18" charset="0"/>
              </a:rPr>
              <a:t>ethics</a:t>
            </a:r>
          </a:p>
          <a:p>
            <a:pPr algn="just" eaLnBrk="1" hangingPunct="1">
              <a:buFont typeface="Wingdings" panose="05000000000000000000" pitchFamily="2" charset="2"/>
              <a:buChar char="v"/>
            </a:pPr>
            <a:endParaRPr lang="en-US" altLang="en-US" sz="3200" dirty="0">
              <a:latin typeface="Times New Roman" panose="02020603050405020304" pitchFamily="18" charset="0"/>
              <a:cs typeface="Times New Roman" panose="02020603050405020304" pitchFamily="18" charset="0"/>
            </a:endParaRP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Describes expected behavior at highest level</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Sets tone for how employees act and conduct business</a:t>
            </a:r>
          </a:p>
          <a:p>
            <a:pPr lvl="1" algn="just">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Code inclusions</a:t>
            </a:r>
          </a:p>
          <a:p>
            <a:pPr lvl="2" algn="just"/>
            <a:r>
              <a:rPr lang="en-US" altLang="en-US" sz="3200" dirty="0">
                <a:latin typeface="Times New Roman" panose="02020603050405020304" pitchFamily="18" charset="0"/>
                <a:cs typeface="Times New Roman" panose="02020603050405020304" pitchFamily="18" charset="0"/>
              </a:rPr>
              <a:t>Demand honesty from employees</a:t>
            </a:r>
          </a:p>
          <a:p>
            <a:pPr lvl="2" algn="just"/>
            <a:r>
              <a:rPr lang="en-US" altLang="en-US" sz="3200" dirty="0">
                <a:latin typeface="Times New Roman" panose="02020603050405020304" pitchFamily="18" charset="0"/>
                <a:cs typeface="Times New Roman" panose="02020603050405020304" pitchFamily="18" charset="0"/>
              </a:rPr>
              <a:t>Demand employees perform all activities in a professional manner</a:t>
            </a:r>
          </a:p>
          <a:p>
            <a:pPr lvl="2" algn="just"/>
            <a:r>
              <a:rPr lang="en-US" altLang="en-US" sz="3200" dirty="0">
                <a:latin typeface="Times New Roman" panose="02020603050405020304" pitchFamily="18" charset="0"/>
                <a:cs typeface="Times New Roman" panose="02020603050405020304" pitchFamily="18" charset="0"/>
              </a:rPr>
              <a:t>Address principles of privacy and confidentiality</a:t>
            </a:r>
          </a:p>
          <a:p>
            <a:pPr lvl="2" algn="just"/>
            <a:r>
              <a:rPr lang="en-US" altLang="en-US" sz="3200" dirty="0">
                <a:latin typeface="Times New Roman" panose="02020603050405020304" pitchFamily="18" charset="0"/>
                <a:cs typeface="Times New Roman" panose="02020603050405020304" pitchFamily="18" charset="0"/>
              </a:rPr>
              <a:t>State how employees treat client and organizational data</a:t>
            </a:r>
          </a:p>
          <a:p>
            <a:pPr lvl="2" algn="just"/>
            <a:r>
              <a:rPr lang="en-US" altLang="en-US" sz="3200" dirty="0">
                <a:latin typeface="Times New Roman" panose="02020603050405020304" pitchFamily="18" charset="0"/>
                <a:cs typeface="Times New Roman" panose="02020603050405020304" pitchFamily="18" charset="0"/>
              </a:rPr>
              <a:t>Cover how to handle conflicts of interests</a:t>
            </a:r>
          </a:p>
        </p:txBody>
      </p:sp>
    </p:spTree>
    <p:extLst>
      <p:ext uri="{BB962C8B-B14F-4D97-AF65-F5344CB8AC3E}">
        <p14:creationId xmlns:p14="http://schemas.microsoft.com/office/powerpoint/2010/main" val="905122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3"/>
          <p:cNvSpPr>
            <a:spLocks noGrp="1"/>
          </p:cNvSpPr>
          <p:nvPr>
            <p:ph type="title"/>
          </p:nvPr>
        </p:nvSpPr>
        <p:spPr bwMode="auto">
          <a:xfrm>
            <a:off x="838200" y="0"/>
            <a:ext cx="10515600" cy="76698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Human Resources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46083" name="Content Placeholder 4"/>
          <p:cNvSpPr>
            <a:spLocks noGrp="1"/>
          </p:cNvSpPr>
          <p:nvPr>
            <p:ph idx="1"/>
          </p:nvPr>
        </p:nvSpPr>
        <p:spPr>
          <a:xfrm>
            <a:off x="838200" y="1013733"/>
            <a:ext cx="10515600" cy="5619296"/>
          </a:xfrm>
        </p:spPr>
        <p:txBody>
          <a:bodyPr>
            <a:no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Job </a:t>
            </a:r>
            <a:r>
              <a:rPr lang="en-US" altLang="en-US" sz="3200" dirty="0" smtClean="0">
                <a:latin typeface="Times New Roman" panose="02020603050405020304" pitchFamily="18" charset="0"/>
                <a:cs typeface="Times New Roman" panose="02020603050405020304" pitchFamily="18" charset="0"/>
              </a:rPr>
              <a:t>rotation</a:t>
            </a:r>
            <a:endParaRPr lang="en-US" altLang="en-US" sz="3200" dirty="0">
              <a:latin typeface="Times New Roman" panose="02020603050405020304" pitchFamily="18" charset="0"/>
              <a:cs typeface="Times New Roman" panose="02020603050405020304" pitchFamily="18" charset="0"/>
            </a:endParaRP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By rotating jobs, individuals get a better perspective on how various parts of IT can enhance or hinder the business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Rotating individuals through security positions can result in a much wider understanding throughout the organization about potential security problems.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A benefit is that the company does not have to rely on any one individual too heavily for security expertise</a:t>
            </a:r>
            <a:r>
              <a:rPr lang="en-US" altLang="en-US" sz="3200" dirty="0" smtClean="0">
                <a:latin typeface="Times New Roman" panose="02020603050405020304" pitchFamily="18" charset="0"/>
                <a:cs typeface="Times New Roman" panose="02020603050405020304" pitchFamily="18" charset="0"/>
              </a:rPr>
              <a:t>.</a:t>
            </a:r>
          </a:p>
          <a:p>
            <a:pPr marL="457200" lvl="1" indent="0" algn="just" eaLnBrk="1" hangingPunct="1">
              <a:buNone/>
            </a:pPr>
            <a:endParaRPr lang="en-US" altLang="en-US" sz="3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Separation of duties no individual can conduct transactions alone</a:t>
            </a:r>
          </a:p>
        </p:txBody>
      </p:sp>
    </p:spTree>
    <p:extLst>
      <p:ext uri="{BB962C8B-B14F-4D97-AF65-F5344CB8AC3E}">
        <p14:creationId xmlns:p14="http://schemas.microsoft.com/office/powerpoint/2010/main" val="929760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3"/>
          <p:cNvSpPr>
            <a:spLocks noGrp="1"/>
          </p:cNvSpPr>
          <p:nvPr>
            <p:ph type="title"/>
          </p:nvPr>
        </p:nvSpPr>
        <p:spPr bwMode="auto">
          <a:xfrm>
            <a:off x="838200" y="103868"/>
            <a:ext cx="10515600" cy="83956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Human Resources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48131" name="Content Placeholder 4"/>
          <p:cNvSpPr>
            <a:spLocks noGrp="1"/>
          </p:cNvSpPr>
          <p:nvPr>
            <p:ph idx="1"/>
          </p:nvPr>
        </p:nvSpPr>
        <p:spPr>
          <a:xfrm>
            <a:off x="1120000" y="798286"/>
            <a:ext cx="10233800" cy="5378677"/>
          </a:xfrm>
        </p:spPr>
        <p:txBody>
          <a:bodyPr>
            <a:no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Employee hiring and </a:t>
            </a:r>
            <a:r>
              <a:rPr lang="en-US" altLang="en-US" sz="3200" dirty="0" smtClean="0">
                <a:latin typeface="Times New Roman" panose="02020603050405020304" pitchFamily="18" charset="0"/>
                <a:cs typeface="Times New Roman" panose="02020603050405020304" pitchFamily="18" charset="0"/>
              </a:rPr>
              <a:t>promotions</a:t>
            </a:r>
          </a:p>
          <a:p>
            <a:pPr algn="just" eaLnBrk="1" hangingPunct="1">
              <a:buFont typeface="Wingdings" panose="05000000000000000000" pitchFamily="2" charset="2"/>
              <a:buChar char="v"/>
            </a:pPr>
            <a:endParaRPr lang="en-US" altLang="en-US" sz="3200" dirty="0">
              <a:latin typeface="Times New Roman" panose="02020603050405020304" pitchFamily="18" charset="0"/>
              <a:cs typeface="Times New Roman" panose="02020603050405020304" pitchFamily="18" charset="0"/>
            </a:endParaRP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Policies should ensure organization hires the most capable and trustworthy employees.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Policies should minimize the risk that the employee will ignore company rules and affect security.</a:t>
            </a:r>
          </a:p>
          <a:p>
            <a:pPr lvl="2" algn="just" eaLnBrk="1" hangingPunct="1"/>
            <a:r>
              <a:rPr lang="en-US" altLang="en-US" sz="3200" dirty="0">
                <a:latin typeface="Times New Roman" panose="02020603050405020304" pitchFamily="18" charset="0"/>
                <a:cs typeface="Times New Roman" panose="02020603050405020304" pitchFamily="18" charset="0"/>
              </a:rPr>
              <a:t>Periodic reviews by supervisory personnel, additional drug checks, and monitoring of activity during work</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Policy should handle employee’s status change.</a:t>
            </a:r>
          </a:p>
          <a:p>
            <a:pPr lvl="2" algn="just" eaLnBrk="1" hangingPunct="1"/>
            <a:r>
              <a:rPr lang="en-US" altLang="en-US" sz="3200" dirty="0">
                <a:latin typeface="Times New Roman" panose="02020603050405020304" pitchFamily="18" charset="0"/>
                <a:cs typeface="Times New Roman" panose="02020603050405020304" pitchFamily="18" charset="0"/>
              </a:rPr>
              <a:t>Especially if construed as negative</a:t>
            </a:r>
          </a:p>
          <a:p>
            <a:pPr lvl="2" algn="just" eaLnBrk="1" hangingPunct="1"/>
            <a:r>
              <a:rPr lang="en-US" altLang="en-US" sz="3200" dirty="0">
                <a:latin typeface="Times New Roman" panose="02020603050405020304" pitchFamily="18" charset="0"/>
                <a:cs typeface="Times New Roman" panose="02020603050405020304" pitchFamily="18" charset="0"/>
              </a:rPr>
              <a:t>If employee promoted, privileges may still change</a:t>
            </a:r>
          </a:p>
        </p:txBody>
      </p:sp>
    </p:spTree>
    <p:extLst>
      <p:ext uri="{BB962C8B-B14F-4D97-AF65-F5344CB8AC3E}">
        <p14:creationId xmlns:p14="http://schemas.microsoft.com/office/powerpoint/2010/main" val="18547702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3"/>
          <p:cNvSpPr>
            <a:spLocks noGrp="1"/>
          </p:cNvSpPr>
          <p:nvPr>
            <p:ph type="title"/>
          </p:nvPr>
        </p:nvSpPr>
        <p:spPr bwMode="auto">
          <a:xfrm>
            <a:off x="838200" y="103869"/>
            <a:ext cx="10515600" cy="8250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Human Resources Policies </a:t>
            </a:r>
          </a:p>
        </p:txBody>
      </p:sp>
      <p:sp>
        <p:nvSpPr>
          <p:cNvPr id="50179" name="Content Placeholder 4"/>
          <p:cNvSpPr>
            <a:spLocks noGrp="1"/>
          </p:cNvSpPr>
          <p:nvPr>
            <p:ph idx="1"/>
          </p:nvPr>
        </p:nvSpPr>
        <p:spPr>
          <a:xfrm>
            <a:off x="1120000" y="928915"/>
            <a:ext cx="10233800" cy="5248048"/>
          </a:xfrm>
        </p:spPr>
        <p:txBody>
          <a:bodyPr>
            <a:norm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Retirement, separation, or termination of an </a:t>
            </a:r>
            <a:r>
              <a:rPr lang="en-US" altLang="en-US" sz="3200" dirty="0" smtClean="0">
                <a:latin typeface="Times New Roman" panose="02020603050405020304" pitchFamily="18" charset="0"/>
                <a:cs typeface="Times New Roman" panose="02020603050405020304" pitchFamily="18" charset="0"/>
              </a:rPr>
              <a:t>employee</a:t>
            </a:r>
          </a:p>
          <a:p>
            <a:pPr algn="just" eaLnBrk="1" hangingPunct="1">
              <a:buFont typeface="Wingdings" panose="05000000000000000000" pitchFamily="2" charset="2"/>
              <a:buChar char="v"/>
            </a:pPr>
            <a:endParaRPr lang="en-US" altLang="en-US" sz="3200" dirty="0">
              <a:latin typeface="Times New Roman" panose="02020603050405020304" pitchFamily="18" charset="0"/>
              <a:cs typeface="Times New Roman" panose="02020603050405020304" pitchFamily="18" charset="0"/>
            </a:endParaRPr>
          </a:p>
          <a:p>
            <a:pPr lvl="1" algn="just"/>
            <a:r>
              <a:rPr lang="en-US" altLang="en-US" sz="3200" dirty="0">
                <a:latin typeface="Times New Roman" panose="02020603050405020304" pitchFamily="18" charset="0"/>
                <a:cs typeface="Times New Roman" panose="02020603050405020304" pitchFamily="18" charset="0"/>
              </a:rPr>
              <a:t>Employee announced retirements </a:t>
            </a:r>
            <a:r>
              <a:rPr 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limit access to sensitive documents when employee announces their intention.</a:t>
            </a:r>
          </a:p>
          <a:p>
            <a:pPr lvl="1" algn="just"/>
            <a:r>
              <a:rPr lang="en-US" altLang="en-US" sz="3200" dirty="0">
                <a:latin typeface="Times New Roman" panose="02020603050405020304" pitchFamily="18" charset="0"/>
                <a:cs typeface="Times New Roman" panose="02020603050405020304" pitchFamily="18" charset="0"/>
              </a:rPr>
              <a:t>Forced retirement </a:t>
            </a:r>
            <a:r>
              <a:rPr 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determine risk if employee becomes </a:t>
            </a:r>
            <a:r>
              <a:rPr lang="en-US" altLang="en-US" sz="3200" dirty="0">
                <a:latin typeface="Times New Roman" panose="02020603050405020304" pitchFamily="18" charset="0"/>
                <a:cs typeface="Times New Roman" panose="02020603050405020304" pitchFamily="18" charset="0"/>
              </a:rPr>
              <a:t>dissatisfied.</a:t>
            </a:r>
            <a:endParaRPr lang="en-US" altLang="en-US" sz="3200" dirty="0">
              <a:latin typeface="Times New Roman" panose="02020603050405020304" pitchFamily="18" charset="0"/>
              <a:cs typeface="Times New Roman" panose="02020603050405020304" pitchFamily="18" charset="0"/>
            </a:endParaRPr>
          </a:p>
          <a:p>
            <a:pPr lvl="1" algn="just"/>
            <a:r>
              <a:rPr lang="en-US" altLang="en-US" sz="3200" dirty="0">
                <a:latin typeface="Times New Roman" panose="02020603050405020304" pitchFamily="18" charset="0"/>
                <a:cs typeface="Times New Roman" panose="02020603050405020304" pitchFamily="18" charset="0"/>
              </a:rPr>
              <a:t>New job offer </a:t>
            </a:r>
            <a:r>
              <a:rPr 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carefully consider continued access to sensitive information.</a:t>
            </a:r>
          </a:p>
          <a:p>
            <a:pPr lvl="1" algn="just"/>
            <a:r>
              <a:rPr lang="en-US" altLang="en-US" sz="3200" dirty="0">
                <a:latin typeface="Times New Roman" panose="02020603050405020304" pitchFamily="18" charset="0"/>
                <a:cs typeface="Times New Roman" panose="02020603050405020304" pitchFamily="18" charset="0"/>
              </a:rPr>
              <a:t>Termination </a:t>
            </a:r>
            <a:r>
              <a:rPr 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cs typeface="Times New Roman" panose="02020603050405020304" pitchFamily="18" charset="0"/>
              </a:rPr>
              <a:t>assume he is or will become </a:t>
            </a:r>
            <a:r>
              <a:rPr lang="en-US" altLang="en-US" sz="3200" dirty="0" smtClean="0">
                <a:latin typeface="Times New Roman" panose="02020603050405020304" pitchFamily="18" charset="0"/>
                <a:cs typeface="Times New Roman" panose="02020603050405020304" pitchFamily="18" charset="0"/>
              </a:rPr>
              <a:t>dissatisfied.</a:t>
            </a:r>
            <a:endParaRPr lang="en-US"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67082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3"/>
          <p:cNvSpPr>
            <a:spLocks noGrp="1"/>
          </p:cNvSpPr>
          <p:nvPr>
            <p:ph type="title"/>
          </p:nvPr>
        </p:nvSpPr>
        <p:spPr bwMode="auto">
          <a:xfrm>
            <a:off x="838200" y="0"/>
            <a:ext cx="10515600" cy="8250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Human Resources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54275" name="Content Placeholder 4"/>
          <p:cNvSpPr>
            <a:spLocks noGrp="1"/>
          </p:cNvSpPr>
          <p:nvPr>
            <p:ph idx="1"/>
          </p:nvPr>
        </p:nvSpPr>
        <p:spPr>
          <a:xfrm>
            <a:off x="1120000" y="880835"/>
            <a:ext cx="10233800" cy="5351917"/>
          </a:xfrm>
        </p:spPr>
        <p:txBody>
          <a:bodyPr>
            <a:no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Exit interviews are a powerful tool for collecting information when people leave a </a:t>
            </a:r>
            <a:r>
              <a:rPr lang="en-US" altLang="en-US" sz="3200" dirty="0" smtClean="0">
                <a:latin typeface="Times New Roman" panose="02020603050405020304" pitchFamily="18" charset="0"/>
                <a:cs typeface="Times New Roman" panose="02020603050405020304" pitchFamily="18" charset="0"/>
              </a:rPr>
              <a:t>firm</a:t>
            </a:r>
          </a:p>
          <a:p>
            <a:pPr marL="0" indent="0" algn="just" eaLnBrk="1" hangingPunct="1">
              <a:buNone/>
            </a:pPr>
            <a:endParaRPr lang="en-US" altLang="en-US" sz="32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On-boarding/off-boarding business partners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Agreements tend to be fairly specific with respect to terms associated with mutual expectations associated with the process of the business.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Important considerations prior to the establishment of the relationship include:</a:t>
            </a:r>
          </a:p>
          <a:p>
            <a:pPr lvl="2" algn="just" eaLnBrk="1" hangingPunct="1"/>
            <a:r>
              <a:rPr lang="en-US" altLang="en-US" sz="3200" dirty="0">
                <a:latin typeface="Times New Roman" panose="02020603050405020304" pitchFamily="18" charset="0"/>
                <a:cs typeface="Times New Roman" panose="02020603050405020304" pitchFamily="18" charset="0"/>
              </a:rPr>
              <a:t>On-boarding and off-boarding processes</a:t>
            </a:r>
          </a:p>
          <a:p>
            <a:pPr lvl="2" algn="just" eaLnBrk="1" hangingPunct="1"/>
            <a:r>
              <a:rPr lang="en-US" altLang="en-US" sz="3200" dirty="0">
                <a:latin typeface="Times New Roman" panose="02020603050405020304" pitchFamily="18" charset="0"/>
                <a:cs typeface="Times New Roman" panose="02020603050405020304" pitchFamily="18" charset="0"/>
              </a:rPr>
              <a:t>Data retention and destruction by the third party</a:t>
            </a:r>
          </a:p>
        </p:txBody>
      </p:sp>
    </p:spTree>
    <p:extLst>
      <p:ext uri="{BB962C8B-B14F-4D97-AF65-F5344CB8AC3E}">
        <p14:creationId xmlns:p14="http://schemas.microsoft.com/office/powerpoint/2010/main" val="2557688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bwMode="auto">
          <a:xfrm>
            <a:off x="838200" y="132897"/>
            <a:ext cx="10515600" cy="781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Human Resources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52227" name="Content Placeholder 4"/>
          <p:cNvSpPr>
            <a:spLocks noGrp="1"/>
          </p:cNvSpPr>
          <p:nvPr>
            <p:ph idx="1"/>
          </p:nvPr>
        </p:nvSpPr>
        <p:spPr>
          <a:xfrm>
            <a:off x="1119999" y="1088573"/>
            <a:ext cx="10433371" cy="5262562"/>
          </a:xfrm>
        </p:spPr>
        <p:txBody>
          <a:bodyPr>
            <a:no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Adverse reactions</a:t>
            </a:r>
          </a:p>
          <a:p>
            <a:pPr lvl="1" algn="just">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How to deal with employees who violate policies</a:t>
            </a: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Mandatory vacations</a:t>
            </a:r>
          </a:p>
          <a:p>
            <a:pPr lvl="1" algn="just" eaLnBrk="1" hangingPunct="1">
              <a:buFont typeface="Wingdings" panose="05000000000000000000" pitchFamily="2" charset="2"/>
              <a:buChar char="ü"/>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Employee who never takes time off might be involved in nefarious activity.</a:t>
            </a:r>
          </a:p>
          <a:p>
            <a:pPr lvl="1" algn="just" eaLnBrk="1" hangingPunct="1">
              <a:buFont typeface="Wingdings" panose="05000000000000000000" pitchFamily="2" charset="2"/>
              <a:buChar char="ü"/>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Requiring mandatory vacations serves as a security protection mechanism.</a:t>
            </a:r>
          </a:p>
          <a:p>
            <a:pPr lvl="2" algn="just" eaLnBrk="1" hangingPunct="1"/>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Tool to detect fraud</a:t>
            </a:r>
          </a:p>
          <a:p>
            <a:pPr lvl="2" algn="just" eaLnBrk="1" hangingPunct="1"/>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Necessity of a second person familiar with security procedures to fill in while employee on vacation</a:t>
            </a:r>
            <a:endParaRPr lang="en-US"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1982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3"/>
          <p:cNvSpPr>
            <a:spLocks noGrp="1"/>
          </p:cNvSpPr>
          <p:nvPr>
            <p:ph type="title"/>
          </p:nvPr>
        </p:nvSpPr>
        <p:spPr bwMode="auto">
          <a:xfrm>
            <a:off x="1959429" y="103868"/>
            <a:ext cx="8389258" cy="8831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Human Resources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56323" name="Content Placeholder 4"/>
          <p:cNvSpPr>
            <a:spLocks noGrp="1"/>
          </p:cNvSpPr>
          <p:nvPr>
            <p:ph idx="1"/>
          </p:nvPr>
        </p:nvSpPr>
        <p:spPr>
          <a:xfrm>
            <a:off x="1120000" y="1596571"/>
            <a:ext cx="10233800" cy="4580392"/>
          </a:xfrm>
        </p:spPr>
        <p:txBody>
          <a:bodyPr>
            <a:normAutofit/>
          </a:bodyPr>
          <a:lstStyle/>
          <a:p>
            <a:pPr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Social media networks</a:t>
            </a:r>
          </a:p>
          <a:p>
            <a:pPr lvl="1" eaLnBrk="1" hangingPunct="1">
              <a:buFont typeface="Wingdings" panose="05000000000000000000" pitchFamily="2" charset="2"/>
              <a:buChar char="ü"/>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Considered a form of third party</a:t>
            </a:r>
          </a:p>
          <a:p>
            <a:pPr lvl="1" eaLnBrk="1" hangingPunct="1">
              <a:buFont typeface="Wingdings" panose="05000000000000000000" pitchFamily="2" charset="2"/>
              <a:buChar char="ü"/>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Challenge of terms of use as there is no negotiated set of agreements with respect to requirements</a:t>
            </a:r>
          </a:p>
          <a:p>
            <a:pPr lvl="2"/>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Only option is to adopt provided terms of service</a:t>
            </a:r>
            <a:endParaRPr lang="en-US"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57750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3"/>
          <p:cNvSpPr>
            <a:spLocks noGrp="1"/>
          </p:cNvSpPr>
          <p:nvPr>
            <p:ph type="title"/>
          </p:nvPr>
        </p:nvSpPr>
        <p:spPr bwMode="auto">
          <a:xfrm>
            <a:off x="838200" y="132896"/>
            <a:ext cx="10515600" cy="854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Human Resources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58371" name="Content Placeholder 4"/>
          <p:cNvSpPr>
            <a:spLocks noGrp="1"/>
          </p:cNvSpPr>
          <p:nvPr>
            <p:ph idx="1"/>
          </p:nvPr>
        </p:nvSpPr>
        <p:spPr>
          <a:xfrm>
            <a:off x="838200" y="1204685"/>
            <a:ext cx="10515600" cy="5189992"/>
          </a:xfrm>
        </p:spPr>
        <p:txBody>
          <a:bodyPr>
            <a:noAutofit/>
          </a:bodyPr>
          <a:lstStyle/>
          <a:p>
            <a:pPr algn="just" eaLnBrk="1" hangingPunct="1">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Acceptable </a:t>
            </a:r>
            <a:r>
              <a:rPr lang="en-US" altLang="en-US" sz="3200" b="1" dirty="0" smtClean="0">
                <a:latin typeface="Times New Roman" panose="02020603050405020304" pitchFamily="18" charset="0"/>
                <a:cs typeface="Times New Roman" panose="02020603050405020304" pitchFamily="18" charset="0"/>
              </a:rPr>
              <a:t>Use Policy (</a:t>
            </a:r>
            <a:r>
              <a:rPr lang="en-US" altLang="en-US" sz="3200" b="1" dirty="0">
                <a:latin typeface="Times New Roman" panose="02020603050405020304" pitchFamily="18" charset="0"/>
                <a:cs typeface="Times New Roman" panose="02020603050405020304" pitchFamily="18" charset="0"/>
              </a:rPr>
              <a:t>AUP</a:t>
            </a:r>
            <a:r>
              <a:rPr lang="en-US" altLang="en-US" sz="3200" b="1" dirty="0" smtClean="0">
                <a:latin typeface="Times New Roman" panose="02020603050405020304" pitchFamily="18" charset="0"/>
                <a:cs typeface="Times New Roman" panose="02020603050405020304" pitchFamily="18" charset="0"/>
              </a:rPr>
              <a:t>)</a:t>
            </a:r>
          </a:p>
          <a:p>
            <a:pPr algn="just" eaLnBrk="1" hangingPunct="1">
              <a:buFont typeface="Wingdings" panose="05000000000000000000" pitchFamily="2" charset="2"/>
              <a:buChar char="v"/>
            </a:pPr>
            <a:endParaRPr lang="en-US" altLang="en-US" sz="3200" b="1" dirty="0">
              <a:latin typeface="Times New Roman" panose="02020603050405020304" pitchFamily="18" charset="0"/>
              <a:cs typeface="Times New Roman" panose="02020603050405020304" pitchFamily="18" charset="0"/>
            </a:endParaRP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AUP outlines what the organization considers to be the appropriate use of company resources, such as computer systems, e-mail, Internet access, and networks.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Goal is to ensure employee productivity while limiting organizational liability through inappropriate use of the organization’s assets.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Policy clearly delineates what activities are not allowed.</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It states if the </a:t>
            </a: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organization considers it appropriate to monitor the employees’ use of the systems and network.</a:t>
            </a:r>
            <a:endParaRPr lang="en-US"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8057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3"/>
          <p:cNvSpPr>
            <a:spLocks noGrp="1"/>
          </p:cNvSpPr>
          <p:nvPr>
            <p:ph type="title"/>
          </p:nvPr>
        </p:nvSpPr>
        <p:spPr bwMode="auto">
          <a:xfrm>
            <a:off x="838200" y="132896"/>
            <a:ext cx="10515600" cy="83956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Human Resources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60419" name="Content Placeholder 4"/>
          <p:cNvSpPr>
            <a:spLocks noGrp="1"/>
          </p:cNvSpPr>
          <p:nvPr>
            <p:ph idx="1"/>
          </p:nvPr>
        </p:nvSpPr>
        <p:spPr>
          <a:xfrm>
            <a:off x="838201" y="972457"/>
            <a:ext cx="10700656" cy="5428343"/>
          </a:xfrm>
        </p:spPr>
        <p:txBody>
          <a:bodyPr>
            <a:noAutofit/>
          </a:bodyPr>
          <a:lstStyle/>
          <a:p>
            <a:pPr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Internet usage policy</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Goal: ensure maximum employee productivity and to limit potential liability to the organization from inappropriate use of the Internet in a workplace</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Address what sites employees allowed and not allowed to visit</a:t>
            </a:r>
            <a:endParaRPr lang="en-US" altLang="en-US" sz="3200" i="1"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Spell out the acceptable use parameters</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Describe circumstances an employee allowed to post something from the organization’s network on the Web</a:t>
            </a:r>
          </a:p>
          <a:p>
            <a:pPr lvl="2" eaLnBrk="1" hangingPunct="1"/>
            <a:r>
              <a:rPr lang="en-US" altLang="en-US" sz="3200" dirty="0">
                <a:latin typeface="Times New Roman" panose="02020603050405020304" pitchFamily="18" charset="0"/>
                <a:cs typeface="Times New Roman" panose="02020603050405020304" pitchFamily="18" charset="0"/>
              </a:rPr>
              <a:t>Need procedure to post the object or message</a:t>
            </a:r>
          </a:p>
        </p:txBody>
      </p:sp>
    </p:spTree>
    <p:extLst>
      <p:ext uri="{BB962C8B-B14F-4D97-AF65-F5344CB8AC3E}">
        <p14:creationId xmlns:p14="http://schemas.microsoft.com/office/powerpoint/2010/main" val="22830453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3"/>
          <p:cNvSpPr>
            <a:spLocks noGrp="1"/>
          </p:cNvSpPr>
          <p:nvPr>
            <p:ph type="title"/>
          </p:nvPr>
        </p:nvSpPr>
        <p:spPr bwMode="auto">
          <a:xfrm>
            <a:off x="838200" y="103869"/>
            <a:ext cx="10515600" cy="99921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Human Resources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62467" name="Content Placeholder 4"/>
          <p:cNvSpPr>
            <a:spLocks noGrp="1"/>
          </p:cNvSpPr>
          <p:nvPr>
            <p:ph idx="1"/>
          </p:nvPr>
        </p:nvSpPr>
        <p:spPr>
          <a:xfrm>
            <a:off x="979100" y="954768"/>
            <a:ext cx="10374700" cy="5649232"/>
          </a:xfrm>
        </p:spPr>
        <p:txBody>
          <a:bodyPr>
            <a:noAutofit/>
          </a:bodyPr>
          <a:lstStyle/>
          <a:p>
            <a:pPr algn="just" eaLnBrk="1" hangingPunct="1">
              <a:buFont typeface="Wingdings" panose="05000000000000000000" pitchFamily="2" charset="2"/>
              <a:buChar char="v"/>
            </a:pPr>
            <a:r>
              <a:rPr lang="en-US" altLang="en-US" sz="3200" dirty="0"/>
              <a:t>E-mail usage policy</a:t>
            </a:r>
          </a:p>
          <a:p>
            <a:pPr lvl="1" algn="just">
              <a:buFont typeface="Wingdings" panose="05000000000000000000" pitchFamily="2" charset="2"/>
              <a:buChar char="ü"/>
            </a:pPr>
            <a:r>
              <a:rPr lang="en-US" altLang="en-US" sz="3200" dirty="0"/>
              <a:t>Specifies what the company allows employees to send in, or as attachments to, e-mail messages</a:t>
            </a:r>
          </a:p>
          <a:p>
            <a:pPr lvl="1" algn="just" eaLnBrk="1" hangingPunct="1">
              <a:buFont typeface="Wingdings" panose="05000000000000000000" pitchFamily="2" charset="2"/>
              <a:buChar char="ü"/>
            </a:pPr>
            <a:r>
              <a:rPr lang="en-US" altLang="en-US" sz="3200" dirty="0"/>
              <a:t>Spells out whether nonwork e-mail traffic allowed</a:t>
            </a:r>
          </a:p>
          <a:p>
            <a:pPr lvl="1" algn="just" eaLnBrk="1" hangingPunct="1">
              <a:buFont typeface="Wingdings" panose="05000000000000000000" pitchFamily="2" charset="2"/>
              <a:buChar char="ü"/>
            </a:pPr>
            <a:r>
              <a:rPr lang="en-US" altLang="en-US" sz="3200" dirty="0"/>
              <a:t>Describes type of message considered inappropriate to send</a:t>
            </a:r>
          </a:p>
          <a:p>
            <a:pPr lvl="1" algn="just" eaLnBrk="1" hangingPunct="1">
              <a:buFont typeface="Wingdings" panose="05000000000000000000" pitchFamily="2" charset="2"/>
              <a:buChar char="ü"/>
            </a:pPr>
            <a:r>
              <a:rPr lang="en-US" altLang="en-US" sz="3200" dirty="0"/>
              <a:t>Specifies disclaimers that must be attached to an employee’s message sent to an individual outside the company</a:t>
            </a:r>
          </a:p>
          <a:p>
            <a:pPr lvl="1" algn="just" eaLnBrk="1" hangingPunct="1">
              <a:buFont typeface="Wingdings" panose="05000000000000000000" pitchFamily="2" charset="2"/>
              <a:buChar char="ü"/>
            </a:pPr>
            <a:r>
              <a:rPr lang="en-US" altLang="en-US" sz="3200" dirty="0"/>
              <a:t>Reminds employees of the risks of clicking on links in </a:t>
            </a:r>
            <a:br>
              <a:rPr lang="en-US" altLang="en-US" sz="3200" dirty="0"/>
            </a:br>
            <a:r>
              <a:rPr lang="en-US" altLang="en-US" sz="3200" dirty="0"/>
              <a:t>e-mails, or opening attachments</a:t>
            </a:r>
            <a:endParaRPr lang="en-US" altLang="en-US" sz="3200" i="1" dirty="0"/>
          </a:p>
        </p:txBody>
      </p:sp>
    </p:spTree>
    <p:extLst>
      <p:ext uri="{BB962C8B-B14F-4D97-AF65-F5344CB8AC3E}">
        <p14:creationId xmlns:p14="http://schemas.microsoft.com/office/powerpoint/2010/main" val="1634591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3"/>
          <p:cNvSpPr>
            <a:spLocks noGrp="1"/>
          </p:cNvSpPr>
          <p:nvPr>
            <p:ph type="title"/>
          </p:nvPr>
        </p:nvSpPr>
        <p:spPr bwMode="auto">
          <a:xfrm>
            <a:off x="838200" y="118383"/>
            <a:ext cx="10515600" cy="9121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dirty="0">
                <a:latin typeface="Times New Roman" panose="02020603050405020304" pitchFamily="18" charset="0"/>
                <a:cs typeface="Times New Roman" panose="02020603050405020304" pitchFamily="18" charset="0"/>
              </a:rPr>
              <a:t>Human Resources </a:t>
            </a:r>
            <a:r>
              <a:rPr lang="en-US" altLang="en-US" sz="4400" dirty="0" smtClean="0">
                <a:latin typeface="Times New Roman" panose="02020603050405020304" pitchFamily="18" charset="0"/>
                <a:cs typeface="Times New Roman" panose="02020603050405020304" pitchFamily="18" charset="0"/>
              </a:rPr>
              <a:t>Policies</a:t>
            </a:r>
            <a:endParaRPr lang="en-US" altLang="en-US" sz="4400" dirty="0">
              <a:latin typeface="Times New Roman" panose="02020603050405020304" pitchFamily="18" charset="0"/>
              <a:cs typeface="Times New Roman" panose="02020603050405020304" pitchFamily="18" charset="0"/>
            </a:endParaRPr>
          </a:p>
        </p:txBody>
      </p:sp>
      <p:sp>
        <p:nvSpPr>
          <p:cNvPr id="64515" name="Content Placeholder 4"/>
          <p:cNvSpPr>
            <a:spLocks noGrp="1"/>
          </p:cNvSpPr>
          <p:nvPr>
            <p:ph idx="1"/>
          </p:nvPr>
        </p:nvSpPr>
        <p:spPr>
          <a:xfrm>
            <a:off x="838200" y="1030515"/>
            <a:ext cx="10389829" cy="5146448"/>
          </a:xfrm>
        </p:spPr>
        <p:txBody>
          <a:bodyPr>
            <a:norm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Clean desk policy</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Specifies that sensitive information must not be left unsecured in the work area when the worker is not present to act as custodian</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Identifies and prohibits things that are not obvious upon first glance, such as passwords on sticky notes under</a:t>
            </a:r>
            <a:br>
              <a:rPr lang="en-US" altLang="en-US" sz="3200"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keyboards and mouse pads or in unsecured desk drawers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Training for clean desk activities making the issue a personal one</a:t>
            </a:r>
          </a:p>
        </p:txBody>
      </p:sp>
    </p:spTree>
    <p:extLst>
      <p:ext uri="{BB962C8B-B14F-4D97-AF65-F5344CB8AC3E}">
        <p14:creationId xmlns:p14="http://schemas.microsoft.com/office/powerpoint/2010/main" val="209531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3"/>
          <p:cNvSpPr>
            <a:spLocks noGrp="1"/>
          </p:cNvSpPr>
          <p:nvPr>
            <p:ph type="title"/>
          </p:nvPr>
        </p:nvSpPr>
        <p:spPr bwMode="auto">
          <a:xfrm>
            <a:off x="838200" y="147412"/>
            <a:ext cx="10515600" cy="9847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Human Resources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66563" name="Content Placeholder 4"/>
          <p:cNvSpPr>
            <a:spLocks noGrp="1"/>
          </p:cNvSpPr>
          <p:nvPr>
            <p:ph idx="1"/>
          </p:nvPr>
        </p:nvSpPr>
        <p:spPr>
          <a:xfrm>
            <a:off x="838200" y="1001486"/>
            <a:ext cx="10515600" cy="5617028"/>
          </a:xfrm>
        </p:spPr>
        <p:txBody>
          <a:bodyPr>
            <a:no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Bring </a:t>
            </a:r>
            <a:r>
              <a:rPr lang="en-US" altLang="en-US" sz="3200" dirty="0" smtClean="0">
                <a:latin typeface="Times New Roman" panose="02020603050405020304" pitchFamily="18" charset="0"/>
                <a:cs typeface="Times New Roman" panose="02020603050405020304" pitchFamily="18" charset="0"/>
              </a:rPr>
              <a:t>Your Own Device (</a:t>
            </a:r>
            <a:r>
              <a:rPr lang="en-US" altLang="en-US" sz="3200" dirty="0">
                <a:latin typeface="Times New Roman" panose="02020603050405020304" pitchFamily="18" charset="0"/>
                <a:cs typeface="Times New Roman" panose="02020603050405020304" pitchFamily="18" charset="0"/>
              </a:rPr>
              <a:t>BYOD) policy</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Primary purpose</a:t>
            </a:r>
          </a:p>
          <a:p>
            <a:pPr lvl="2" algn="just" eaLnBrk="1" hangingPunct="1"/>
            <a:r>
              <a:rPr lang="en-US" altLang="en-US" sz="3200" dirty="0">
                <a:latin typeface="Times New Roman" panose="02020603050405020304" pitchFamily="18" charset="0"/>
                <a:cs typeface="Times New Roman" panose="02020603050405020304" pitchFamily="18" charset="0"/>
              </a:rPr>
              <a:t>Lower risk associated with connecting a wide array of personal devices to a company’s network and accessing sensitive data on them.</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Center element of a BYOD policy</a:t>
            </a:r>
          </a:p>
          <a:p>
            <a:pPr lvl="2" algn="just" eaLnBrk="1" hangingPunct="1"/>
            <a:r>
              <a:rPr lang="en-US" altLang="en-US" sz="3200" dirty="0">
                <a:latin typeface="Times New Roman" panose="02020603050405020304" pitchFamily="18" charset="0"/>
                <a:cs typeface="Times New Roman" panose="02020603050405020304" pitchFamily="18" charset="0"/>
              </a:rPr>
              <a:t>Security, in the form of risk management</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Device requirements</a:t>
            </a:r>
          </a:p>
          <a:p>
            <a:pPr lvl="2" algn="just"/>
            <a:r>
              <a:rPr lang="en-US" altLang="en-US" sz="3200" dirty="0">
                <a:latin typeface="Times New Roman" panose="02020603050405020304" pitchFamily="18" charset="0"/>
                <a:cs typeface="Times New Roman" panose="02020603050405020304" pitchFamily="18" charset="0"/>
              </a:rPr>
              <a:t>Must be maintained in a current, up-to-date software posture, and with certain security features</a:t>
            </a:r>
          </a:p>
        </p:txBody>
      </p:sp>
    </p:spTree>
    <p:extLst>
      <p:ext uri="{BB962C8B-B14F-4D97-AF65-F5344CB8AC3E}">
        <p14:creationId xmlns:p14="http://schemas.microsoft.com/office/powerpoint/2010/main" val="2999718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3"/>
          <p:cNvSpPr>
            <a:spLocks noGrp="1"/>
          </p:cNvSpPr>
          <p:nvPr>
            <p:ph type="title"/>
          </p:nvPr>
        </p:nvSpPr>
        <p:spPr bwMode="auto">
          <a:xfrm>
            <a:off x="838200" y="103869"/>
            <a:ext cx="10515600" cy="9121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Human Resources </a:t>
            </a:r>
            <a:r>
              <a:rPr lang="en-US" altLang="en-US" sz="4400" b="1" dirty="0" smtClean="0">
                <a:latin typeface="Times New Roman" panose="02020603050405020304" pitchFamily="18" charset="0"/>
                <a:cs typeface="Times New Roman" panose="02020603050405020304" pitchFamily="18" charset="0"/>
              </a:rPr>
              <a:t>Policies</a:t>
            </a:r>
            <a:endParaRPr lang="en-US" altLang="en-US" sz="4400" b="1" dirty="0">
              <a:latin typeface="Times New Roman" panose="02020603050405020304" pitchFamily="18" charset="0"/>
              <a:cs typeface="Times New Roman" panose="02020603050405020304" pitchFamily="18" charset="0"/>
            </a:endParaRPr>
          </a:p>
        </p:txBody>
      </p:sp>
      <p:sp>
        <p:nvSpPr>
          <p:cNvPr id="68611" name="Content Placeholder 4"/>
          <p:cNvSpPr>
            <a:spLocks noGrp="1"/>
          </p:cNvSpPr>
          <p:nvPr>
            <p:ph idx="1"/>
          </p:nvPr>
        </p:nvSpPr>
        <p:spPr>
          <a:xfrm>
            <a:off x="1045029" y="1016001"/>
            <a:ext cx="10159999" cy="5537199"/>
          </a:xfrm>
        </p:spPr>
        <p:txBody>
          <a:bodyPr>
            <a:no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Privacy policy</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Explains guiding principles in guarding personal data to which organizations are given access</a:t>
            </a:r>
          </a:p>
          <a:p>
            <a:pPr algn="just" eaLnBrk="1" hangingPunct="1">
              <a:buFont typeface="Wingdings" panose="05000000000000000000" pitchFamily="2" charset="2"/>
              <a:buChar char="v"/>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Personally identifiable information (PII)</a:t>
            </a:r>
          </a:p>
          <a:p>
            <a:pPr lvl="1" algn="just" eaLnBrk="1" hangingPunct="1">
              <a:buFont typeface="Wingdings" panose="05000000000000000000" pitchFamily="2" charset="2"/>
              <a:buChar char="ü"/>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Includes any data that can be used to uniquely identify an individual</a:t>
            </a:r>
          </a:p>
          <a:p>
            <a:pPr lvl="2" algn="just" eaLnBrk="1" hangingPunct="1"/>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Name, address, driver’s license number, and other details</a:t>
            </a:r>
          </a:p>
          <a:p>
            <a:pPr algn="just" eaLnBrk="1" hangingPunct="1">
              <a:buFont typeface="Wingdings" panose="05000000000000000000" pitchFamily="2" charset="2"/>
              <a:buChar char="v"/>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Necessary measures taken by company</a:t>
            </a:r>
          </a:p>
          <a:p>
            <a:pPr lvl="1" algn="just">
              <a:buFont typeface="Wingdings" panose="05000000000000000000" pitchFamily="2" charset="2"/>
              <a:buChar char="ü"/>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Ensure data is protected from compromise</a:t>
            </a:r>
            <a:endParaRPr lang="en-US"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39608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3"/>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Due Care and Due Diligence</a:t>
            </a:r>
          </a:p>
        </p:txBody>
      </p:sp>
      <p:sp>
        <p:nvSpPr>
          <p:cNvPr id="70659" name="Content Placeholder 4"/>
          <p:cNvSpPr>
            <a:spLocks noGrp="1"/>
          </p:cNvSpPr>
          <p:nvPr>
            <p:ph idx="1"/>
          </p:nvPr>
        </p:nvSpPr>
        <p:spPr>
          <a:xfrm>
            <a:off x="1120000" y="1567543"/>
            <a:ext cx="10233800" cy="4609420"/>
          </a:xfrm>
        </p:spPr>
        <p:txBody>
          <a:bodyPr>
            <a:normAutofit/>
          </a:bodyPr>
          <a:lstStyle/>
          <a:p>
            <a:pPr algn="just" eaLnBrk="1" hangingPunct="1">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Due care </a:t>
            </a:r>
            <a:r>
              <a:rPr lang="en-US" altLang="en-US" sz="3200" dirty="0">
                <a:latin typeface="Times New Roman" panose="02020603050405020304" pitchFamily="18" charset="0"/>
                <a:cs typeface="Times New Roman" panose="02020603050405020304" pitchFamily="18" charset="0"/>
              </a:rPr>
              <a:t>generally refers to the standard of care a reasonable person is expected to exercise in all situations.</a:t>
            </a:r>
          </a:p>
          <a:p>
            <a:pPr algn="just" eaLnBrk="1" hangingPunct="1">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Due diligence </a:t>
            </a:r>
            <a:r>
              <a:rPr lang="en-US" altLang="en-US" sz="3200" dirty="0">
                <a:latin typeface="Times New Roman" panose="02020603050405020304" pitchFamily="18" charset="0"/>
                <a:cs typeface="Times New Roman" panose="02020603050405020304" pitchFamily="18" charset="0"/>
              </a:rPr>
              <a:t>generally refers to the standard of care a business is expected to exercise in preparation for a business transaction.</a:t>
            </a: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The standard applied—reasonableness—is extremely subjective and often is determined by a jury.</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Many sectors have a set of “security best practices.”</a:t>
            </a:r>
          </a:p>
        </p:txBody>
      </p:sp>
    </p:spTree>
    <p:extLst>
      <p:ext uri="{BB962C8B-B14F-4D97-AF65-F5344CB8AC3E}">
        <p14:creationId xmlns:p14="http://schemas.microsoft.com/office/powerpoint/2010/main" val="2739262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3"/>
          <p:cNvSpPr>
            <a:spLocks noGrp="1"/>
          </p:cNvSpPr>
          <p:nvPr>
            <p:ph type="title"/>
          </p:nvPr>
        </p:nvSpPr>
        <p:spPr bwMode="auto">
          <a:xfrm>
            <a:off x="838200" y="118383"/>
            <a:ext cx="10515600" cy="79601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Due Process</a:t>
            </a:r>
          </a:p>
        </p:txBody>
      </p:sp>
      <p:sp>
        <p:nvSpPr>
          <p:cNvPr id="72707" name="Content Placeholder 4"/>
          <p:cNvSpPr>
            <a:spLocks noGrp="1"/>
          </p:cNvSpPr>
          <p:nvPr>
            <p:ph idx="1"/>
          </p:nvPr>
        </p:nvSpPr>
        <p:spPr>
          <a:xfrm>
            <a:off x="1120000" y="1277258"/>
            <a:ext cx="10233800" cy="5131934"/>
          </a:xfrm>
        </p:spPr>
        <p:txBody>
          <a:bodyPr>
            <a:no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Due process is concerned with guaranteeing fundamental fairness, justice, and liberty in relation to an individual’s legal rights.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Individual’s rights outlined by Constitution and Bill of Rights</a:t>
            </a: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Procedural due process uses concept of “fair”.</a:t>
            </a: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Courts recognize series of rights embodied by the Constitution.</a:t>
            </a: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Organizational due process occurs in administrative actions adversely affecting employees.</a:t>
            </a:r>
          </a:p>
        </p:txBody>
      </p:sp>
    </p:spTree>
    <p:extLst>
      <p:ext uri="{BB962C8B-B14F-4D97-AF65-F5344CB8AC3E}">
        <p14:creationId xmlns:p14="http://schemas.microsoft.com/office/powerpoint/2010/main" val="29588517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3"/>
          <p:cNvSpPr>
            <a:spLocks noGrp="1"/>
          </p:cNvSpPr>
          <p:nvPr>
            <p:ph type="title"/>
          </p:nvPr>
        </p:nvSpPr>
        <p:spPr bwMode="auto">
          <a:xfrm>
            <a:off x="838200" y="147412"/>
            <a:ext cx="10515600" cy="9121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Incident Response Policies and Procedures</a:t>
            </a:r>
          </a:p>
        </p:txBody>
      </p:sp>
      <p:sp>
        <p:nvSpPr>
          <p:cNvPr id="74755" name="Content Placeholder 4"/>
          <p:cNvSpPr>
            <a:spLocks noGrp="1"/>
          </p:cNvSpPr>
          <p:nvPr>
            <p:ph idx="1"/>
          </p:nvPr>
        </p:nvSpPr>
        <p:spPr>
          <a:xfrm>
            <a:off x="920429" y="1553029"/>
            <a:ext cx="10433371" cy="4644571"/>
          </a:xfrm>
        </p:spPr>
        <p:txBody>
          <a:bodyPr>
            <a:normAutofit/>
          </a:bodyPr>
          <a:lstStyle/>
          <a:p>
            <a:pPr algn="just" eaLnBrk="1" hangingPunct="1">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Incident response policy </a:t>
            </a:r>
            <a:r>
              <a:rPr lang="en-US" altLang="en-US" sz="3200" dirty="0">
                <a:latin typeface="Times New Roman" panose="02020603050405020304" pitchFamily="18" charset="0"/>
                <a:cs typeface="Times New Roman" panose="02020603050405020304" pitchFamily="18" charset="0"/>
              </a:rPr>
              <a:t>and associated procedures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Developed to outline how the organization will prepare for security incidents and respond to them when they occur</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Designed in advance</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Should cover five phases:</a:t>
            </a:r>
          </a:p>
          <a:p>
            <a:pPr lvl="2" algn="just" eaLnBrk="1" hangingPunct="1"/>
            <a:r>
              <a:rPr lang="en-US" altLang="en-US" sz="3200" dirty="0">
                <a:latin typeface="Times New Roman" panose="02020603050405020304" pitchFamily="18" charset="0"/>
                <a:cs typeface="Times New Roman" panose="02020603050405020304" pitchFamily="18" charset="0"/>
              </a:rPr>
              <a:t>Preparation, detection, containment and eradication, recovery, and follow-up actions</a:t>
            </a:r>
          </a:p>
        </p:txBody>
      </p:sp>
    </p:spTree>
    <p:extLst>
      <p:ext uri="{BB962C8B-B14F-4D97-AF65-F5344CB8AC3E}">
        <p14:creationId xmlns:p14="http://schemas.microsoft.com/office/powerpoint/2010/main" val="3938642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3"/>
          <p:cNvSpPr>
            <a:spLocks noGrp="1"/>
          </p:cNvSpPr>
          <p:nvPr>
            <p:ph type="title"/>
          </p:nvPr>
        </p:nvSpPr>
        <p:spPr bwMode="auto">
          <a:xfrm>
            <a:off x="838200" y="176440"/>
            <a:ext cx="10515600" cy="89761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Security Awareness and Training</a:t>
            </a:r>
          </a:p>
        </p:txBody>
      </p:sp>
      <p:sp>
        <p:nvSpPr>
          <p:cNvPr id="76803" name="Content Placeholder 4"/>
          <p:cNvSpPr>
            <a:spLocks noGrp="1"/>
          </p:cNvSpPr>
          <p:nvPr>
            <p:ph idx="1"/>
          </p:nvPr>
        </p:nvSpPr>
        <p:spPr>
          <a:xfrm>
            <a:off x="979099" y="1074058"/>
            <a:ext cx="10646843" cy="5407705"/>
          </a:xfrm>
        </p:spPr>
        <p:txBody>
          <a:bodyPr>
            <a:no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Programs enhance an organization’s security posture.</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Teach personnel how to follow the correct set of actions to perform their duties in a secure manner</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Make personnel aware of the indicators and effects of social engineering attacks</a:t>
            </a: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Properly trained employees perform duties in a more effective manner.</a:t>
            </a: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Security awareness programs and campaigns include:</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Seminars, videos, posters, newsletters, similar materials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Fairly easy to implement and not very costly</a:t>
            </a:r>
          </a:p>
        </p:txBody>
      </p:sp>
    </p:spTree>
    <p:extLst>
      <p:ext uri="{BB962C8B-B14F-4D97-AF65-F5344CB8AC3E}">
        <p14:creationId xmlns:p14="http://schemas.microsoft.com/office/powerpoint/2010/main" val="33626385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3"/>
          <p:cNvSpPr>
            <a:spLocks noGrp="1"/>
          </p:cNvSpPr>
          <p:nvPr>
            <p:ph type="title"/>
          </p:nvPr>
        </p:nvSpPr>
        <p:spPr bwMode="auto">
          <a:xfrm>
            <a:off x="838200" y="118383"/>
            <a:ext cx="10515600" cy="79601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Security Policy Training and Procedures</a:t>
            </a:r>
          </a:p>
        </p:txBody>
      </p:sp>
      <p:sp>
        <p:nvSpPr>
          <p:cNvPr id="78851" name="Content Placeholder 4"/>
          <p:cNvSpPr>
            <a:spLocks noGrp="1"/>
          </p:cNvSpPr>
          <p:nvPr>
            <p:ph idx="1"/>
          </p:nvPr>
        </p:nvSpPr>
        <p:spPr>
          <a:xfrm>
            <a:off x="670057" y="1132114"/>
            <a:ext cx="10462400" cy="5457372"/>
          </a:xfrm>
        </p:spPr>
        <p:txBody>
          <a:bodyPr>
            <a:no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Personnel need training with respect to the tasks and expectations to perform complex tasks.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Applies to security policy and operational security </a:t>
            </a:r>
            <a:r>
              <a:rPr lang="en-US" altLang="en-US" sz="3200" dirty="0" smtClean="0">
                <a:latin typeface="Times New Roman" panose="02020603050405020304" pitchFamily="18" charset="0"/>
                <a:cs typeface="Times New Roman" panose="02020603050405020304" pitchFamily="18" charset="0"/>
              </a:rPr>
              <a:t>details</a:t>
            </a:r>
          </a:p>
          <a:p>
            <a:pPr lvl="1" algn="just" eaLnBrk="1" hangingPunct="1">
              <a:buFont typeface="Wingdings" panose="05000000000000000000" pitchFamily="2" charset="2"/>
              <a:buChar char="ü"/>
            </a:pPr>
            <a:endParaRPr lang="en-US" altLang="en-US" sz="32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v"/>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Use refresher training for periodic reinforcement.</a:t>
            </a:r>
          </a:p>
          <a:p>
            <a:pPr algn="just" eaLnBrk="1" hangingPunct="1">
              <a:buFont typeface="Wingdings" panose="05000000000000000000" pitchFamily="2" charset="2"/>
              <a:buChar char="v"/>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Collection of policies should paint a picture describing the desired security culture of the organization.</a:t>
            </a:r>
          </a:p>
          <a:p>
            <a:pPr lvl="1" algn="just">
              <a:buFont typeface="Wingdings" panose="05000000000000000000" pitchFamily="2" charset="2"/>
              <a:buChar char="ü"/>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Security policy</a:t>
            </a:r>
            <a:r>
              <a:rPr lang="en-US" altLang="en-US" sz="32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high-level directive</a:t>
            </a:r>
          </a:p>
          <a:p>
            <a:pPr lvl="1" algn="just">
              <a:buFont typeface="Wingdings" panose="05000000000000000000" pitchFamily="2" charset="2"/>
              <a:buChar char="ü"/>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Second-level policies</a:t>
            </a:r>
            <a:r>
              <a:rPr lang="en-US" altLang="en-US" sz="32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 </a:t>
            </a: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password, access, information handling, and acceptable use policies</a:t>
            </a:r>
            <a:endParaRPr lang="en-US"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91273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3"/>
          <p:cNvSpPr>
            <a:spLocks noGrp="1"/>
          </p:cNvSpPr>
          <p:nvPr>
            <p:ph type="title"/>
          </p:nvPr>
        </p:nvSpPr>
        <p:spPr bwMode="auto">
          <a:xfrm>
            <a:off x="1302657" y="161925"/>
            <a:ext cx="8552543" cy="82504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Role-based Training</a:t>
            </a:r>
          </a:p>
        </p:txBody>
      </p:sp>
      <p:sp>
        <p:nvSpPr>
          <p:cNvPr id="80899" name="Content Placeholder 4"/>
          <p:cNvSpPr>
            <a:spLocks noGrp="1"/>
          </p:cNvSpPr>
          <p:nvPr>
            <p:ph idx="1"/>
          </p:nvPr>
        </p:nvSpPr>
        <p:spPr>
          <a:xfrm>
            <a:off x="1120000" y="1509485"/>
            <a:ext cx="10233800" cy="4760687"/>
          </a:xfrm>
        </p:spPr>
        <p:txBody>
          <a:bodyPr>
            <a:normAutofit/>
          </a:bodyPr>
          <a:lstStyle/>
          <a:p>
            <a:pPr eaLnBrk="1" hangingPunct="1"/>
            <a:r>
              <a:rPr lang="en-US" altLang="en-US" sz="3200" dirty="0">
                <a:latin typeface="Times New Roman" panose="02020603050405020304" pitchFamily="18" charset="0"/>
                <a:cs typeface="Times New Roman" panose="02020603050405020304" pitchFamily="18" charset="0"/>
              </a:rPr>
              <a:t>Training needs to be targeted to the user with regard</a:t>
            </a:r>
            <a:br>
              <a:rPr lang="en-US" altLang="en-US" sz="3200"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to their role in the subject of the training.</a:t>
            </a:r>
          </a:p>
          <a:p>
            <a:pPr eaLnBrk="1" hangingPunct="1"/>
            <a:r>
              <a:rPr lang="en-US" altLang="en-US" sz="3200" dirty="0">
                <a:latin typeface="Times New Roman" panose="02020603050405020304" pitchFamily="18" charset="0"/>
                <a:cs typeface="Times New Roman" panose="02020603050405020304" pitchFamily="18" charset="0"/>
              </a:rPr>
              <a:t>Role-based training is an important part of information security training</a:t>
            </a:r>
            <a:r>
              <a:rPr lang="en-US" altLang="en-US" sz="3200" dirty="0" smtClean="0">
                <a:latin typeface="Times New Roman" panose="02020603050405020304" pitchFamily="18" charset="0"/>
                <a:cs typeface="Times New Roman" panose="02020603050405020304" pitchFamily="18" charset="0"/>
              </a:rPr>
              <a:t>.</a:t>
            </a:r>
          </a:p>
          <a:p>
            <a:pPr eaLnBrk="1" hangingPunct="1"/>
            <a:endParaRPr lang="en-US" altLang="en-US" sz="3200" dirty="0">
              <a:latin typeface="Times New Roman" panose="02020603050405020304" pitchFamily="18" charset="0"/>
              <a:cs typeface="Times New Roman" panose="02020603050405020304" pitchFamily="18" charset="0"/>
            </a:endParaRPr>
          </a:p>
          <a:p>
            <a:pPr eaLnBrk="1" hangingPunct="1"/>
            <a:r>
              <a:rPr lang="en-US" altLang="en-US" sz="3200" dirty="0">
                <a:latin typeface="Times New Roman" panose="02020603050405020304" pitchFamily="18" charset="0"/>
                <a:cs typeface="Times New Roman" panose="02020603050405020304" pitchFamily="18" charset="0"/>
              </a:rPr>
              <a:t>Applies to:</a:t>
            </a:r>
          </a:p>
          <a:p>
            <a:pPr lvl="1"/>
            <a:r>
              <a:rPr lang="en-US" altLang="en-US" sz="3200" dirty="0">
                <a:latin typeface="Times New Roman" panose="02020603050405020304" pitchFamily="18" charset="0"/>
                <a:cs typeface="Times New Roman" panose="02020603050405020304" pitchFamily="18" charset="0"/>
              </a:rPr>
              <a:t>Data Owner			</a:t>
            </a:r>
            <a:r>
              <a:rPr lang="en-US" altLang="en-US" sz="3200" dirty="0" smtClean="0">
                <a:latin typeface="Times New Roman" panose="02020603050405020304" pitchFamily="18" charset="0"/>
                <a:cs typeface="Times New Roman" panose="02020603050405020304" pitchFamily="18" charset="0"/>
              </a:rPr>
              <a:t>         - </a:t>
            </a:r>
            <a:r>
              <a:rPr lang="en-US" altLang="en-US" sz="3200" dirty="0">
                <a:latin typeface="Times New Roman" panose="02020603050405020304" pitchFamily="18" charset="0"/>
                <a:cs typeface="Times New Roman" panose="02020603050405020304" pitchFamily="18" charset="0"/>
              </a:rPr>
              <a:t>User</a:t>
            </a:r>
          </a:p>
          <a:p>
            <a:pPr lvl="1"/>
            <a:r>
              <a:rPr lang="en-US" altLang="en-US" sz="3200" dirty="0">
                <a:latin typeface="Times New Roman" panose="02020603050405020304" pitchFamily="18" charset="0"/>
                <a:cs typeface="Times New Roman" panose="02020603050405020304" pitchFamily="18" charset="0"/>
              </a:rPr>
              <a:t>System Administrator		- Privileged User</a:t>
            </a:r>
          </a:p>
          <a:p>
            <a:pPr lvl="1"/>
            <a:r>
              <a:rPr lang="en-US" altLang="en-US" sz="3200" dirty="0">
                <a:latin typeface="Times New Roman" panose="02020603050405020304" pitchFamily="18" charset="0"/>
                <a:cs typeface="Times New Roman" panose="02020603050405020304" pitchFamily="18" charset="0"/>
              </a:rPr>
              <a:t>System Owner			- Executive User</a:t>
            </a:r>
          </a:p>
        </p:txBody>
      </p:sp>
    </p:spTree>
    <p:extLst>
      <p:ext uri="{BB962C8B-B14F-4D97-AF65-F5344CB8AC3E}">
        <p14:creationId xmlns:p14="http://schemas.microsoft.com/office/powerpoint/2010/main" val="15505629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3"/>
          <p:cNvSpPr>
            <a:spLocks noGrp="1"/>
          </p:cNvSpPr>
          <p:nvPr>
            <p:ph type="title"/>
          </p:nvPr>
        </p:nvSpPr>
        <p:spPr bwMode="auto">
          <a:xfrm>
            <a:off x="1132114" y="130630"/>
            <a:ext cx="9942286" cy="12917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pPr algn="ctr" eaLnBrk="1" hangingPunct="1"/>
            <a:r>
              <a:rPr lang="en-US" altLang="en-US" sz="4400" b="1" dirty="0">
                <a:latin typeface="Times New Roman" panose="02020603050405020304" pitchFamily="18" charset="0"/>
                <a:cs typeface="Times New Roman" panose="02020603050405020304" pitchFamily="18" charset="0"/>
              </a:rPr>
              <a:t>Compliance with Laws, Best Practices,</a:t>
            </a:r>
            <a:br>
              <a:rPr lang="en-US" altLang="en-US" sz="4400" b="1" dirty="0">
                <a:latin typeface="Times New Roman" panose="02020603050405020304" pitchFamily="18" charset="0"/>
                <a:cs typeface="Times New Roman" panose="02020603050405020304" pitchFamily="18" charset="0"/>
              </a:rPr>
            </a:br>
            <a:r>
              <a:rPr lang="en-US" altLang="en-US" sz="4400" b="1" dirty="0">
                <a:latin typeface="Times New Roman" panose="02020603050405020304" pitchFamily="18" charset="0"/>
                <a:cs typeface="Times New Roman" panose="02020603050405020304" pitchFamily="18" charset="0"/>
              </a:rPr>
              <a:t>and </a:t>
            </a:r>
            <a:r>
              <a:rPr lang="en-US" altLang="en-US" sz="4400" b="1" dirty="0" smtClean="0">
                <a:latin typeface="Times New Roman" panose="02020603050405020304" pitchFamily="18" charset="0"/>
                <a:cs typeface="Times New Roman" panose="02020603050405020304" pitchFamily="18" charset="0"/>
              </a:rPr>
              <a:t>Standards</a:t>
            </a:r>
            <a:endParaRPr lang="en-US" altLang="en-US" sz="4400" b="1" dirty="0">
              <a:latin typeface="Times New Roman" panose="02020603050405020304" pitchFamily="18" charset="0"/>
              <a:cs typeface="Times New Roman" panose="02020603050405020304" pitchFamily="18" charset="0"/>
            </a:endParaRPr>
          </a:p>
        </p:txBody>
      </p:sp>
      <p:sp>
        <p:nvSpPr>
          <p:cNvPr id="82947" name="Content Placeholder 4"/>
          <p:cNvSpPr>
            <a:spLocks noGrp="1"/>
          </p:cNvSpPr>
          <p:nvPr>
            <p:ph idx="1"/>
          </p:nvPr>
        </p:nvSpPr>
        <p:spPr>
          <a:xfrm>
            <a:off x="1502228" y="2104571"/>
            <a:ext cx="9441543" cy="3974874"/>
          </a:xfrm>
        </p:spPr>
        <p:txBody>
          <a:bodyPr>
            <a:norm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Wide array of laws, regulations, contractual requirements, standards, and best practices associated with information security</a:t>
            </a:r>
            <a:r>
              <a:rPr lang="en-US" altLang="en-US" sz="3200" dirty="0" smtClean="0">
                <a:latin typeface="Times New Roman" panose="02020603050405020304" pitchFamily="18" charset="0"/>
                <a:cs typeface="Times New Roman" panose="02020603050405020304" pitchFamily="18" charset="0"/>
              </a:rPr>
              <a:t>.</a:t>
            </a:r>
          </a:p>
          <a:p>
            <a:pPr algn="just" eaLnBrk="1" hangingPunct="1">
              <a:buFont typeface="Wingdings" panose="05000000000000000000" pitchFamily="2" charset="2"/>
              <a:buChar char="v"/>
            </a:pPr>
            <a:endParaRPr lang="en-US" altLang="en-US" sz="3200" dirty="0">
              <a:latin typeface="Times New Roman" panose="02020603050405020304" pitchFamily="18" charset="0"/>
              <a:cs typeface="Times New Roman" panose="02020603050405020304" pitchFamily="18" charset="0"/>
            </a:endParaRP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Organization must build them into their own policies and procedures.</a:t>
            </a:r>
          </a:p>
        </p:txBody>
      </p:sp>
    </p:spTree>
    <p:extLst>
      <p:ext uri="{BB962C8B-B14F-4D97-AF65-F5344CB8AC3E}">
        <p14:creationId xmlns:p14="http://schemas.microsoft.com/office/powerpoint/2010/main" val="30668033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3"/>
          <p:cNvSpPr>
            <a:spLocks noGrp="1"/>
          </p:cNvSpPr>
          <p:nvPr>
            <p:ph type="title"/>
          </p:nvPr>
        </p:nvSpPr>
        <p:spPr bwMode="auto">
          <a:xfrm>
            <a:off x="950684" y="0"/>
            <a:ext cx="9964057" cy="11763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pPr algn="ctr" eaLnBrk="1" hangingPunct="1"/>
            <a:r>
              <a:rPr lang="en-US" altLang="en-US" sz="4400" b="1" dirty="0">
                <a:latin typeface="Times New Roman" panose="02020603050405020304" pitchFamily="18" charset="0"/>
                <a:cs typeface="Times New Roman" panose="02020603050405020304" pitchFamily="18" charset="0"/>
              </a:rPr>
              <a:t>Compliance with Laws, Best Practices,</a:t>
            </a:r>
            <a:br>
              <a:rPr lang="en-US" altLang="en-US" sz="4400" b="1" dirty="0">
                <a:latin typeface="Times New Roman" panose="02020603050405020304" pitchFamily="18" charset="0"/>
                <a:cs typeface="Times New Roman" panose="02020603050405020304" pitchFamily="18" charset="0"/>
              </a:rPr>
            </a:br>
            <a:r>
              <a:rPr lang="en-US" altLang="en-US" sz="4400" b="1" dirty="0">
                <a:latin typeface="Times New Roman" panose="02020603050405020304" pitchFamily="18" charset="0"/>
                <a:cs typeface="Times New Roman" panose="02020603050405020304" pitchFamily="18" charset="0"/>
              </a:rPr>
              <a:t>and </a:t>
            </a:r>
            <a:r>
              <a:rPr lang="en-US" altLang="en-US" sz="4400" b="1" dirty="0" smtClean="0">
                <a:latin typeface="Times New Roman" panose="02020603050405020304" pitchFamily="18" charset="0"/>
                <a:cs typeface="Times New Roman" panose="02020603050405020304" pitchFamily="18" charset="0"/>
              </a:rPr>
              <a:t>Standards</a:t>
            </a:r>
            <a:endParaRPr lang="en-US" altLang="en-US" sz="4400" b="1" dirty="0">
              <a:latin typeface="Times New Roman" panose="02020603050405020304" pitchFamily="18" charset="0"/>
              <a:cs typeface="Times New Roman" panose="02020603050405020304" pitchFamily="18" charset="0"/>
            </a:endParaRPr>
          </a:p>
        </p:txBody>
      </p:sp>
      <p:sp>
        <p:nvSpPr>
          <p:cNvPr id="82947" name="Content Placeholder 4"/>
          <p:cNvSpPr>
            <a:spLocks noGrp="1"/>
          </p:cNvSpPr>
          <p:nvPr>
            <p:ph idx="1"/>
          </p:nvPr>
        </p:nvSpPr>
        <p:spPr>
          <a:xfrm>
            <a:off x="1291771" y="1727200"/>
            <a:ext cx="9622970" cy="4395788"/>
          </a:xfrm>
        </p:spPr>
        <p:txBody>
          <a:bodyPr>
            <a:normAutofit/>
          </a:bodyPr>
          <a:lstStyle/>
          <a:p>
            <a:pPr algn="just">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External requirements impart a specific training and awareness component upon the organization</a:t>
            </a:r>
            <a:r>
              <a:rPr lang="en-US" altLang="en-US" sz="32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v"/>
            </a:pPr>
            <a:endParaRPr lang="en-US" altLang="en-US" sz="32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Payment Card Industry Data Security Standard (PCI DSS), Gramm Leach Bliley Act (GLBA), or Health Insurance Portability Accountability Act (HIPAA)</a:t>
            </a:r>
          </a:p>
        </p:txBody>
      </p:sp>
    </p:spTree>
    <p:extLst>
      <p:ext uri="{BB962C8B-B14F-4D97-AF65-F5344CB8AC3E}">
        <p14:creationId xmlns:p14="http://schemas.microsoft.com/office/powerpoint/2010/main" val="13906677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3"/>
          <p:cNvSpPr>
            <a:spLocks noGrp="1"/>
          </p:cNvSpPr>
          <p:nvPr>
            <p:ph type="title"/>
          </p:nvPr>
        </p:nvSpPr>
        <p:spPr bwMode="auto">
          <a:xfrm>
            <a:off x="838200" y="118382"/>
            <a:ext cx="10515600" cy="854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User Habits</a:t>
            </a:r>
          </a:p>
        </p:txBody>
      </p:sp>
      <p:sp>
        <p:nvSpPr>
          <p:cNvPr id="84995" name="Content Placeholder 4"/>
          <p:cNvSpPr>
            <a:spLocks noGrp="1"/>
          </p:cNvSpPr>
          <p:nvPr>
            <p:ph idx="1"/>
          </p:nvPr>
        </p:nvSpPr>
        <p:spPr>
          <a:xfrm>
            <a:off x="1120000" y="1190171"/>
            <a:ext cx="10233800" cy="4986792"/>
          </a:xfrm>
        </p:spPr>
        <p:txBody>
          <a:bodyPr>
            <a:normAutofit/>
          </a:bodyPr>
          <a:lstStyle/>
          <a:p>
            <a:pPr algn="just" eaLnBrk="1" hangingPunct="1">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User habits </a:t>
            </a:r>
            <a:r>
              <a:rPr lang="en-US" altLang="en-US" sz="3200" dirty="0">
                <a:latin typeface="Times New Roman" panose="02020603050405020304" pitchFamily="18" charset="0"/>
                <a:cs typeface="Times New Roman" panose="02020603050405020304" pitchFamily="18" charset="0"/>
              </a:rPr>
              <a:t>are a front-line security tool in engaging the workforce to improve the overall security posture of an organization</a:t>
            </a:r>
            <a:r>
              <a:rPr lang="en-US" altLang="en-US" sz="3200" dirty="0" smtClean="0">
                <a:latin typeface="Times New Roman" panose="02020603050405020304" pitchFamily="18" charset="0"/>
                <a:cs typeface="Times New Roman" panose="02020603050405020304" pitchFamily="18" charset="0"/>
              </a:rPr>
              <a:t>.</a:t>
            </a:r>
          </a:p>
          <a:p>
            <a:pPr algn="just" eaLnBrk="1" hangingPunct="1">
              <a:buFont typeface="Wingdings" panose="05000000000000000000" pitchFamily="2" charset="2"/>
              <a:buChar char="v"/>
            </a:pPr>
            <a:endParaRPr lang="en-US" altLang="en-US" sz="32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Individual user responsibilities vary between organizations and the type of business in which each organization is involved.</a:t>
            </a:r>
          </a:p>
          <a:p>
            <a:pPr lvl="1" algn="just">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There are certain very basic responsibilities that all users should be instructed to adopt.</a:t>
            </a:r>
          </a:p>
        </p:txBody>
      </p:sp>
    </p:spTree>
    <p:extLst>
      <p:ext uri="{BB962C8B-B14F-4D97-AF65-F5344CB8AC3E}">
        <p14:creationId xmlns:p14="http://schemas.microsoft.com/office/powerpoint/2010/main" val="26621165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3"/>
          <p:cNvSpPr>
            <a:spLocks noGrp="1"/>
          </p:cNvSpPr>
          <p:nvPr>
            <p:ph type="title"/>
          </p:nvPr>
        </p:nvSpPr>
        <p:spPr bwMode="auto">
          <a:xfrm>
            <a:off x="838200" y="147412"/>
            <a:ext cx="10515600" cy="9121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Training Metrics and Compliance</a:t>
            </a:r>
          </a:p>
        </p:txBody>
      </p:sp>
      <p:sp>
        <p:nvSpPr>
          <p:cNvPr id="89091" name="Content Placeholder 4"/>
          <p:cNvSpPr>
            <a:spLocks noGrp="1"/>
          </p:cNvSpPr>
          <p:nvPr>
            <p:ph idx="1"/>
          </p:nvPr>
        </p:nvSpPr>
        <p:spPr>
          <a:xfrm>
            <a:off x="1146629" y="1291771"/>
            <a:ext cx="10207171" cy="5384800"/>
          </a:xfrm>
        </p:spPr>
        <p:txBody>
          <a:bodyPr>
            <a:noAutofit/>
          </a:bodyPr>
          <a:lstStyle/>
          <a:p>
            <a:pPr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Requirements for maintaining a trained workforce</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Record-keeping system measuring compliance with attendance and the effectiveness of the training</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Follow up and gather training metrics</a:t>
            </a:r>
          </a:p>
          <a:p>
            <a:pPr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Challenges</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Maintaining active listing of training and retraining</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Monitoring the effectiveness of the training; measuring effectiveness by actual impact on employee behavior</a:t>
            </a:r>
          </a:p>
          <a:p>
            <a:pPr>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Standard operating procedures</a:t>
            </a:r>
          </a:p>
          <a:p>
            <a:pPr lvl="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Mandatory step-by-step instructions</a:t>
            </a:r>
          </a:p>
        </p:txBody>
      </p:sp>
    </p:spTree>
    <p:extLst>
      <p:ext uri="{BB962C8B-B14F-4D97-AF65-F5344CB8AC3E}">
        <p14:creationId xmlns:p14="http://schemas.microsoft.com/office/powerpoint/2010/main" val="37394729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3"/>
          <p:cNvSpPr>
            <a:spLocks noGrp="1"/>
          </p:cNvSpPr>
          <p:nvPr>
            <p:ph type="title"/>
          </p:nvPr>
        </p:nvSpPr>
        <p:spPr bwMode="auto">
          <a:xfrm>
            <a:off x="838200" y="176440"/>
            <a:ext cx="10515600" cy="94116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Interoperability </a:t>
            </a:r>
            <a:r>
              <a:rPr lang="en-US" altLang="en-US" sz="4400" b="1" dirty="0" smtClean="0">
                <a:latin typeface="Times New Roman" panose="02020603050405020304" pitchFamily="18" charset="0"/>
                <a:cs typeface="Times New Roman" panose="02020603050405020304" pitchFamily="18" charset="0"/>
              </a:rPr>
              <a:t>Agreements</a:t>
            </a:r>
            <a:endParaRPr lang="en-US" altLang="en-US" sz="4400" b="1" dirty="0">
              <a:latin typeface="Times New Roman" panose="02020603050405020304" pitchFamily="18" charset="0"/>
              <a:cs typeface="Times New Roman" panose="02020603050405020304" pitchFamily="18" charset="0"/>
            </a:endParaRPr>
          </a:p>
        </p:txBody>
      </p:sp>
      <p:sp>
        <p:nvSpPr>
          <p:cNvPr id="90115" name="Content Placeholder 4"/>
          <p:cNvSpPr>
            <a:spLocks noGrp="1"/>
          </p:cNvSpPr>
          <p:nvPr>
            <p:ph idx="1"/>
          </p:nvPr>
        </p:nvSpPr>
        <p:spPr>
          <a:xfrm>
            <a:off x="1120000" y="1480458"/>
            <a:ext cx="10233800" cy="5059362"/>
          </a:xfrm>
        </p:spPr>
        <p:txBody>
          <a:bodyPr>
            <a:normAutofit/>
          </a:bodyPr>
          <a:lstStyle/>
          <a:p>
            <a:pPr algn="just" eaLnBrk="1" hangingPunct="1">
              <a:buFont typeface="Wingdings" panose="05000000000000000000" pitchFamily="2" charset="2"/>
              <a:buChar char="v"/>
            </a:pPr>
            <a:r>
              <a:rPr lang="en-US" altLang="en-US" dirty="0">
                <a:latin typeface="Times New Roman" panose="02020603050405020304" pitchFamily="18" charset="0"/>
                <a:ea typeface="ＭＳ Ｐゴシック" panose="020B0600070205080204" pitchFamily="34" charset="-128"/>
                <a:cs typeface="Times New Roman" panose="02020603050405020304" pitchFamily="18" charset="0"/>
              </a:rPr>
              <a:t>Many business operations involve actions between many different parties</a:t>
            </a:r>
            <a:r>
              <a:rPr lang="en-US" altLang="en-US" dirty="0" smtClean="0">
                <a:latin typeface="Times New Roman" panose="02020603050405020304" pitchFamily="18" charset="0"/>
                <a:ea typeface="ＭＳ Ｐゴシック" panose="020B0600070205080204" pitchFamily="34" charset="-128"/>
                <a:cs typeface="Times New Roman" panose="02020603050405020304" pitchFamily="18" charset="0"/>
              </a:rPr>
              <a:t>.</a:t>
            </a:r>
          </a:p>
          <a:p>
            <a:pPr algn="just" eaLnBrk="1" hangingPunct="1">
              <a:buFont typeface="Wingdings" panose="05000000000000000000" pitchFamily="2" charset="2"/>
              <a:buChar char="v"/>
            </a:pPr>
            <a:endParaRPr lang="en-US" altLang="en-US"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buFont typeface="Wingdings" panose="05000000000000000000" pitchFamily="2" charset="2"/>
              <a:buChar char="v"/>
            </a:pPr>
            <a:r>
              <a:rPr lang="en-US" altLang="en-US" dirty="0">
                <a:latin typeface="Times New Roman" panose="02020603050405020304" pitchFamily="18" charset="0"/>
                <a:ea typeface="ＭＳ Ｐゴシック" panose="020B0600070205080204" pitchFamily="34" charset="-128"/>
                <a:cs typeface="Times New Roman" panose="02020603050405020304" pitchFamily="18" charset="0"/>
              </a:rPr>
              <a:t>Actions require communication between the parties.</a:t>
            </a:r>
          </a:p>
          <a:p>
            <a:pPr lvl="1" algn="just" eaLnBrk="1" hangingPunct="1">
              <a:buFont typeface="Wingdings" panose="05000000000000000000" pitchFamily="2" charset="2"/>
              <a:buChar char="ü"/>
            </a:pP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Define the responsibilities and expectations of the parties</a:t>
            </a:r>
          </a:p>
          <a:p>
            <a:pPr lvl="1" algn="just" eaLnBrk="1" hangingPunct="1">
              <a:buFont typeface="Wingdings" panose="05000000000000000000" pitchFamily="2" charset="2"/>
              <a:buChar char="ü"/>
            </a:pP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Define business objectives</a:t>
            </a:r>
          </a:p>
          <a:p>
            <a:pPr lvl="1" algn="just" eaLnBrk="1" hangingPunct="1">
              <a:buFont typeface="Wingdings" panose="05000000000000000000" pitchFamily="2" charset="2"/>
              <a:buChar char="ü"/>
            </a:pP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Define environment within which the objectives will be </a:t>
            </a:r>
            <a:r>
              <a:rPr lang="en-US" altLang="en-US" sz="2800" dirty="0" smtClean="0">
                <a:latin typeface="Times New Roman" panose="02020603050405020304" pitchFamily="18" charset="0"/>
                <a:ea typeface="ＭＳ Ｐゴシック" panose="020B0600070205080204" pitchFamily="34" charset="-128"/>
                <a:cs typeface="Times New Roman" panose="02020603050405020304" pitchFamily="18" charset="0"/>
              </a:rPr>
              <a:t>pursued</a:t>
            </a:r>
          </a:p>
          <a:p>
            <a:pPr lvl="1" algn="just" eaLnBrk="1" hangingPunct="1">
              <a:buFont typeface="Wingdings" panose="05000000000000000000" pitchFamily="2" charset="2"/>
              <a:buChar char="ü"/>
            </a:pPr>
            <a:endPar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buFont typeface="Wingdings" panose="05000000000000000000" pitchFamily="2" charset="2"/>
              <a:buChar char="v"/>
            </a:pPr>
            <a:r>
              <a:rPr lang="en-US" altLang="en-US" dirty="0">
                <a:latin typeface="Times New Roman" panose="02020603050405020304" pitchFamily="18" charset="0"/>
                <a:ea typeface="ＭＳ Ｐゴシック" panose="020B0600070205080204" pitchFamily="34" charset="-128"/>
                <a:cs typeface="Times New Roman" panose="02020603050405020304" pitchFamily="18" charset="0"/>
              </a:rPr>
              <a:t>Written agreements used to ensure agreement is understood between the parties.</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12060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3"/>
          <p:cNvSpPr>
            <a:spLocks noGrp="1"/>
          </p:cNvSpPr>
          <p:nvPr>
            <p:ph type="title"/>
          </p:nvPr>
        </p:nvSpPr>
        <p:spPr bwMode="auto">
          <a:xfrm>
            <a:off x="838200" y="161925"/>
            <a:ext cx="10515600" cy="955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Interoperability </a:t>
            </a:r>
            <a:r>
              <a:rPr lang="en-US" altLang="en-US" sz="4400" b="1" dirty="0" smtClean="0">
                <a:latin typeface="Times New Roman" panose="02020603050405020304" pitchFamily="18" charset="0"/>
                <a:cs typeface="Times New Roman" panose="02020603050405020304" pitchFamily="18" charset="0"/>
              </a:rPr>
              <a:t>Agreements</a:t>
            </a:r>
            <a:endParaRPr lang="en-US" altLang="en-US" sz="4400" b="1" dirty="0">
              <a:latin typeface="Times New Roman" panose="02020603050405020304" pitchFamily="18" charset="0"/>
              <a:cs typeface="Times New Roman" panose="02020603050405020304" pitchFamily="18" charset="0"/>
            </a:endParaRPr>
          </a:p>
        </p:txBody>
      </p:sp>
      <p:sp>
        <p:nvSpPr>
          <p:cNvPr id="92163" name="Content Placeholder 4"/>
          <p:cNvSpPr>
            <a:spLocks noGrp="1"/>
          </p:cNvSpPr>
          <p:nvPr>
            <p:ph idx="1"/>
          </p:nvPr>
        </p:nvSpPr>
        <p:spPr>
          <a:xfrm>
            <a:off x="1120000" y="1117600"/>
            <a:ext cx="10346286" cy="5384800"/>
          </a:xfrm>
        </p:spPr>
        <p:txBody>
          <a:bodyPr>
            <a:noAutofit/>
          </a:bodyPr>
          <a:lstStyle/>
          <a:p>
            <a:pPr algn="just" eaLnBrk="1" hangingPunct="1">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Service level agreements (SLA)</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Contractual agreements between entities that describe specified levels of service that the servicing entity agrees to guarantee for the customer</a:t>
            </a: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SLA rules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Describe entire set of product or service functions in sufficient detail that their requirement will be unambiguous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Provide a clear means of determining whether a specified function or service has been provided at the agreed-upon level of performance</a:t>
            </a:r>
          </a:p>
        </p:txBody>
      </p:sp>
    </p:spTree>
    <p:extLst>
      <p:ext uri="{BB962C8B-B14F-4D97-AF65-F5344CB8AC3E}">
        <p14:creationId xmlns:p14="http://schemas.microsoft.com/office/powerpoint/2010/main" val="6800813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3"/>
          <p:cNvSpPr>
            <a:spLocks noGrp="1"/>
          </p:cNvSpPr>
          <p:nvPr>
            <p:ph type="title"/>
          </p:nvPr>
        </p:nvSpPr>
        <p:spPr bwMode="auto">
          <a:xfrm>
            <a:off x="838200" y="132897"/>
            <a:ext cx="10515600" cy="86858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Interoperability </a:t>
            </a:r>
            <a:r>
              <a:rPr lang="en-US" altLang="en-US" sz="4400" b="1" dirty="0" smtClean="0">
                <a:latin typeface="Times New Roman" panose="02020603050405020304" pitchFamily="18" charset="0"/>
                <a:cs typeface="Times New Roman" panose="02020603050405020304" pitchFamily="18" charset="0"/>
              </a:rPr>
              <a:t>Agreements</a:t>
            </a:r>
            <a:endParaRPr lang="en-US" altLang="en-US" sz="4400" b="1" dirty="0">
              <a:latin typeface="Times New Roman" panose="02020603050405020304" pitchFamily="18" charset="0"/>
              <a:cs typeface="Times New Roman" panose="02020603050405020304" pitchFamily="18" charset="0"/>
            </a:endParaRPr>
          </a:p>
        </p:txBody>
      </p:sp>
      <p:sp>
        <p:nvSpPr>
          <p:cNvPr id="94211" name="Content Placeholder 4"/>
          <p:cNvSpPr>
            <a:spLocks noGrp="1"/>
          </p:cNvSpPr>
          <p:nvPr>
            <p:ph idx="1"/>
          </p:nvPr>
        </p:nvSpPr>
        <p:spPr>
          <a:xfrm>
            <a:off x="1120000" y="1001486"/>
            <a:ext cx="10578514" cy="5631543"/>
          </a:xfrm>
        </p:spPr>
        <p:txBody>
          <a:bodyPr>
            <a:noAutofit/>
          </a:bodyPr>
          <a:lstStyle/>
          <a:p>
            <a:pPr eaLnBrk="1" hangingPunct="1">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Business partnership agreement (BPA)</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Legal agreement between partners establishing the terms, conditions, and expectations of the relationship between the partners</a:t>
            </a:r>
          </a:p>
          <a:p>
            <a:pPr lvl="2" eaLnBrk="1" hangingPunct="1"/>
            <a:r>
              <a:rPr lang="en-US" altLang="en-US" sz="3200" dirty="0">
                <a:latin typeface="Times New Roman" panose="02020603050405020304" pitchFamily="18" charset="0"/>
                <a:cs typeface="Times New Roman" panose="02020603050405020304" pitchFamily="18" charset="0"/>
              </a:rPr>
              <a:t>Sharing of profits and losses, the responsibilities of each partner, the addition or removal of partners, and any other issues</a:t>
            </a:r>
          </a:p>
          <a:p>
            <a:pPr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Uniform Partnership Act (UPA)</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Lays out uniform set of rules associated with partnerships to resolve any partnership terms</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Designed as “one size fits all”</a:t>
            </a:r>
            <a:endParaRPr lang="en-US" alt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1782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3"/>
          <p:cNvSpPr>
            <a:spLocks noGrp="1"/>
          </p:cNvSpPr>
          <p:nvPr>
            <p:ph type="title"/>
          </p:nvPr>
        </p:nvSpPr>
        <p:spPr bwMode="auto">
          <a:xfrm>
            <a:off x="1288142" y="190955"/>
            <a:ext cx="8857343" cy="8250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Interoperability </a:t>
            </a:r>
            <a:r>
              <a:rPr lang="en-US" altLang="en-US" sz="4400" b="1" dirty="0" smtClean="0">
                <a:latin typeface="Times New Roman" panose="02020603050405020304" pitchFamily="18" charset="0"/>
                <a:cs typeface="Times New Roman" panose="02020603050405020304" pitchFamily="18" charset="0"/>
              </a:rPr>
              <a:t>Agreements</a:t>
            </a:r>
            <a:endParaRPr lang="en-US" altLang="en-US" sz="4400" b="1" dirty="0">
              <a:latin typeface="Times New Roman" panose="02020603050405020304" pitchFamily="18" charset="0"/>
              <a:cs typeface="Times New Roman" panose="02020603050405020304" pitchFamily="18" charset="0"/>
            </a:endParaRPr>
          </a:p>
        </p:txBody>
      </p:sp>
      <p:sp>
        <p:nvSpPr>
          <p:cNvPr id="95235" name="Content Placeholder 4"/>
          <p:cNvSpPr>
            <a:spLocks noGrp="1"/>
          </p:cNvSpPr>
          <p:nvPr>
            <p:ph idx="1"/>
          </p:nvPr>
        </p:nvSpPr>
        <p:spPr>
          <a:xfrm>
            <a:off x="602343" y="1161144"/>
            <a:ext cx="10987314" cy="5428341"/>
          </a:xfrm>
        </p:spPr>
        <p:txBody>
          <a:bodyPr>
            <a:noAutofit/>
          </a:bodyPr>
          <a:lstStyle/>
          <a:p>
            <a:pPr eaLnBrk="1" hangingPunct="1">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Memorandum of understanding (MOU)</a:t>
            </a:r>
            <a:endParaRPr lang="en-US" altLang="en-US" sz="3200"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Legal document used to describe a bilateral agreement between parties</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Written agreement expressing a set of intended actions between the parties with respect to some common</a:t>
            </a:r>
            <a:br>
              <a:rPr lang="en-US" altLang="en-US" sz="3200"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pursuit or goal</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More formal and detailed than a simple handshake</a:t>
            </a:r>
          </a:p>
          <a:p>
            <a:pPr lvl="2" eaLnBrk="1" hangingPunct="1"/>
            <a:r>
              <a:rPr lang="en-US" altLang="en-US" sz="3200" dirty="0">
                <a:latin typeface="Times New Roman" panose="02020603050405020304" pitchFamily="18" charset="0"/>
                <a:cs typeface="Times New Roman" panose="02020603050405020304" pitchFamily="18" charset="0"/>
              </a:rPr>
              <a:t>Generally lacks the binding powers of a contract</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Common to find between different units within an organization to detail expectations associated with the common business interest</a:t>
            </a:r>
            <a:endParaRPr lang="en-US" alt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17113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3"/>
          <p:cNvSpPr>
            <a:spLocks noGrp="1"/>
          </p:cNvSpPr>
          <p:nvPr>
            <p:ph type="title"/>
          </p:nvPr>
        </p:nvSpPr>
        <p:spPr bwMode="auto">
          <a:xfrm>
            <a:off x="838200" y="103869"/>
            <a:ext cx="10515600" cy="8831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Interoperability </a:t>
            </a:r>
            <a:r>
              <a:rPr lang="en-US" altLang="en-US" sz="4400" b="1" dirty="0" smtClean="0">
                <a:latin typeface="Times New Roman" panose="02020603050405020304" pitchFamily="18" charset="0"/>
                <a:cs typeface="Times New Roman" panose="02020603050405020304" pitchFamily="18" charset="0"/>
              </a:rPr>
              <a:t>Agreements</a:t>
            </a:r>
            <a:endParaRPr lang="en-US" altLang="en-US" sz="4400" b="1" dirty="0">
              <a:latin typeface="Times New Roman" panose="02020603050405020304" pitchFamily="18" charset="0"/>
              <a:cs typeface="Times New Roman" panose="02020603050405020304" pitchFamily="18" charset="0"/>
            </a:endParaRPr>
          </a:p>
        </p:txBody>
      </p:sp>
      <p:sp>
        <p:nvSpPr>
          <p:cNvPr id="96259" name="Content Placeholder 4"/>
          <p:cNvSpPr>
            <a:spLocks noGrp="1"/>
          </p:cNvSpPr>
          <p:nvPr>
            <p:ph idx="1"/>
          </p:nvPr>
        </p:nvSpPr>
        <p:spPr>
          <a:xfrm>
            <a:off x="1244600" y="1364345"/>
            <a:ext cx="10109200" cy="4986791"/>
          </a:xfrm>
        </p:spPr>
        <p:txBody>
          <a:bodyPr>
            <a:noAutofit/>
          </a:bodyPr>
          <a:lstStyle/>
          <a:p>
            <a:pPr algn="just" eaLnBrk="1" hangingPunct="1">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Interconnection security agreement (ISA)</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These are specialized agreement between organizations that have interconnected IT systems.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Purpose is to document the security requirements associated with the interconnection.</a:t>
            </a: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ISA as part of an MOU</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ISA can detail specific technical security aspects of a data interconnection.</a:t>
            </a:r>
          </a:p>
          <a:p>
            <a:pPr algn="just">
              <a:buFont typeface="Wingdings" panose="05000000000000000000" pitchFamily="2" charset="2"/>
              <a:buChar char="v"/>
            </a:pPr>
            <a:r>
              <a:rPr lang="en-US" altLang="en-US" sz="3200" b="1" dirty="0">
                <a:latin typeface="Times New Roman" panose="02020603050405020304" pitchFamily="18" charset="0"/>
                <a:cs typeface="Times New Roman" panose="02020603050405020304" pitchFamily="18" charset="0"/>
              </a:rPr>
              <a:t>Nondisclosure Agreements</a:t>
            </a:r>
            <a:r>
              <a:rPr lang="en-US" altLang="en-US" sz="3200" dirty="0">
                <a:latin typeface="Times New Roman" panose="02020603050405020304" pitchFamily="18" charset="0"/>
                <a:cs typeface="Times New Roman" panose="02020603050405020304" pitchFamily="18" charset="0"/>
              </a:rPr>
              <a:t> (</a:t>
            </a:r>
            <a:r>
              <a:rPr lang="en-US" altLang="en-US" sz="3200" b="1" dirty="0">
                <a:latin typeface="Times New Roman" panose="02020603050405020304" pitchFamily="18" charset="0"/>
                <a:cs typeface="Times New Roman" panose="02020603050405020304" pitchFamily="18" charset="0"/>
              </a:rPr>
              <a:t>NDAs</a:t>
            </a:r>
            <a:r>
              <a:rPr lang="en-US" altLang="en-US" sz="3200" dirty="0">
                <a:latin typeface="Times New Roman" panose="02020603050405020304" pitchFamily="18" charset="0"/>
                <a:cs typeface="Times New Roman" panose="02020603050405020304" pitchFamily="18" charset="0"/>
              </a:rPr>
              <a:t>) – explain the boundaries of corporate secret material</a:t>
            </a:r>
          </a:p>
        </p:txBody>
      </p:sp>
    </p:spTree>
    <p:extLst>
      <p:ext uri="{BB962C8B-B14F-4D97-AF65-F5344CB8AC3E}">
        <p14:creationId xmlns:p14="http://schemas.microsoft.com/office/powerpoint/2010/main" val="39715524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3"/>
          <p:cNvSpPr>
            <a:spLocks noGrp="1"/>
          </p:cNvSpPr>
          <p:nvPr>
            <p:ph type="title"/>
          </p:nvPr>
        </p:nvSpPr>
        <p:spPr bwMode="auto">
          <a:xfrm>
            <a:off x="838200" y="132897"/>
            <a:ext cx="10515600" cy="854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The Security </a:t>
            </a:r>
            <a:r>
              <a:rPr lang="en-US" altLang="en-US" sz="4400" b="1" dirty="0" smtClean="0">
                <a:latin typeface="Times New Roman" panose="02020603050405020304" pitchFamily="18" charset="0"/>
                <a:cs typeface="Times New Roman" panose="02020603050405020304" pitchFamily="18" charset="0"/>
              </a:rPr>
              <a:t>Perimeter</a:t>
            </a:r>
            <a:endParaRPr lang="en-US" altLang="en-US" sz="4400" b="1" dirty="0">
              <a:latin typeface="Times New Roman" panose="02020603050405020304" pitchFamily="18" charset="0"/>
              <a:cs typeface="Times New Roman" panose="02020603050405020304" pitchFamily="18" charset="0"/>
            </a:endParaRPr>
          </a:p>
        </p:txBody>
      </p:sp>
      <p:sp>
        <p:nvSpPr>
          <p:cNvPr id="97283" name="Content Placeholder 4"/>
          <p:cNvSpPr>
            <a:spLocks noGrp="1"/>
          </p:cNvSpPr>
          <p:nvPr>
            <p:ph idx="1"/>
          </p:nvPr>
        </p:nvSpPr>
        <p:spPr>
          <a:xfrm>
            <a:off x="1120000" y="1219200"/>
            <a:ext cx="10233800" cy="4957763"/>
          </a:xfrm>
        </p:spPr>
        <p:txBody>
          <a:bodyPr>
            <a:no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Various networks components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Connection to the Internet</a:t>
            </a:r>
          </a:p>
          <a:p>
            <a:pPr lvl="2" algn="just" eaLnBrk="1" hangingPunct="1"/>
            <a:r>
              <a:rPr lang="en-US" altLang="en-US" sz="3200" dirty="0">
                <a:latin typeface="Times New Roman" panose="02020603050405020304" pitchFamily="18" charset="0"/>
                <a:cs typeface="Times New Roman" panose="02020603050405020304" pitchFamily="18" charset="0"/>
              </a:rPr>
              <a:t>Protection is attached to it such as a firewall.</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Intrusion detection system (IDS)</a:t>
            </a:r>
          </a:p>
          <a:p>
            <a:pPr lvl="2" algn="just" eaLnBrk="1" hangingPunct="1"/>
            <a:r>
              <a:rPr lang="en-US" altLang="en-US" sz="3200" dirty="0">
                <a:latin typeface="Times New Roman" panose="02020603050405020304" pitchFamily="18" charset="0"/>
                <a:cs typeface="Times New Roman" panose="02020603050405020304" pitchFamily="18" charset="0"/>
              </a:rPr>
              <a:t>May be either on the inside or the outside of the firewall or both</a:t>
            </a:r>
          </a:p>
          <a:p>
            <a:pPr lvl="2" algn="just" eaLnBrk="1" hangingPunct="1"/>
            <a:r>
              <a:rPr lang="en-US" altLang="en-US" sz="3200" dirty="0">
                <a:latin typeface="Times New Roman" panose="02020603050405020304" pitchFamily="18" charset="0"/>
                <a:cs typeface="Times New Roman" panose="02020603050405020304" pitchFamily="18" charset="0"/>
              </a:rPr>
              <a:t>Specific location depends on the company and what it is more concerned about preventing</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Router</a:t>
            </a:r>
          </a:p>
          <a:p>
            <a:pPr lvl="2" algn="just"/>
            <a:r>
              <a:rPr lang="en-US" altLang="en-US" sz="3200" dirty="0">
                <a:latin typeface="Times New Roman" panose="02020603050405020304" pitchFamily="18" charset="0"/>
                <a:cs typeface="Times New Roman" panose="02020603050405020304" pitchFamily="18" charset="0"/>
              </a:rPr>
              <a:t>Enhances security</a:t>
            </a:r>
          </a:p>
        </p:txBody>
      </p:sp>
    </p:spTree>
    <p:extLst>
      <p:ext uri="{BB962C8B-B14F-4D97-AF65-F5344CB8AC3E}">
        <p14:creationId xmlns:p14="http://schemas.microsoft.com/office/powerpoint/2010/main" val="40936049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685" y="132897"/>
            <a:ext cx="10515600" cy="839561"/>
          </a:xfrm>
        </p:spPr>
        <p:txBody>
          <a:bodyPr>
            <a:normAutofit/>
          </a:bodyPr>
          <a:lstStyle/>
          <a:p>
            <a:pPr algn="ctr"/>
            <a:r>
              <a:rPr lang="en-US" altLang="en-US" sz="4400" b="1" dirty="0">
                <a:latin typeface="Times New Roman" panose="02020603050405020304" pitchFamily="18" charset="0"/>
                <a:cs typeface="Times New Roman" panose="02020603050405020304" pitchFamily="18" charset="0"/>
              </a:rPr>
              <a:t>The Security </a:t>
            </a:r>
            <a:r>
              <a:rPr lang="en-US" altLang="en-US" sz="4400" b="1" dirty="0" smtClean="0">
                <a:latin typeface="Times New Roman" panose="02020603050405020304" pitchFamily="18" charset="0"/>
                <a:cs typeface="Times New Roman" panose="02020603050405020304" pitchFamily="18" charset="0"/>
              </a:rPr>
              <a:t>Perimeter</a:t>
            </a:r>
            <a:endParaRPr lang="en-US" sz="4400" b="1" dirty="0">
              <a:latin typeface="Times New Roman" panose="02020603050405020304" pitchFamily="18" charset="0"/>
              <a:cs typeface="Times New Roman" panose="02020603050405020304" pitchFamily="18" charset="0"/>
            </a:endParaRPr>
          </a:p>
        </p:txBody>
      </p:sp>
      <p:pic>
        <p:nvPicPr>
          <p:cNvPr id="99331" name="Picture 2" descr="Image shows the basic diagram of an organization’s network"/>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20243" y="1345811"/>
            <a:ext cx="5715000" cy="3904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0" name="Content Placeholder 1"/>
          <p:cNvSpPr>
            <a:spLocks noGrp="1"/>
          </p:cNvSpPr>
          <p:nvPr>
            <p:ph idx="1"/>
          </p:nvPr>
        </p:nvSpPr>
        <p:spPr>
          <a:xfrm>
            <a:off x="1868487" y="5623560"/>
            <a:ext cx="8418513" cy="472440"/>
          </a:xfrm>
        </p:spPr>
        <p:txBody>
          <a:bodyPr>
            <a:noAutofit/>
          </a:bodyPr>
          <a:lstStyle/>
          <a:p>
            <a:pPr marL="0" indent="0" algn="ctr">
              <a:buNone/>
            </a:pPr>
            <a:r>
              <a:rPr lang="en-US" altLang="en-US" sz="3200" dirty="0">
                <a:latin typeface="Times New Roman" panose="02020603050405020304" pitchFamily="18" charset="0"/>
                <a:cs typeface="Times New Roman" panose="02020603050405020304" pitchFamily="18" charset="0"/>
              </a:rPr>
              <a:t>Figure 3.1 Basic diagram of an organization’s network</a:t>
            </a:r>
          </a:p>
        </p:txBody>
      </p:sp>
    </p:spTree>
    <p:extLst>
      <p:ext uri="{BB962C8B-B14F-4D97-AF65-F5344CB8AC3E}">
        <p14:creationId xmlns:p14="http://schemas.microsoft.com/office/powerpoint/2010/main" val="20988675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3"/>
          <p:cNvSpPr>
            <a:spLocks noGrp="1"/>
          </p:cNvSpPr>
          <p:nvPr>
            <p:ph type="title"/>
          </p:nvPr>
        </p:nvSpPr>
        <p:spPr bwMode="auto">
          <a:xfrm>
            <a:off x="838200" y="147411"/>
            <a:ext cx="10515600" cy="86858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cs typeface="Times New Roman" panose="02020603050405020304" pitchFamily="18" charset="0"/>
              </a:rPr>
              <a:t>The Security </a:t>
            </a:r>
            <a:r>
              <a:rPr lang="en-US" altLang="en-US" sz="4400" b="1" dirty="0" smtClean="0">
                <a:latin typeface="Times New Roman" panose="02020603050405020304" pitchFamily="18" charset="0"/>
                <a:cs typeface="Times New Roman" panose="02020603050405020304" pitchFamily="18" charset="0"/>
              </a:rPr>
              <a:t>Perimeter</a:t>
            </a:r>
            <a:endParaRPr lang="en-US" altLang="en-US" sz="4400" b="1" dirty="0">
              <a:latin typeface="Times New Roman" panose="02020603050405020304" pitchFamily="18" charset="0"/>
              <a:cs typeface="Times New Roman" panose="02020603050405020304" pitchFamily="18" charset="0"/>
            </a:endParaRPr>
          </a:p>
        </p:txBody>
      </p:sp>
      <p:sp>
        <p:nvSpPr>
          <p:cNvPr id="101379" name="Content Placeholder 4"/>
          <p:cNvSpPr>
            <a:spLocks noGrp="1"/>
          </p:cNvSpPr>
          <p:nvPr>
            <p:ph idx="1"/>
          </p:nvPr>
        </p:nvSpPr>
        <p:spPr>
          <a:xfrm>
            <a:off x="1041400" y="1219200"/>
            <a:ext cx="10515600" cy="5384800"/>
          </a:xfrm>
        </p:spPr>
        <p:txBody>
          <a:bodyPr>
            <a:no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Additional possible access points into the network</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Public switched telephone network (PSTN) and wireless access points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Authorized modems or wireless networks</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Potential exists for unauthorized versions of both</a:t>
            </a: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Voice over IP (VoIP)</a:t>
            </a:r>
          </a:p>
          <a:p>
            <a:pPr lvl="1" algn="just"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Eliminates the traditional land lines in an organization and replaces them with special telephones that connect to the IP data network</a:t>
            </a:r>
          </a:p>
          <a:p>
            <a:pPr algn="just"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 Insider seen as biggest danger to any organization</a:t>
            </a:r>
          </a:p>
        </p:txBody>
      </p:sp>
    </p:spTree>
    <p:extLst>
      <p:ext uri="{BB962C8B-B14F-4D97-AF65-F5344CB8AC3E}">
        <p14:creationId xmlns:p14="http://schemas.microsoft.com/office/powerpoint/2010/main" val="18522026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686" y="103869"/>
            <a:ext cx="10515600" cy="825046"/>
          </a:xfrm>
        </p:spPr>
        <p:txBody>
          <a:bodyPr>
            <a:normAutofit/>
          </a:bodyPr>
          <a:lstStyle/>
          <a:p>
            <a:pPr algn="ctr"/>
            <a:r>
              <a:rPr lang="en-US" altLang="en-US" sz="4400" b="1" dirty="0">
                <a:latin typeface="Times New Roman" panose="02020603050405020304" pitchFamily="18" charset="0"/>
                <a:cs typeface="Times New Roman" panose="02020603050405020304" pitchFamily="18" charset="0"/>
              </a:rPr>
              <a:t>The Security </a:t>
            </a:r>
            <a:r>
              <a:rPr lang="en-US" altLang="en-US" sz="4400" b="1" dirty="0" smtClean="0">
                <a:latin typeface="Times New Roman" panose="02020603050405020304" pitchFamily="18" charset="0"/>
                <a:cs typeface="Times New Roman" panose="02020603050405020304" pitchFamily="18" charset="0"/>
              </a:rPr>
              <a:t>Perimeter</a:t>
            </a:r>
            <a:endParaRPr lang="en-US" sz="4400" b="1" dirty="0">
              <a:latin typeface="Times New Roman" panose="02020603050405020304" pitchFamily="18" charset="0"/>
              <a:cs typeface="Times New Roman" panose="02020603050405020304" pitchFamily="18" charset="0"/>
            </a:endParaRPr>
          </a:p>
        </p:txBody>
      </p:sp>
      <p:pic>
        <p:nvPicPr>
          <p:cNvPr id="103427" name="Picture 2" descr="Image shows a more complete diagram of an organization’s network&#1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28042" y="1329793"/>
            <a:ext cx="4306887" cy="3603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6" name="Content Placeholder 1"/>
          <p:cNvSpPr>
            <a:spLocks noGrp="1"/>
          </p:cNvSpPr>
          <p:nvPr>
            <p:ph idx="1"/>
          </p:nvPr>
        </p:nvSpPr>
        <p:spPr>
          <a:xfrm>
            <a:off x="1752600" y="5334000"/>
            <a:ext cx="8763000" cy="1066800"/>
          </a:xfrm>
        </p:spPr>
        <p:txBody>
          <a:bodyPr>
            <a:normAutofit/>
          </a:bodyPr>
          <a:lstStyle/>
          <a:p>
            <a:pPr marL="0" indent="0" algn="ctr">
              <a:buNone/>
            </a:pPr>
            <a:r>
              <a:rPr lang="en-US" altLang="en-US" sz="3200" dirty="0">
                <a:latin typeface="Times New Roman" panose="02020603050405020304" pitchFamily="18" charset="0"/>
                <a:cs typeface="Times New Roman" panose="02020603050405020304" pitchFamily="18" charset="0"/>
              </a:rPr>
              <a:t>Figure 3.2 A more complete diagram of an organization’s network</a:t>
            </a:r>
          </a:p>
        </p:txBody>
      </p:sp>
    </p:spTree>
    <p:extLst>
      <p:ext uri="{BB962C8B-B14F-4D97-AF65-F5344CB8AC3E}">
        <p14:creationId xmlns:p14="http://schemas.microsoft.com/office/powerpoint/2010/main" val="579062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3"/>
          <p:cNvSpPr>
            <a:spLocks noGrp="1"/>
          </p:cNvSpPr>
          <p:nvPr>
            <p:ph type="title"/>
          </p:nvPr>
        </p:nvSpPr>
        <p:spPr bwMode="auto">
          <a:xfrm>
            <a:off x="838200" y="176440"/>
            <a:ext cx="10515600" cy="7234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altLang="en-US" sz="4400" b="1" dirty="0">
                <a:latin typeface="Times New Roman" panose="02020603050405020304" pitchFamily="18" charset="0"/>
                <a:cs typeface="Times New Roman" panose="02020603050405020304" pitchFamily="18" charset="0"/>
              </a:rPr>
              <a:t>The Security </a:t>
            </a:r>
            <a:r>
              <a:rPr lang="en-US" altLang="en-US" sz="4400" b="1" dirty="0" smtClean="0">
                <a:latin typeface="Times New Roman" panose="02020603050405020304" pitchFamily="18" charset="0"/>
                <a:cs typeface="Times New Roman" panose="02020603050405020304" pitchFamily="18" charset="0"/>
              </a:rPr>
              <a:t>Perimeter</a:t>
            </a:r>
            <a:endParaRPr lang="en-US" altLang="en-US" sz="4400" b="1" dirty="0">
              <a:latin typeface="Times New Roman" panose="02020603050405020304" pitchFamily="18" charset="0"/>
              <a:cs typeface="Times New Roman" panose="02020603050405020304" pitchFamily="18" charset="0"/>
            </a:endParaRPr>
          </a:p>
        </p:txBody>
      </p:sp>
      <p:sp>
        <p:nvSpPr>
          <p:cNvPr id="104451" name="Content Placeholder 4"/>
          <p:cNvSpPr>
            <a:spLocks noGrp="1"/>
          </p:cNvSpPr>
          <p:nvPr>
            <p:ph idx="1"/>
          </p:nvPr>
        </p:nvSpPr>
        <p:spPr>
          <a:xfrm>
            <a:off x="1248229" y="1066799"/>
            <a:ext cx="10000342" cy="5551715"/>
          </a:xfrm>
        </p:spPr>
        <p:txBody>
          <a:bodyPr>
            <a:noAutofit/>
          </a:bodyPr>
          <a:lstStyle/>
          <a:p>
            <a:pPr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Physical security</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Consists of all mechanisms used to ensure that physical access to the computer systems and networks is restricted to only authorized users</a:t>
            </a:r>
          </a:p>
          <a:p>
            <a:pPr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Additional physical security mechanisms</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Routers, firewalls, and intrusion detection systems</a:t>
            </a:r>
          </a:p>
          <a:p>
            <a:pPr eaLnBrk="1" hangingPunct="1">
              <a:buFont typeface="Wingdings" panose="05000000000000000000" pitchFamily="2" charset="2"/>
              <a:buChar char="v"/>
            </a:pPr>
            <a:r>
              <a:rPr lang="en-US" altLang="en-US" sz="3200" dirty="0">
                <a:latin typeface="Times New Roman" panose="02020603050405020304" pitchFamily="18" charset="0"/>
                <a:cs typeface="Times New Roman" panose="02020603050405020304" pitchFamily="18" charset="0"/>
              </a:rPr>
              <a:t>Consider access from all six sides</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Security of obvious points of entry be examined (doors and windows)</a:t>
            </a:r>
          </a:p>
          <a:p>
            <a:pPr lvl="1" eaLnBrk="1" hangingPunct="1">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Walls themselves as well as the floor and ceiling</a:t>
            </a:r>
          </a:p>
        </p:txBody>
      </p:sp>
    </p:spTree>
    <p:extLst>
      <p:ext uri="{BB962C8B-B14F-4D97-AF65-F5344CB8AC3E}">
        <p14:creationId xmlns:p14="http://schemas.microsoft.com/office/powerpoint/2010/main" val="6259824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itle 1"/>
          <p:cNvSpPr>
            <a:spLocks noGrp="1"/>
          </p:cNvSpPr>
          <p:nvPr>
            <p:ph type="title"/>
          </p:nvPr>
        </p:nvSpPr>
        <p:spPr bwMode="auto">
          <a:xfrm>
            <a:off x="838200" y="132897"/>
            <a:ext cx="10515600" cy="79601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en-US" sz="4400" b="1" dirty="0">
                <a:latin typeface="Times New Roman" panose="02020603050405020304" pitchFamily="18" charset="0"/>
                <a:ea typeface="ＭＳ Ｐゴシック" panose="020B0600070205080204" pitchFamily="34" charset="-128"/>
                <a:cs typeface="Times New Roman" panose="02020603050405020304" pitchFamily="18" charset="0"/>
              </a:rPr>
              <a:t>Chapter Summary</a:t>
            </a:r>
          </a:p>
        </p:txBody>
      </p:sp>
      <p:sp>
        <p:nvSpPr>
          <p:cNvPr id="126979" name="Content Placeholder 2"/>
          <p:cNvSpPr>
            <a:spLocks noGrp="1"/>
          </p:cNvSpPr>
          <p:nvPr>
            <p:ph idx="1"/>
          </p:nvPr>
        </p:nvSpPr>
        <p:spPr>
          <a:xfrm>
            <a:off x="1120000" y="1553029"/>
            <a:ext cx="10233800" cy="4426857"/>
          </a:xfrm>
        </p:spPr>
        <p:txBody>
          <a:bodyPr>
            <a:normAutofit/>
          </a:bodyPr>
          <a:lstStyle/>
          <a:p>
            <a:pPr algn="just" eaLnBrk="1" hangingPunct="1">
              <a:buFont typeface="Wingdings" panose="05000000000000000000" pitchFamily="2" charset="2"/>
              <a:buChar char="v"/>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Identify various operational aspects to security in your organization.</a:t>
            </a:r>
          </a:p>
          <a:p>
            <a:pPr algn="just" eaLnBrk="1" hangingPunct="1">
              <a:buFont typeface="Wingdings" panose="05000000000000000000" pitchFamily="2" charset="2"/>
              <a:buChar char="v"/>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Identify various policies and procedures in your organization.</a:t>
            </a:r>
          </a:p>
          <a:p>
            <a:pPr algn="just" eaLnBrk="1" hangingPunct="1">
              <a:buFont typeface="Wingdings" panose="05000000000000000000" pitchFamily="2" charset="2"/>
              <a:buChar char="v"/>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Identify the security awareness and training needs of an organization.</a:t>
            </a:r>
          </a:p>
          <a:p>
            <a:pPr algn="just" eaLnBrk="1" hangingPunct="1">
              <a:buFont typeface="Wingdings" panose="05000000000000000000" pitchFamily="2" charset="2"/>
              <a:buChar char="v"/>
            </a:pPr>
            <a:r>
              <a:rPr lang="en-US" altLang="en-US" sz="3200" dirty="0">
                <a:latin typeface="Times New Roman" panose="02020603050405020304" pitchFamily="18" charset="0"/>
                <a:ea typeface="ＭＳ Ｐゴシック" panose="020B0600070205080204" pitchFamily="34" charset="-128"/>
                <a:cs typeface="Times New Roman" panose="02020603050405020304" pitchFamily="18" charset="0"/>
              </a:rPr>
              <a:t>Understand the different types of agreements employed in negotiating security requirements.</a:t>
            </a:r>
          </a:p>
        </p:txBody>
      </p:sp>
    </p:spTree>
    <p:extLst>
      <p:ext uri="{BB962C8B-B14F-4D97-AF65-F5344CB8AC3E}">
        <p14:creationId xmlns:p14="http://schemas.microsoft.com/office/powerpoint/2010/main" val="33193684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2572" y="2652939"/>
            <a:ext cx="10233800" cy="1077232"/>
          </a:xfrm>
        </p:spPr>
        <p:txBody>
          <a:bodyPr>
            <a:normAutofit lnSpcReduction="10000"/>
          </a:bodyPr>
          <a:lstStyle/>
          <a:p>
            <a:pPr marL="0" indent="0" algn="ctr">
              <a:buNone/>
            </a:pPr>
            <a:r>
              <a:rPr lang="en-US" sz="7200" b="1" dirty="0" smtClean="0">
                <a:latin typeface="Times New Roman" panose="02020603050405020304" pitchFamily="18" charset="0"/>
                <a:cs typeface="Times New Roman" panose="02020603050405020304" pitchFamily="18" charset="0"/>
              </a:rPr>
              <a:t>THANK YOU</a:t>
            </a:r>
            <a:endParaRPr lang="en-US" sz="7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1404042"/>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TM04033923[[fn=Depth]]</Template>
  <TotalTime>194</TotalTime>
  <Words>7121</Words>
  <Application>Microsoft Office PowerPoint</Application>
  <PresentationFormat>Widescreen</PresentationFormat>
  <Paragraphs>549</Paragraphs>
  <Slides>56</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ＭＳ Ｐゴシック</vt:lpstr>
      <vt:lpstr>Arial</vt:lpstr>
      <vt:lpstr>Calibri</vt:lpstr>
      <vt:lpstr>Corbel</vt:lpstr>
      <vt:lpstr>Times New Roman</vt:lpstr>
      <vt:lpstr>Wingdings</vt:lpstr>
      <vt:lpstr>ヒラギノ角ゴ Pro W3</vt:lpstr>
      <vt:lpstr>Depth</vt:lpstr>
      <vt:lpstr>PowerPoint Presentation</vt:lpstr>
      <vt:lpstr>2</vt:lpstr>
      <vt:lpstr>Objectives</vt:lpstr>
      <vt:lpstr>Policies, Procedures, Standards, and Guidelines</vt:lpstr>
      <vt:lpstr>Policies, Procedures, Standards, and Guidelines</vt:lpstr>
      <vt:lpstr>Policies, Procedures, Standards, and Guidelines</vt:lpstr>
      <vt:lpstr>Security Policies</vt:lpstr>
      <vt:lpstr>Change Management Policy</vt:lpstr>
      <vt:lpstr>Data Policies </vt:lpstr>
      <vt:lpstr>Data Policies </vt:lpstr>
      <vt:lpstr>Data Policies</vt:lpstr>
      <vt:lpstr>Data Policies </vt:lpstr>
      <vt:lpstr>Data Policies</vt:lpstr>
      <vt:lpstr>Data Policies</vt:lpstr>
      <vt:lpstr>Data Policies</vt:lpstr>
      <vt:lpstr>Data Policies</vt:lpstr>
      <vt:lpstr>Password and Account Policies</vt:lpstr>
      <vt:lpstr>Password and Account Policies</vt:lpstr>
      <vt:lpstr>Password and Account Policies</vt:lpstr>
      <vt:lpstr>Password and Account Policies</vt:lpstr>
      <vt:lpstr>Human Resources Policies</vt:lpstr>
      <vt:lpstr>Human Resources Policies</vt:lpstr>
      <vt:lpstr>Human Resources Policies</vt:lpstr>
      <vt:lpstr>Human Resources Policies</vt:lpstr>
      <vt:lpstr>Human Resources Policies </vt:lpstr>
      <vt:lpstr>Human Resources Policies</vt:lpstr>
      <vt:lpstr>Human Resources Policies</vt:lpstr>
      <vt:lpstr>Human Resources Policies</vt:lpstr>
      <vt:lpstr>Human Resources Policies</vt:lpstr>
      <vt:lpstr>Human Resources Policies</vt:lpstr>
      <vt:lpstr>Human Resources Policies</vt:lpstr>
      <vt:lpstr>Human Resources Policies</vt:lpstr>
      <vt:lpstr>Human Resources Policies</vt:lpstr>
      <vt:lpstr>Human Resources Policies</vt:lpstr>
      <vt:lpstr>Due Care and Due Diligence</vt:lpstr>
      <vt:lpstr>Due Process</vt:lpstr>
      <vt:lpstr>Incident Response Policies and Procedures</vt:lpstr>
      <vt:lpstr>Security Awareness and Training</vt:lpstr>
      <vt:lpstr>Security Policy Training and Procedures</vt:lpstr>
      <vt:lpstr>Role-based Training</vt:lpstr>
      <vt:lpstr>Compliance with Laws, Best Practices, and Standards</vt:lpstr>
      <vt:lpstr>Compliance with Laws, Best Practices, and Standards</vt:lpstr>
      <vt:lpstr>User Habits</vt:lpstr>
      <vt:lpstr>Training Metrics and Compliance</vt:lpstr>
      <vt:lpstr>Interoperability Agreements</vt:lpstr>
      <vt:lpstr>Interoperability Agreements</vt:lpstr>
      <vt:lpstr>Interoperability Agreements</vt:lpstr>
      <vt:lpstr>Interoperability Agreements</vt:lpstr>
      <vt:lpstr>Interoperability Agreements</vt:lpstr>
      <vt:lpstr>The Security Perimeter</vt:lpstr>
      <vt:lpstr>The Security Perimeter</vt:lpstr>
      <vt:lpstr>The Security Perimeter</vt:lpstr>
      <vt:lpstr>The Security Perimeter</vt:lpstr>
      <vt:lpstr>The Security Perimeter</vt:lpstr>
      <vt:lpstr>Chapter Summary</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43</cp:revision>
  <dcterms:created xsi:type="dcterms:W3CDTF">2023-02-15T16:35:18Z</dcterms:created>
  <dcterms:modified xsi:type="dcterms:W3CDTF">2023-02-15T19:49:23Z</dcterms:modified>
</cp:coreProperties>
</file>